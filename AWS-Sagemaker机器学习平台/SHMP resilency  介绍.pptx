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147477803" r:id="rId3"/>
    <p:sldId id="2147477804" r:id="rId4"/>
    <p:sldId id="2147477805" r:id="rId5"/>
    <p:sldId id="2147477795" r:id="rId6"/>
    <p:sldId id="2147477796" r:id="rId7"/>
    <p:sldId id="2147477802" r:id="rId8"/>
    <p:sldId id="2147477797" r:id="rId9"/>
    <p:sldId id="2147477806" r:id="rId10"/>
    <p:sldId id="2147477793" r:id="rId11"/>
    <p:sldId id="2147477794" r:id="rId12"/>
    <p:sldId id="2147477800" r:id="rId13"/>
    <p:sldId id="2147477808" r:id="rId14"/>
    <p:sldId id="2147477807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3383" autoAdjust="0"/>
  </p:normalViewPr>
  <p:slideViewPr>
    <p:cSldViewPr snapToGrid="0">
      <p:cViewPr varScale="1">
        <p:scale>
          <a:sx n="64" d="100"/>
          <a:sy n="64" d="100"/>
        </p:scale>
        <p:origin x="741" y="3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B20FEC-1231-464E-8E14-317FF7139D99}" type="datetimeFigureOut">
              <a:rPr lang="en-US" smtClean="0"/>
              <a:t>7/15/2025</a:t>
            </a:fld>
            <a:endParaRPr 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CC69DD-CFF1-4812-BFEF-96188E6E5A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12768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https://aws.amazon.com/blogs/machine-learning/introducing-amazon-eks-support-in-amazon-sagemaker-hyperpod/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https://docs.aws.amazon.com/sagemaker/latest/dg/sagemaker-hyperpod-eks-run-jobs-kubectl.html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https://quip-amazon.com/iTqsAkNcnRU6/SMHPResiliency</a:t>
            </a:r>
          </a:p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CC69DD-CFF1-4812-BFEF-96188E6E5A9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49893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https://docs.aws.amazon.com/sagemaker/latest/dg/sagemaker-hyperpod-eks-resiliency-basic-health-check.html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CC69DD-CFF1-4812-BFEF-96188E6E5A9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99297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https://docs.aws.amazon.com/sagemaker/latest/dg/sagemaker-hyperpod-eks-resiliency-deep-health-checks.html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CC69DD-CFF1-4812-BFEF-96188E6E5A9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65513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https://docs.aws.amazon.com/sagemaker/latest/dg/sagemaker-hyperpod-eks-resiliency-config-tips.html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CC69DD-CFF1-4812-BFEF-96188E6E5A9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863028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CC69DD-CFF1-4812-BFEF-96188E6E5A94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072492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altLang="zh-CN" dirty="0"/>
              <a:t>Health-monitoring agent</a:t>
            </a:r>
            <a:r>
              <a:rPr lang="zh-CN" altLang="en-US" dirty="0"/>
              <a:t>会在问题发生时，调用</a:t>
            </a:r>
            <a:r>
              <a:rPr lang="en-US" altLang="zh-CN" dirty="0" err="1"/>
              <a:t>kubectl</a:t>
            </a:r>
            <a:r>
              <a:rPr lang="zh-CN" altLang="en-US" dirty="0"/>
              <a:t>给</a:t>
            </a:r>
            <a:r>
              <a:rPr lang="en-US" altLang="zh-CN" dirty="0"/>
              <a:t>node</a:t>
            </a:r>
            <a:r>
              <a:rPr lang="zh-CN" altLang="en-US" dirty="0"/>
              <a:t>进行</a:t>
            </a:r>
            <a:r>
              <a:rPr lang="en-US" altLang="zh-CN" dirty="0"/>
              <a:t>label</a:t>
            </a:r>
            <a:r>
              <a:rPr lang="zh-CN" altLang="en-US" dirty="0"/>
              <a:t>为</a:t>
            </a:r>
            <a:r>
              <a:rPr lang="en-US" altLang="zh-CN" dirty="0"/>
              <a:t>reboot</a:t>
            </a:r>
            <a:r>
              <a:rPr lang="zh-CN" altLang="en-US" dirty="0"/>
              <a:t>或者</a:t>
            </a:r>
            <a:r>
              <a:rPr lang="en-US" altLang="zh-CN" dirty="0"/>
              <a:t>replacement.</a:t>
            </a:r>
          </a:p>
          <a:p>
            <a:pPr lvl="0"/>
            <a:r>
              <a:rPr lang="en-US" altLang="zh-CN" dirty="0"/>
              <a:t>Kubeflow</a:t>
            </a:r>
            <a:r>
              <a:rPr lang="zh-CN" altLang="en-US" dirty="0"/>
              <a:t>在任务失败以后，它会先看集群内是否有足量的健康且空闲的节点，如果有它会重启训练任务到健康节点上；否则，它就等待</a:t>
            </a:r>
            <a:r>
              <a:rPr lang="en-US" altLang="zh-CN" dirty="0"/>
              <a:t>SMHP</a:t>
            </a:r>
            <a:r>
              <a:rPr lang="zh-CN" altLang="en-US" dirty="0"/>
              <a:t>的</a:t>
            </a:r>
            <a:r>
              <a:rPr lang="en-US" altLang="zh-CN" dirty="0"/>
              <a:t>Health-monitoring agent</a:t>
            </a:r>
            <a:r>
              <a:rPr lang="zh-CN" altLang="en-US" dirty="0"/>
              <a:t>重启</a:t>
            </a:r>
            <a:r>
              <a:rPr lang="en-US" altLang="zh-CN" dirty="0"/>
              <a:t>/replace</a:t>
            </a:r>
            <a:r>
              <a:rPr lang="zh-CN" altLang="en-US" dirty="0"/>
              <a:t>节点结束以后再重新启动训练任务。</a:t>
            </a:r>
          </a:p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CC69DD-CFF1-4812-BFEF-96188E6E5A94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633731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CC69DD-CFF1-4812-BFEF-96188E6E5A94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491157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CC69DD-CFF1-4812-BFEF-96188E6E5A94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451599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https://github.com/haozhx23/250701-eks-gpu-cluster-resilience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CC69DD-CFF1-4812-BFEF-96188E6E5A94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3080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AF0C1B6-391D-5426-C7BD-2EFFC88956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77966E9-2122-5374-4695-6554BEA408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38A6F45-2409-6B3D-78F3-8E2A9DBAD8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F3108-AD72-44D0-9A43-1C5A8BA25CCE}" type="datetimeFigureOut">
              <a:rPr lang="en-US" smtClean="0"/>
              <a:t>7/15/2025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19D7B27-B9CD-842B-4DCB-0FD9A1E870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C30C382-F1A7-6E70-41BB-D86C653374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CF9465-1CCE-497A-A7C7-778BA63FC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62183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08B8D2-F8A5-524F-0DC7-D0FCF20D1E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092F331-76B4-CAC9-17BF-437DA1E460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060B4E9-ECFE-2CAD-153A-FA37B9C958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F3108-AD72-44D0-9A43-1C5A8BA25CCE}" type="datetimeFigureOut">
              <a:rPr lang="en-US" smtClean="0"/>
              <a:t>7/15/2025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FC228BF-B513-193C-7748-EC1BB57E21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8EBBAC9-3C77-AF1A-0DED-BA62A66E29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CF9465-1CCE-497A-A7C7-778BA63FC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1032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2CFC50F-095C-C57E-7F9F-5DDEA1227E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E8EF828-CBC1-3EDA-D111-604798D3AF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8EC70A5-CC2C-4B02-4A01-B4E2D45A8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F3108-AD72-44D0-9A43-1C5A8BA25CCE}" type="datetimeFigureOut">
              <a:rPr lang="en-US" smtClean="0"/>
              <a:t>7/15/2025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9AB7BEF-06C5-E9B8-8161-F6144208C7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CDAF6A9-C245-0B18-F6EE-0612B01CE1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CF9465-1CCE-497A-A7C7-778BA63FC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12706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53C98AB-AB28-4E6E-3036-8365D03E3C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1E8D04E-8699-09BC-BDDB-A735546070F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41D5366-2CB6-D637-D281-F0261EAC86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C4445E7-F906-A3F3-4607-E008975F68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F3108-AD72-44D0-9A43-1C5A8BA25CCE}" type="datetimeFigureOut">
              <a:rPr lang="en-US" smtClean="0"/>
              <a:t>7/15/2025</a:t>
            </a:fld>
            <a:endParaRPr 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5E78F86-4E0E-0738-C876-61F49D0ECB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DB1B26D-09B8-E937-AE5C-CB51AE54F7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CF9465-1CCE-497A-A7C7-778BA63FC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346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F094A39-4025-5387-D76C-1BBF7BF4D9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D2439E9-0B24-BC78-202F-7226B6F32D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FEBF339-13FF-D74D-6F4D-9ABD94570D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4909B69-0D1B-7DBC-24BD-7C33C4CAB7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5ADE1C0-1AE6-D888-B9CE-346E9F4A900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40FF6FA8-2E65-5EEC-771D-32F610BDB0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F3108-AD72-44D0-9A43-1C5A8BA25CCE}" type="datetimeFigureOut">
              <a:rPr lang="en-US" smtClean="0"/>
              <a:t>7/15/2025</a:t>
            </a:fld>
            <a:endParaRPr 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6571674-6A68-7C41-37D6-F3DE5A15A5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0A4EF0BE-7D04-0C5F-960B-27D67A11D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CF9465-1CCE-497A-A7C7-778BA63FC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9903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0699547-A929-B02B-856C-834DC25A63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85A3449-BDE8-59FF-DDCE-F75CAE9F20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F3108-AD72-44D0-9A43-1C5A8BA25CCE}" type="datetimeFigureOut">
              <a:rPr lang="en-US" smtClean="0"/>
              <a:t>7/15/2025</a:t>
            </a:fld>
            <a:endParaRPr 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8660E25-6705-1E5E-6014-0B39F2DE3F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04993E4-B5CB-DD61-E850-C5F6EA2033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CF9465-1CCE-497A-A7C7-778BA63FC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76063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D859962-6D9E-D813-A50B-5162EE9D4C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F3108-AD72-44D0-9A43-1C5A8BA25CCE}" type="datetimeFigureOut">
              <a:rPr lang="en-US" smtClean="0"/>
              <a:t>7/15/2025</a:t>
            </a:fld>
            <a:endParaRPr 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8C308E6-1BD8-AF3E-155E-1B0C7E3DD7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0E1BCD2-514B-6059-C4DF-ADDB05E02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CF9465-1CCE-497A-A7C7-778BA63FC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94810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5C25A9F-0D56-ED8F-0547-A0AC8F3D1D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9EB3573-0208-D22E-CE8A-68DDD9E017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DD23B5C-617A-59AF-E66E-FA1E39D3B1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64211EF-575B-8534-109F-9335F7D218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F3108-AD72-44D0-9A43-1C5A8BA25CCE}" type="datetimeFigureOut">
              <a:rPr lang="en-US" smtClean="0"/>
              <a:t>7/15/2025</a:t>
            </a:fld>
            <a:endParaRPr 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F8F0B97-B2B6-87F4-7CB2-C6BF97FAF3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736A248-577C-4106-2A91-5C796ADCE0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CF9465-1CCE-497A-A7C7-778BA63FC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51563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FCF0D4E-F8E8-AA2F-010D-E9220400F0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A9B5DE0A-055C-7C67-59B9-9E001A75DD3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8642B8C-897D-B093-C1D7-691DEF9E9D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42EEA76-214D-95DD-4CC6-FD545755D7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F3108-AD72-44D0-9A43-1C5A8BA25CCE}" type="datetimeFigureOut">
              <a:rPr lang="en-US" smtClean="0"/>
              <a:t>7/15/2025</a:t>
            </a:fld>
            <a:endParaRPr 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C05D639-F6F7-3E72-73BE-8342CFF772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C69364B-85DA-98E8-0C2A-EB64E6DE7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CF9465-1CCE-497A-A7C7-778BA63FC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88818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789D754-B547-BD2F-8CBE-0B95B19233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DA5BF5C-05DD-CBFC-C4E1-4C7C387AE6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D3B5EE8-A9AD-6083-C734-E7CEB29BD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F3108-AD72-44D0-9A43-1C5A8BA25CCE}" type="datetimeFigureOut">
              <a:rPr lang="en-US" smtClean="0"/>
              <a:t>7/15/2025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EA21C69-EFA1-970E-6C38-2BD66169B5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FA091E0-DB95-D155-0FE5-5CE1F699D7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CF9465-1CCE-497A-A7C7-778BA63FC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23000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4DEC1469-4E96-743F-CD9B-F5ED3EF7644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F5C73CB-D05E-183B-275D-A487A93482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7EE97B6-9078-F7AF-2D7A-C6170BA6B2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F3108-AD72-44D0-9A43-1C5A8BA25CCE}" type="datetimeFigureOut">
              <a:rPr lang="en-US" smtClean="0"/>
              <a:t>7/15/2025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AECE58B-71AA-B5E5-2229-F68FFE18FE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48ED87E-CE99-0E5F-3F14-8878AEEDCB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CF9465-1CCE-497A-A7C7-778BA63FC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46935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D026526A-4460-3A18-7B07-0DBB033442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53A8689-13D9-D301-CAB2-8224F1140A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6FBA40E-CA99-496C-85C7-0FEAC2B845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8AF3108-AD72-44D0-9A43-1C5A8BA25CCE}" type="datetimeFigureOut">
              <a:rPr lang="en-US" smtClean="0"/>
              <a:t>7/15/2025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CEA6FD7-B258-D522-9698-8E23A57C98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7547182-4E46-3D81-A93A-1F4FEB2826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CF9465-1CCE-497A-A7C7-778BA63FC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95112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C0D7A9B-F21A-5D84-FC84-09C74B828C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02145" y="789854"/>
            <a:ext cx="10187709" cy="1445346"/>
          </a:xfrm>
        </p:spPr>
        <p:txBody>
          <a:bodyPr>
            <a:normAutofit fontScale="90000"/>
          </a:bodyPr>
          <a:lstStyle/>
          <a:p>
            <a:r>
              <a:rPr lang="en-US" sz="5400" dirty="0"/>
              <a:t>S</a:t>
            </a:r>
            <a:r>
              <a:rPr lang="en-US" altLang="zh-CN" sz="5400" dirty="0"/>
              <a:t>ageMaker </a:t>
            </a:r>
            <a:r>
              <a:rPr lang="en-US" altLang="zh-CN" sz="5400" dirty="0" err="1"/>
              <a:t>Hyperpod</a:t>
            </a:r>
            <a:r>
              <a:rPr lang="en-US" altLang="zh-CN" sz="5400" dirty="0"/>
              <a:t> Resiliency</a:t>
            </a:r>
            <a:r>
              <a:rPr lang="zh-CN" altLang="en-US" sz="5400" dirty="0"/>
              <a:t>介绍</a:t>
            </a:r>
            <a:endParaRPr lang="en-US" sz="5400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DEDA22C-33C2-291A-60A2-8F7E2163E4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11564" y="2811535"/>
            <a:ext cx="9144000" cy="1811266"/>
          </a:xfrm>
        </p:spPr>
        <p:txBody>
          <a:bodyPr/>
          <a:lstStyle/>
          <a:p>
            <a:r>
              <a:rPr lang="zh-CN" altLang="en-US" dirty="0"/>
              <a:t>梁宇辉 </a:t>
            </a:r>
            <a:endParaRPr lang="en-US" altLang="zh-CN" dirty="0"/>
          </a:p>
          <a:p>
            <a:r>
              <a:rPr lang="en-US" altLang="zh-CN" dirty="0"/>
              <a:t>AWS AI/ML SSA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95791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7C8D9DA-F939-CF9A-D7A8-EF32CFAE45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16203"/>
          </a:xfrm>
        </p:spPr>
        <p:txBody>
          <a:bodyPr/>
          <a:lstStyle/>
          <a:p>
            <a:r>
              <a:rPr lang="en-US" dirty="0"/>
              <a:t>R</a:t>
            </a:r>
            <a:r>
              <a:rPr lang="en-US" altLang="zh-CN" dirty="0"/>
              <a:t>esiliency</a:t>
            </a:r>
            <a:r>
              <a:rPr lang="zh-CN" altLang="en-US" dirty="0"/>
              <a:t>实现的核心因素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C1F487C-96DC-387A-A30F-CD57FBEFF1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7398"/>
            <a:ext cx="10515600" cy="4858200"/>
          </a:xfrm>
        </p:spPr>
        <p:txBody>
          <a:bodyPr>
            <a:normAutofit fontScale="55000" lnSpcReduction="20000"/>
          </a:bodyPr>
          <a:lstStyle/>
          <a:p>
            <a:r>
              <a:rPr lang="zh-CN" altLang="en-US" b="1" dirty="0"/>
              <a:t>监控</a:t>
            </a:r>
            <a:r>
              <a:rPr lang="zh-CN" altLang="en-US" dirty="0"/>
              <a:t>：</a:t>
            </a:r>
            <a:endParaRPr lang="en-US" altLang="zh-CN" dirty="0"/>
          </a:p>
          <a:p>
            <a:pPr lvl="1"/>
            <a:r>
              <a:rPr lang="zh-CN" altLang="en-US" dirty="0"/>
              <a:t>监控的</a:t>
            </a:r>
            <a:r>
              <a:rPr lang="en-US" altLang="zh-CN" dirty="0"/>
              <a:t>scope/ metric</a:t>
            </a:r>
          </a:p>
          <a:p>
            <a:pPr lvl="1"/>
            <a:r>
              <a:rPr lang="zh-CN" altLang="en-US" dirty="0"/>
              <a:t>根据监控来定制的触发行为（比如告警，或者调用</a:t>
            </a:r>
            <a:r>
              <a:rPr lang="en-US" altLang="zh-CN" dirty="0"/>
              <a:t>lambda</a:t>
            </a:r>
            <a:r>
              <a:rPr lang="zh-CN" altLang="en-US" dirty="0"/>
              <a:t>函数执行某些</a:t>
            </a:r>
            <a:r>
              <a:rPr lang="en-US" altLang="zh-CN" dirty="0"/>
              <a:t>action</a:t>
            </a:r>
            <a:r>
              <a:rPr lang="zh-CN" altLang="en-US" dirty="0"/>
              <a:t>等等</a:t>
            </a:r>
            <a:r>
              <a:rPr lang="en-US" altLang="zh-CN" dirty="0"/>
              <a:t>)</a:t>
            </a:r>
          </a:p>
          <a:p>
            <a:r>
              <a:rPr lang="zh-CN" altLang="en-US" b="1" dirty="0"/>
              <a:t>健康检查</a:t>
            </a:r>
            <a:r>
              <a:rPr lang="zh-CN" altLang="en-US" dirty="0"/>
              <a:t>：</a:t>
            </a:r>
            <a:endParaRPr lang="en-US" altLang="zh-CN" dirty="0"/>
          </a:p>
          <a:p>
            <a:pPr lvl="1"/>
            <a:r>
              <a:rPr lang="zh-CN" altLang="en-US" dirty="0"/>
              <a:t>健康检查的范围</a:t>
            </a:r>
            <a:r>
              <a:rPr lang="en-US" altLang="zh-CN" dirty="0"/>
              <a:t>/</a:t>
            </a:r>
            <a:r>
              <a:rPr lang="zh-CN" altLang="en-US" dirty="0"/>
              <a:t>深度</a:t>
            </a:r>
            <a:endParaRPr lang="en-US" altLang="zh-CN" dirty="0"/>
          </a:p>
          <a:p>
            <a:pPr lvl="1"/>
            <a:r>
              <a:rPr lang="zh-CN" altLang="en-US" dirty="0"/>
              <a:t>健康检查的时机</a:t>
            </a:r>
            <a:endParaRPr lang="en-US" altLang="zh-CN" dirty="0"/>
          </a:p>
          <a:p>
            <a:pPr lvl="1"/>
            <a:r>
              <a:rPr lang="zh-CN" altLang="en-US" dirty="0"/>
              <a:t>健康检查失败后的</a:t>
            </a:r>
            <a:r>
              <a:rPr lang="en-US" altLang="zh-CN" dirty="0"/>
              <a:t>action</a:t>
            </a:r>
          </a:p>
          <a:p>
            <a:r>
              <a:rPr lang="en-US" altLang="zh-CN" b="1" dirty="0"/>
              <a:t>Replace</a:t>
            </a:r>
            <a:r>
              <a:rPr lang="zh-CN" altLang="en-US" b="1" dirty="0"/>
              <a:t>节点的供给</a:t>
            </a:r>
            <a:r>
              <a:rPr lang="zh-CN" altLang="en-US" dirty="0"/>
              <a:t>：</a:t>
            </a:r>
            <a:endParaRPr lang="en-US" altLang="zh-CN" dirty="0"/>
          </a:p>
          <a:p>
            <a:pPr lvl="1"/>
            <a:r>
              <a:rPr lang="zh-CN" altLang="en-US" dirty="0"/>
              <a:t>当需要</a:t>
            </a:r>
            <a:r>
              <a:rPr lang="en-US" altLang="zh-CN" dirty="0"/>
              <a:t>replace</a:t>
            </a:r>
            <a:r>
              <a:rPr lang="zh-CN" altLang="en-US" dirty="0"/>
              <a:t>节点的供给时，如何实现？</a:t>
            </a:r>
            <a:endParaRPr lang="en-US" altLang="zh-CN" dirty="0"/>
          </a:p>
          <a:p>
            <a:r>
              <a:rPr lang="zh-CN" altLang="en-US" b="1" dirty="0"/>
              <a:t>故障节点的探测</a:t>
            </a:r>
            <a:r>
              <a:rPr lang="en-US" altLang="zh-CN" b="1" dirty="0"/>
              <a:t>/</a:t>
            </a:r>
            <a:r>
              <a:rPr lang="zh-CN" altLang="en-US" b="1" dirty="0"/>
              <a:t>处理以及自动恢复</a:t>
            </a:r>
            <a:r>
              <a:rPr lang="zh-CN" altLang="en-US" dirty="0"/>
              <a:t>：</a:t>
            </a:r>
            <a:endParaRPr lang="en-US" altLang="zh-CN" dirty="0"/>
          </a:p>
          <a:p>
            <a:pPr lvl="1"/>
            <a:r>
              <a:rPr lang="zh-CN" altLang="en-US" dirty="0"/>
              <a:t>如何持续性的</a:t>
            </a:r>
            <a:r>
              <a:rPr lang="zh-CN" altLang="en-US" b="1" dirty="0"/>
              <a:t>探测</a:t>
            </a:r>
            <a:r>
              <a:rPr lang="zh-CN" altLang="en-US" dirty="0"/>
              <a:t>节点可能的问题？（比如通过应用日志，系统日志，监控指标等等）</a:t>
            </a:r>
            <a:endParaRPr lang="en-US" altLang="zh-CN" dirty="0"/>
          </a:p>
          <a:p>
            <a:pPr lvl="1"/>
            <a:r>
              <a:rPr lang="zh-CN" altLang="en-US" dirty="0"/>
              <a:t>如何判定某个节点有故障以及故障类型？（故障归因分析）</a:t>
            </a:r>
            <a:endParaRPr lang="en-US" altLang="zh-CN" dirty="0"/>
          </a:p>
          <a:p>
            <a:pPr lvl="1"/>
            <a:r>
              <a:rPr lang="zh-CN" altLang="en-US" dirty="0"/>
              <a:t>故障节点如何处理：</a:t>
            </a:r>
            <a:endParaRPr lang="en-US" altLang="zh-CN" dirty="0"/>
          </a:p>
          <a:p>
            <a:pPr lvl="2"/>
            <a:r>
              <a:rPr lang="zh-CN" altLang="en-US" dirty="0"/>
              <a:t>什么情况下需要隔离？</a:t>
            </a:r>
            <a:endParaRPr lang="en-US" altLang="zh-CN" dirty="0"/>
          </a:p>
          <a:p>
            <a:pPr lvl="2"/>
            <a:r>
              <a:rPr lang="zh-CN" altLang="en-US" dirty="0"/>
              <a:t>什么情况下需要自动</a:t>
            </a:r>
            <a:r>
              <a:rPr lang="en-US" altLang="zh-CN" dirty="0"/>
              <a:t>recovery</a:t>
            </a:r>
            <a:r>
              <a:rPr lang="zh-CN" altLang="en-US" dirty="0"/>
              <a:t>（通过</a:t>
            </a:r>
            <a:r>
              <a:rPr lang="en-US" altLang="zh-CN" dirty="0"/>
              <a:t>reboot</a:t>
            </a:r>
            <a:r>
              <a:rPr lang="zh-CN" altLang="en-US" dirty="0"/>
              <a:t>或者</a:t>
            </a:r>
            <a:r>
              <a:rPr lang="en-US" altLang="zh-CN" dirty="0"/>
              <a:t>replace</a:t>
            </a:r>
            <a:r>
              <a:rPr lang="zh-CN" altLang="en-US" dirty="0"/>
              <a:t>节点</a:t>
            </a:r>
            <a:r>
              <a:rPr lang="en-US" altLang="zh-CN" dirty="0"/>
              <a:t>/node</a:t>
            </a:r>
            <a:r>
              <a:rPr lang="zh-CN" altLang="en-US" dirty="0"/>
              <a:t>）？</a:t>
            </a:r>
            <a:endParaRPr lang="en-US" altLang="zh-CN" dirty="0"/>
          </a:p>
          <a:p>
            <a:r>
              <a:rPr lang="zh-CN" altLang="en-US" b="1" dirty="0"/>
              <a:t>任务自动恢复</a:t>
            </a:r>
            <a:r>
              <a:rPr lang="zh-CN" altLang="en-US" dirty="0"/>
              <a:t>：</a:t>
            </a:r>
            <a:endParaRPr lang="en-US" altLang="zh-CN" dirty="0"/>
          </a:p>
          <a:p>
            <a:pPr lvl="1"/>
            <a:r>
              <a:rPr lang="zh-CN" altLang="en-US" dirty="0"/>
              <a:t>整个任务自动恢复的逻辑</a:t>
            </a:r>
            <a:r>
              <a:rPr lang="en-US" altLang="zh-CN" dirty="0"/>
              <a:t>/</a:t>
            </a:r>
            <a:r>
              <a:rPr lang="zh-CN" altLang="en-US" dirty="0"/>
              <a:t>流程图</a:t>
            </a:r>
            <a:endParaRPr lang="en-US" altLang="zh-CN" dirty="0"/>
          </a:p>
          <a:p>
            <a:pPr lvl="1"/>
            <a:r>
              <a:rPr lang="zh-CN" altLang="en-US" dirty="0"/>
              <a:t>配合编排工具一起实现</a:t>
            </a:r>
            <a:endParaRPr lang="en-US" altLang="zh-CN" dirty="0"/>
          </a:p>
          <a:p>
            <a:r>
              <a:rPr lang="zh-CN" altLang="en-US" b="1" dirty="0"/>
              <a:t>人为干涉和自动化流程的结合</a:t>
            </a:r>
            <a:r>
              <a:rPr lang="zh-CN" altLang="en-US" dirty="0"/>
              <a:t>：</a:t>
            </a:r>
            <a:endParaRPr lang="en-US" altLang="zh-CN" dirty="0"/>
          </a:p>
          <a:p>
            <a:pPr lvl="1"/>
            <a:r>
              <a:rPr lang="zh-CN" altLang="en-US" dirty="0"/>
              <a:t>什么时候需要人为干涉；</a:t>
            </a:r>
            <a:endParaRPr lang="en-US" altLang="zh-CN" dirty="0"/>
          </a:p>
          <a:p>
            <a:pPr lvl="1"/>
            <a:r>
              <a:rPr lang="zh-CN" altLang="en-US" dirty="0"/>
              <a:t>什么时候通过自动化来提升流程的效率。</a:t>
            </a:r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15103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FFF0C36-FAE7-87E9-A4F0-DA3B390D82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11015"/>
          </a:xfrm>
        </p:spPr>
        <p:txBody>
          <a:bodyPr/>
          <a:lstStyle/>
          <a:p>
            <a:r>
              <a:rPr lang="en-US" dirty="0"/>
              <a:t>SMHP R</a:t>
            </a:r>
            <a:r>
              <a:rPr lang="en-US" altLang="zh-CN" dirty="0"/>
              <a:t>esiliency</a:t>
            </a:r>
            <a:r>
              <a:rPr lang="zh-CN" altLang="en-US" dirty="0"/>
              <a:t>提供的能力</a:t>
            </a:r>
            <a:endParaRPr lang="en-US" dirty="0"/>
          </a:p>
        </p:txBody>
      </p:sp>
      <p:pic>
        <p:nvPicPr>
          <p:cNvPr id="7" name="内容占位符 6">
            <a:extLst>
              <a:ext uri="{FF2B5EF4-FFF2-40B4-BE49-F238E27FC236}">
                <a16:creationId xmlns:a16="http://schemas.microsoft.com/office/drawing/2014/main" id="{B172CD5A-E255-46A3-B149-7E5EC8B0ABB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949911" y="1376038"/>
            <a:ext cx="10227075" cy="5291091"/>
          </a:xfrm>
        </p:spPr>
      </p:pic>
    </p:spTree>
    <p:extLst>
      <p:ext uri="{BB962C8B-B14F-4D97-AF65-F5344CB8AC3E}">
        <p14:creationId xmlns:p14="http://schemas.microsoft.com/office/powerpoint/2010/main" val="7620901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5A15C66-1BD9-0E0C-A5E5-E740CC3FDE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21548"/>
          </a:xfrm>
        </p:spPr>
        <p:txBody>
          <a:bodyPr/>
          <a:lstStyle/>
          <a:p>
            <a:r>
              <a:rPr lang="en-US" dirty="0"/>
              <a:t>SMHP R</a:t>
            </a:r>
            <a:r>
              <a:rPr lang="en-US" altLang="zh-CN" dirty="0"/>
              <a:t>esiliency lifecycle</a:t>
            </a:r>
            <a:endParaRPr lang="en-US" dirty="0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BBE8507E-0B90-DE10-0B06-9121D7D780A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517301"/>
            <a:ext cx="10315470" cy="5124659"/>
          </a:xfrm>
        </p:spPr>
      </p:pic>
    </p:spTree>
    <p:extLst>
      <p:ext uri="{BB962C8B-B14F-4D97-AF65-F5344CB8AC3E}">
        <p14:creationId xmlns:p14="http://schemas.microsoft.com/office/powerpoint/2010/main" val="3820876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32DE92-37CC-34F8-CE6B-F291232379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17649"/>
            <a:ext cx="10515600" cy="949411"/>
          </a:xfrm>
        </p:spPr>
        <p:txBody>
          <a:bodyPr>
            <a:normAutofit/>
          </a:bodyPr>
          <a:lstStyle/>
          <a:p>
            <a:r>
              <a:rPr lang="en-US" altLang="zh-CN" dirty="0"/>
              <a:t>Basic </a:t>
            </a:r>
            <a:r>
              <a:rPr lang="zh-CN" altLang="en-US" dirty="0"/>
              <a:t>健康检查</a:t>
            </a:r>
            <a:endParaRPr lang="en-US" dirty="0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B1B83654-44CF-1914-D6E7-70B3660F501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905176" y="1620350"/>
            <a:ext cx="10381648" cy="4802187"/>
          </a:xfrm>
        </p:spPr>
      </p:pic>
    </p:spTree>
    <p:extLst>
      <p:ext uri="{BB962C8B-B14F-4D97-AF65-F5344CB8AC3E}">
        <p14:creationId xmlns:p14="http://schemas.microsoft.com/office/powerpoint/2010/main" val="4276531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D97E87F-81C0-E470-1089-1A8D15E88A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239" y="365126"/>
            <a:ext cx="10995956" cy="1000240"/>
          </a:xfrm>
        </p:spPr>
        <p:txBody>
          <a:bodyPr/>
          <a:lstStyle/>
          <a:p>
            <a:r>
              <a:rPr lang="en-US" dirty="0"/>
              <a:t>D</a:t>
            </a:r>
            <a:r>
              <a:rPr lang="en-US" altLang="zh-CN" dirty="0"/>
              <a:t>eep</a:t>
            </a:r>
            <a:r>
              <a:rPr lang="zh-CN" altLang="en-US" dirty="0"/>
              <a:t>健康检查</a:t>
            </a:r>
            <a:endParaRPr lang="en-US" dirty="0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5C7975C3-0805-360F-366E-E534EB7CABB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60238" y="1527658"/>
            <a:ext cx="4936958" cy="2958828"/>
          </a:xfr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EDDD2FEF-6343-72EF-1153-D4F1100A0A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238" y="4648779"/>
            <a:ext cx="4936958" cy="1844096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06D94B21-B523-3DAE-A5FA-0537B8E71B2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46419" y="1657775"/>
            <a:ext cx="5809776" cy="4396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51612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84F0B6-9AF9-F3FB-C672-12856429E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01451"/>
          </a:xfrm>
        </p:spPr>
        <p:txBody>
          <a:bodyPr/>
          <a:lstStyle/>
          <a:p>
            <a:r>
              <a:rPr lang="en-US" dirty="0"/>
              <a:t>D</a:t>
            </a:r>
            <a:r>
              <a:rPr lang="en-US" altLang="zh-CN" dirty="0"/>
              <a:t>eep</a:t>
            </a:r>
            <a:r>
              <a:rPr lang="zh-CN" altLang="en-US" dirty="0"/>
              <a:t>健康检查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5C1B9AD-D346-9A8C-D90E-86BBA913A8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28315"/>
            <a:ext cx="10515600" cy="4764559"/>
          </a:xfrm>
        </p:spPr>
        <p:txBody>
          <a:bodyPr>
            <a:normAutofit fontScale="92500" lnSpcReduction="10000"/>
          </a:bodyPr>
          <a:lstStyle/>
          <a:p>
            <a:r>
              <a:rPr lang="zh-CN" altLang="en-US" dirty="0"/>
              <a:t>当您有额外的备用节点作为后备资源时（即您创建的</a:t>
            </a:r>
            <a:r>
              <a:rPr lang="en-US" altLang="zh-CN" dirty="0"/>
              <a:t>SMHP</a:t>
            </a:r>
            <a:r>
              <a:rPr lang="zh-CN" altLang="en-US" dirty="0"/>
              <a:t>集群未使用全部申请的容量，比如申请的是</a:t>
            </a:r>
            <a:r>
              <a:rPr lang="en-US" altLang="zh-CN" dirty="0"/>
              <a:t>10</a:t>
            </a:r>
            <a:r>
              <a:rPr lang="zh-CN" altLang="en-US" dirty="0"/>
              <a:t>台</a:t>
            </a:r>
            <a:r>
              <a:rPr lang="en-US" altLang="zh-CN" dirty="0"/>
              <a:t>GPU</a:t>
            </a:r>
            <a:r>
              <a:rPr lang="zh-CN" altLang="en-US" dirty="0"/>
              <a:t>实例，但是创建</a:t>
            </a:r>
            <a:r>
              <a:rPr lang="en-US" altLang="zh-CN" dirty="0"/>
              <a:t>SMHP</a:t>
            </a:r>
            <a:r>
              <a:rPr lang="zh-CN" altLang="en-US" dirty="0"/>
              <a:t>集群的时候只用了</a:t>
            </a:r>
            <a:r>
              <a:rPr lang="en-US" altLang="zh-CN" dirty="0"/>
              <a:t>8</a:t>
            </a:r>
            <a:r>
              <a:rPr lang="zh-CN" altLang="en-US" dirty="0"/>
              <a:t>台</a:t>
            </a:r>
            <a:r>
              <a:rPr lang="en-US" altLang="zh-CN" dirty="0"/>
              <a:t>GPU</a:t>
            </a:r>
            <a:r>
              <a:rPr lang="zh-CN" altLang="en-US" dirty="0"/>
              <a:t>实例，人为留出</a:t>
            </a:r>
            <a:r>
              <a:rPr lang="en-US" altLang="zh-CN" dirty="0"/>
              <a:t>2</a:t>
            </a:r>
            <a:r>
              <a:rPr lang="zh-CN" altLang="en-US" dirty="0"/>
              <a:t>台作为备用的替换实例），或者可以等待约 </a:t>
            </a:r>
            <a:r>
              <a:rPr lang="en-US" altLang="zh-CN" dirty="0"/>
              <a:t>2 </a:t>
            </a:r>
            <a:r>
              <a:rPr lang="zh-CN" altLang="en-US" dirty="0"/>
              <a:t>个小时的深度运行状况检查过程，以获得较少出错的实例。</a:t>
            </a:r>
          </a:p>
          <a:p>
            <a:pPr lvl="1"/>
            <a:r>
              <a:rPr lang="zh-CN" altLang="en-US" b="1" dirty="0"/>
              <a:t>建议</a:t>
            </a:r>
            <a:r>
              <a:rPr lang="zh-CN" altLang="en-US" dirty="0"/>
              <a:t>：在整个集群生命周期启用深度运行状况检查配置。</a:t>
            </a:r>
            <a:endParaRPr lang="en-US" altLang="zh-CN" dirty="0"/>
          </a:p>
          <a:p>
            <a:r>
              <a:rPr lang="zh-CN" altLang="en-US" dirty="0"/>
              <a:t>当您没有额外的备用节点时（即您创建的</a:t>
            </a:r>
            <a:r>
              <a:rPr lang="en-US" altLang="zh-CN" dirty="0"/>
              <a:t>SMHP</a:t>
            </a:r>
            <a:r>
              <a:rPr lang="zh-CN" altLang="en-US" dirty="0"/>
              <a:t>集群已使用全部申请的容量），希望能在可能获得</a:t>
            </a:r>
            <a:r>
              <a:rPr lang="en-US" altLang="zh-CN" dirty="0"/>
              <a:t>replace</a:t>
            </a:r>
            <a:r>
              <a:rPr lang="zh-CN" altLang="en-US" dirty="0"/>
              <a:t>节点后快速恢复训练作业。</a:t>
            </a:r>
          </a:p>
          <a:p>
            <a:pPr lvl="1"/>
            <a:r>
              <a:rPr lang="zh-CN" altLang="en-US" b="1" dirty="0"/>
              <a:t>建议</a:t>
            </a:r>
            <a:r>
              <a:rPr lang="zh-CN" altLang="en-US" dirty="0"/>
              <a:t>：在创建集群时启用深度运行状况检查，然后在创建集群后关闭深度运行状况检查配置。</a:t>
            </a:r>
            <a:endParaRPr lang="en-US" altLang="zh-CN" dirty="0"/>
          </a:p>
          <a:p>
            <a:r>
              <a:rPr lang="zh-CN" altLang="en-US" dirty="0"/>
              <a:t>当您的</a:t>
            </a:r>
            <a:r>
              <a:rPr lang="en-US" altLang="zh-CN" dirty="0"/>
              <a:t>SHMP</a:t>
            </a:r>
            <a:r>
              <a:rPr lang="zh-CN" altLang="en-US" dirty="0"/>
              <a:t>集群比较小，且没有额外的备用节点，也不想等待约 </a:t>
            </a:r>
            <a:r>
              <a:rPr lang="en-US" altLang="zh-CN" dirty="0"/>
              <a:t>2 </a:t>
            </a:r>
            <a:r>
              <a:rPr lang="zh-CN" altLang="en-US" dirty="0"/>
              <a:t>小时的深度运行状况检查。</a:t>
            </a:r>
          </a:p>
          <a:p>
            <a:pPr lvl="1"/>
            <a:r>
              <a:rPr lang="zh-CN" altLang="en-US" b="1" dirty="0"/>
              <a:t>建议</a:t>
            </a:r>
            <a:r>
              <a:rPr lang="zh-CN" altLang="en-US" dirty="0"/>
              <a:t>：在整个集群生命周期中禁用深度运行状况检查配置。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57448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40F01C6-BD97-9638-CD9C-1D7ADAAFF2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任务自动恢复 （</a:t>
            </a:r>
            <a:r>
              <a:rPr lang="en-US" altLang="zh-CN" dirty="0"/>
              <a:t> for SMHP </a:t>
            </a:r>
            <a:r>
              <a:rPr lang="en-US" altLang="zh-CN" dirty="0" err="1"/>
              <a:t>slurm</a:t>
            </a:r>
            <a:r>
              <a:rPr lang="zh-CN" altLang="en-US" dirty="0"/>
              <a:t>编排）</a:t>
            </a:r>
            <a:endParaRPr lang="en-US" dirty="0"/>
          </a:p>
        </p:txBody>
      </p:sp>
      <p:pic>
        <p:nvPicPr>
          <p:cNvPr id="7" name="内容占位符 6">
            <a:extLst>
              <a:ext uri="{FF2B5EF4-FFF2-40B4-BE49-F238E27FC236}">
                <a16:creationId xmlns:a16="http://schemas.microsoft.com/office/drawing/2014/main" id="{C3D15AE6-4217-4688-4D6E-6F3523C2EB5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38200" y="1906548"/>
            <a:ext cx="10418379" cy="4273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36498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03B956F-19B6-46A7-3BFC-B00CFB6E77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任务自动恢复 （</a:t>
            </a:r>
            <a:r>
              <a:rPr lang="en-US" altLang="zh-CN" dirty="0"/>
              <a:t> for SMHP EKS</a:t>
            </a:r>
            <a:r>
              <a:rPr lang="zh-CN" altLang="en-US" dirty="0"/>
              <a:t>编排）</a:t>
            </a:r>
            <a:endParaRPr lang="en-US" dirty="0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DE5E9067-3E91-8EF4-D0CD-D51A0087660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38200" y="1690689"/>
            <a:ext cx="10515600" cy="4860640"/>
          </a:xfrm>
        </p:spPr>
      </p:pic>
    </p:spTree>
    <p:extLst>
      <p:ext uri="{BB962C8B-B14F-4D97-AF65-F5344CB8AC3E}">
        <p14:creationId xmlns:p14="http://schemas.microsoft.com/office/powerpoint/2010/main" val="2603390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0180017-80CD-F53F-19C0-A216D253BA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82686"/>
          </a:xfrm>
        </p:spPr>
        <p:txBody>
          <a:bodyPr/>
          <a:lstStyle/>
          <a:p>
            <a:r>
              <a:rPr lang="zh-CN" altLang="en-US" dirty="0"/>
              <a:t>某个项目健康检查的流程图</a:t>
            </a:r>
            <a:endParaRPr lang="en-US" dirty="0"/>
          </a:p>
        </p:txBody>
      </p:sp>
      <p:pic>
        <p:nvPicPr>
          <p:cNvPr id="9" name="内容占位符 8">
            <a:extLst>
              <a:ext uri="{FF2B5EF4-FFF2-40B4-BE49-F238E27FC236}">
                <a16:creationId xmlns:a16="http://schemas.microsoft.com/office/drawing/2014/main" id="{DECE4AA1-50EF-FC9A-FF74-591D1BF2184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318383" y="1250313"/>
            <a:ext cx="4987763" cy="5369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55977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2BEBDF8-A610-E14D-22FA-F3EA549559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56681"/>
          </a:xfrm>
        </p:spPr>
        <p:txBody>
          <a:bodyPr/>
          <a:lstStyle/>
          <a:p>
            <a:r>
              <a:rPr lang="zh-CN" altLang="en-US" dirty="0"/>
              <a:t>某项目训练任务自动恢复流程</a:t>
            </a:r>
            <a:endParaRPr lang="en-US" dirty="0"/>
          </a:p>
        </p:txBody>
      </p:sp>
      <p:pic>
        <p:nvPicPr>
          <p:cNvPr id="4" name="内容占位符 3">
            <a:extLst>
              <a:ext uri="{FF2B5EF4-FFF2-40B4-BE49-F238E27FC236}">
                <a16:creationId xmlns:a16="http://schemas.microsoft.com/office/drawing/2014/main" id="{179DC768-C018-F2D8-CDA2-F6B3F47D4C4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38201" y="1511929"/>
            <a:ext cx="10297562" cy="5119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13918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6B07C36-4499-C1CB-0A6B-2CBEB75FD6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74376"/>
          </a:xfrm>
        </p:spPr>
        <p:txBody>
          <a:bodyPr/>
          <a:lstStyle/>
          <a:p>
            <a:r>
              <a:rPr lang="zh-CN" altLang="en-US" dirty="0"/>
              <a:t>某项目</a:t>
            </a:r>
            <a:r>
              <a:rPr lang="en-US" dirty="0" err="1"/>
              <a:t>eks</a:t>
            </a:r>
            <a:r>
              <a:rPr lang="en-US" dirty="0"/>
              <a:t>-</a:t>
            </a:r>
            <a:r>
              <a:rPr lang="en-US" dirty="0" err="1"/>
              <a:t>gpu</a:t>
            </a:r>
            <a:r>
              <a:rPr lang="en-US" dirty="0"/>
              <a:t>-cluster-resilience</a:t>
            </a:r>
            <a:r>
              <a:rPr lang="zh-CN" altLang="en-US" dirty="0"/>
              <a:t>流程图</a:t>
            </a:r>
            <a:endParaRPr lang="en-US" dirty="0"/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97B005BC-7C5C-5B86-097E-3243F5102BF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38200" y="1638247"/>
            <a:ext cx="10515600" cy="5039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46758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E7B47DB-956C-F287-9770-6729D1E458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73931"/>
          </a:xfrm>
        </p:spPr>
        <p:txBody>
          <a:bodyPr/>
          <a:lstStyle/>
          <a:p>
            <a:r>
              <a:rPr lang="en-US" dirty="0"/>
              <a:t>EKS </a:t>
            </a:r>
            <a:r>
              <a:rPr lang="en-US" dirty="0" err="1"/>
              <a:t>gpu</a:t>
            </a:r>
            <a:r>
              <a:rPr lang="en-US" dirty="0"/>
              <a:t> cluster resilience</a:t>
            </a:r>
            <a:r>
              <a:rPr lang="zh-CN" altLang="en-US" dirty="0"/>
              <a:t>完整方案</a:t>
            </a:r>
            <a:endParaRPr lang="en-US" dirty="0"/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5987A0F4-D3AC-7906-4DA6-3FC5B7E5953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439056"/>
            <a:ext cx="10515600" cy="5272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25935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911C4E-727A-3A3F-B399-A7E8A0A6C5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46325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Q &amp; A</a:t>
            </a:r>
          </a:p>
        </p:txBody>
      </p:sp>
    </p:spTree>
    <p:extLst>
      <p:ext uri="{BB962C8B-B14F-4D97-AF65-F5344CB8AC3E}">
        <p14:creationId xmlns:p14="http://schemas.microsoft.com/office/powerpoint/2010/main" val="41675035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3112</TotalTime>
  <Words>632</Words>
  <Application>Microsoft Office PowerPoint</Application>
  <PresentationFormat>宽屏</PresentationFormat>
  <Paragraphs>64</Paragraphs>
  <Slides>14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18" baseType="lpstr">
      <vt:lpstr>Aptos</vt:lpstr>
      <vt:lpstr>Aptos Display</vt:lpstr>
      <vt:lpstr>Arial</vt:lpstr>
      <vt:lpstr>Office 主题​​</vt:lpstr>
      <vt:lpstr>SageMaker Hyperpod Resiliency介绍</vt:lpstr>
      <vt:lpstr>Resiliency实现的核心因素</vt:lpstr>
      <vt:lpstr>SMHP Resiliency提供的能力</vt:lpstr>
      <vt:lpstr>SMHP Resiliency lifecycle</vt:lpstr>
      <vt:lpstr>Basic 健康检查</vt:lpstr>
      <vt:lpstr>Deep健康检查</vt:lpstr>
      <vt:lpstr>Deep健康检查</vt:lpstr>
      <vt:lpstr>任务自动恢复 （ for SMHP slurm编排）</vt:lpstr>
      <vt:lpstr>任务自动恢复 （ for SMHP EKS编排）</vt:lpstr>
      <vt:lpstr>某个项目健康检查的流程图</vt:lpstr>
      <vt:lpstr>某项目训练任务自动恢复流程</vt:lpstr>
      <vt:lpstr>某项目eks-gpu-cluster-resilience流程图</vt:lpstr>
      <vt:lpstr>EKS gpu cluster resilience完整方案</vt:lpstr>
      <vt:lpstr>Q &amp; A</vt:lpstr>
    </vt:vector>
  </TitlesOfParts>
  <Company>Amazon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Liang, Yuhui</dc:creator>
  <cp:lastModifiedBy>Liang, Yuhui</cp:lastModifiedBy>
  <cp:revision>110</cp:revision>
  <dcterms:created xsi:type="dcterms:W3CDTF">2025-07-12T08:30:35Z</dcterms:created>
  <dcterms:modified xsi:type="dcterms:W3CDTF">2025-07-15T10:14:13Z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929eed6f-34eb-4453-9f97-09510b9b219f_Enabled">
    <vt:lpwstr>true</vt:lpwstr>
  </property>
  <property fmtid="{D5CDD505-2E9C-101B-9397-08002B2CF9AE}" pid="3" name="MSIP_Label_929eed6f-34eb-4453-9f97-09510b9b219f_SetDate">
    <vt:lpwstr>2025-07-12T08:31:15Z</vt:lpwstr>
  </property>
  <property fmtid="{D5CDD505-2E9C-101B-9397-08002B2CF9AE}" pid="4" name="MSIP_Label_929eed6f-34eb-4453-9f97-09510b9b219f_Method">
    <vt:lpwstr>Standard</vt:lpwstr>
  </property>
  <property fmtid="{D5CDD505-2E9C-101B-9397-08002B2CF9AE}" pid="5" name="MSIP_Label_929eed6f-34eb-4453-9f97-09510b9b219f_Name">
    <vt:lpwstr>Amazon Pending_Classification</vt:lpwstr>
  </property>
  <property fmtid="{D5CDD505-2E9C-101B-9397-08002B2CF9AE}" pid="6" name="MSIP_Label_929eed6f-34eb-4453-9f97-09510b9b219f_SiteId">
    <vt:lpwstr>5280104a-472d-4538-9ccf-1e1d0efe8b1b</vt:lpwstr>
  </property>
  <property fmtid="{D5CDD505-2E9C-101B-9397-08002B2CF9AE}" pid="7" name="MSIP_Label_929eed6f-34eb-4453-9f97-09510b9b219f_ActionId">
    <vt:lpwstr>58e588d7-5673-4745-90d6-60df2c93d7e5</vt:lpwstr>
  </property>
  <property fmtid="{D5CDD505-2E9C-101B-9397-08002B2CF9AE}" pid="8" name="MSIP_Label_929eed6f-34eb-4453-9f97-09510b9b219f_ContentBits">
    <vt:lpwstr>0</vt:lpwstr>
  </property>
  <property fmtid="{D5CDD505-2E9C-101B-9397-08002B2CF9AE}" pid="9" name="MSIP_Label_929eed6f-34eb-4453-9f97-09510b9b219f_Tag">
    <vt:lpwstr>10, 3, 0, 1</vt:lpwstr>
  </property>
</Properties>
</file>