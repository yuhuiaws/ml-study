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61" r:id="rId5"/>
    <p:sldId id="259" r:id="rId6"/>
    <p:sldId id="260" r:id="rId7"/>
    <p:sldId id="262" r:id="rId8"/>
    <p:sldId id="263" r:id="rId9"/>
    <p:sldId id="264" r:id="rId10"/>
    <p:sldId id="265" r:id="rId11"/>
    <p:sldId id="2147477803" r:id="rId12"/>
    <p:sldId id="2147477804"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236" autoAdjust="0"/>
  </p:normalViewPr>
  <p:slideViewPr>
    <p:cSldViewPr snapToGrid="0">
      <p:cViewPr varScale="1">
        <p:scale>
          <a:sx n="55" d="100"/>
          <a:sy n="55" d="100"/>
        </p:scale>
        <p:origin x="1083"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B65E8B-CAF3-4CF9-858B-2E7611D798C6}" type="datetimeFigureOut">
              <a:rPr lang="en-US" smtClean="0"/>
              <a:t>5/19/2026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C37D7F-2679-4ADE-AC24-526AD77A08D7}" type="slidenum">
              <a:rPr lang="en-US" smtClean="0"/>
              <a:t>‹#›</a:t>
            </a:fld>
            <a:endParaRPr lang="en-US"/>
          </a:p>
        </p:txBody>
      </p:sp>
    </p:spTree>
    <p:extLst>
      <p:ext uri="{BB962C8B-B14F-4D97-AF65-F5344CB8AC3E}">
        <p14:creationId xmlns:p14="http://schemas.microsoft.com/office/powerpoint/2010/main" val="3524820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ocs.nvidia.com/nemo-framework/user-guide/latest/nemotoolkit/core/exp_manager.html#experiment-manager"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 </a:t>
            </a:r>
            <a:r>
              <a:rPr lang="en-US" dirty="0"/>
              <a:t>Torch Distributed Elastic </a:t>
            </a:r>
            <a:r>
              <a:rPr lang="zh-CN" altLang="en-US" dirty="0"/>
              <a:t>上下文之中，人们使用 </a:t>
            </a:r>
            <a:r>
              <a:rPr lang="en-US" dirty="0"/>
              <a:t>rendezvous </a:t>
            </a:r>
            <a:r>
              <a:rPr lang="zh-CN" altLang="en-US" dirty="0"/>
              <a:t>这个术语来特指一个特定功能：一个结合了对等发现（</a:t>
            </a:r>
            <a:r>
              <a:rPr lang="en-US" dirty="0"/>
              <a:t>peer discovery）</a:t>
            </a:r>
            <a:r>
              <a:rPr lang="zh-CN" altLang="en-US" dirty="0"/>
              <a:t>的分布式同步（</a:t>
            </a:r>
            <a:r>
              <a:rPr lang="en-US" dirty="0"/>
              <a:t>distributed synchronization）</a:t>
            </a:r>
            <a:r>
              <a:rPr lang="zh-CN" altLang="en-US" dirty="0"/>
              <a:t>原语。</a:t>
            </a:r>
            <a:endParaRPr lang="en-US" dirty="0"/>
          </a:p>
        </p:txBody>
      </p:sp>
      <p:sp>
        <p:nvSpPr>
          <p:cNvPr id="4" name="灯片编号占位符 3"/>
          <p:cNvSpPr>
            <a:spLocks noGrp="1"/>
          </p:cNvSpPr>
          <p:nvPr>
            <p:ph type="sldNum" sz="quarter" idx="5"/>
          </p:nvPr>
        </p:nvSpPr>
        <p:spPr/>
        <p:txBody>
          <a:bodyPr/>
          <a:lstStyle/>
          <a:p>
            <a:fld id="{66C37D7F-2679-4ADE-AC24-526AD77A08D7}" type="slidenum">
              <a:rPr lang="en-US" smtClean="0"/>
              <a:t>2</a:t>
            </a:fld>
            <a:endParaRPr lang="en-US"/>
          </a:p>
        </p:txBody>
      </p:sp>
    </p:spTree>
    <p:extLst>
      <p:ext uri="{BB962C8B-B14F-4D97-AF65-F5344CB8AC3E}">
        <p14:creationId xmlns:p14="http://schemas.microsoft.com/office/powerpoint/2010/main" val="1975738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a:t>
            </a:r>
            <a:r>
              <a:rPr lang="en-US" altLang="zh-CN" dirty="0"/>
              <a:t>blog</a:t>
            </a:r>
            <a:r>
              <a:rPr lang="zh-CN" altLang="en-US" dirty="0"/>
              <a:t>：</a:t>
            </a:r>
            <a:r>
              <a:rPr lang="en-US" altLang="zh-CN" dirty="0"/>
              <a:t>https://aws.amazon.com/cn/blogs/machine-learning/adaptive-infrastructure-for-foundation-model-training-with-elastic-training-on-sagemaker-hyperpod/</a:t>
            </a:r>
          </a:p>
          <a:p>
            <a:r>
              <a:rPr lang="zh-CN" altLang="en-US" dirty="0"/>
              <a:t>参考：</a:t>
            </a:r>
            <a:r>
              <a:rPr lang="en-US" altLang="zh-CN" dirty="0"/>
              <a:t>https://github.com/aws/sagemaker-hyperpod-recipes</a:t>
            </a:r>
          </a:p>
          <a:p>
            <a:endParaRPr lang="en-US" dirty="0"/>
          </a:p>
        </p:txBody>
      </p:sp>
      <p:sp>
        <p:nvSpPr>
          <p:cNvPr id="4" name="灯片编号占位符 3"/>
          <p:cNvSpPr>
            <a:spLocks noGrp="1"/>
          </p:cNvSpPr>
          <p:nvPr>
            <p:ph type="sldNum" sz="quarter" idx="5"/>
          </p:nvPr>
        </p:nvSpPr>
        <p:spPr/>
        <p:txBody>
          <a:bodyPr/>
          <a:lstStyle/>
          <a:p>
            <a:fld id="{66C37D7F-2679-4ADE-AC24-526AD77A08D7}" type="slidenum">
              <a:rPr lang="en-US" smtClean="0"/>
              <a:t>3</a:t>
            </a:fld>
            <a:endParaRPr lang="en-US"/>
          </a:p>
        </p:txBody>
      </p:sp>
    </p:spTree>
    <p:extLst>
      <p:ext uri="{BB962C8B-B14F-4D97-AF65-F5344CB8AC3E}">
        <p14:creationId xmlns:p14="http://schemas.microsoft.com/office/powerpoint/2010/main" val="1115590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a:t>
            </a:r>
            <a:r>
              <a:rPr lang="en-US" altLang="zh-CN" dirty="0"/>
              <a:t>https://github.com/aws/sagemaker-hyperpod-recipes/blob/main/recipes_collection/recipes/fine-tuning/llama/llmft_llama3_1_8b_instruct_seq4k_gpu_sft_lora.yaml</a:t>
            </a:r>
          </a:p>
          <a:p>
            <a:endParaRPr lang="en-US" dirty="0"/>
          </a:p>
          <a:p>
            <a:r>
              <a:rPr lang="en-US" dirty="0"/>
              <a:t>Elastic training does not currently support </a:t>
            </a:r>
            <a:r>
              <a:rPr lang="en-US" dirty="0" err="1"/>
              <a:t>checkpointless</a:t>
            </a:r>
            <a:r>
              <a:rPr lang="en-US" dirty="0"/>
              <a:t> training capabilities, </a:t>
            </a:r>
            <a:r>
              <a:rPr lang="en-US" dirty="0" err="1"/>
              <a:t>HyperPod</a:t>
            </a:r>
            <a:r>
              <a:rPr lang="en-US" dirty="0"/>
              <a:t> managed tiered checkpointing, or Spot instances.</a:t>
            </a:r>
          </a:p>
        </p:txBody>
      </p:sp>
      <p:sp>
        <p:nvSpPr>
          <p:cNvPr id="4" name="灯片编号占位符 3"/>
          <p:cNvSpPr>
            <a:spLocks noGrp="1"/>
          </p:cNvSpPr>
          <p:nvPr>
            <p:ph type="sldNum" sz="quarter" idx="5"/>
          </p:nvPr>
        </p:nvSpPr>
        <p:spPr/>
        <p:txBody>
          <a:bodyPr/>
          <a:lstStyle/>
          <a:p>
            <a:fld id="{66C37D7F-2679-4ADE-AC24-526AD77A08D7}" type="slidenum">
              <a:rPr lang="en-US" smtClean="0"/>
              <a:t>5</a:t>
            </a:fld>
            <a:endParaRPr lang="en-US"/>
          </a:p>
        </p:txBody>
      </p:sp>
    </p:spTree>
    <p:extLst>
      <p:ext uri="{BB962C8B-B14F-4D97-AF65-F5344CB8AC3E}">
        <p14:creationId xmlns:p14="http://schemas.microsoft.com/office/powerpoint/2010/main" val="2789434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参考博客：</a:t>
            </a:r>
            <a:r>
              <a:rPr lang="en-US" altLang="zh-CN" dirty="0"/>
              <a:t>https://aws.amazon.com/cn/blogs/machine-learning/checkpointless-training-on-amazon-sagemaker-hyperpod-production-scale-training-with-faster-fault-recovery/</a:t>
            </a:r>
          </a:p>
          <a:p>
            <a:endParaRPr lang="en-US" altLang="zh-CN" dirty="0"/>
          </a:p>
          <a:p>
            <a:endParaRPr lang="en-US" altLang="zh-CN" dirty="0"/>
          </a:p>
          <a:p>
            <a:r>
              <a:rPr lang="en-US" dirty="0" err="1"/>
              <a:t>C</a:t>
            </a:r>
            <a:r>
              <a:rPr lang="en-US" altLang="zh-CN" dirty="0" err="1"/>
              <a:t>heckpointless</a:t>
            </a:r>
            <a:r>
              <a:rPr lang="en-US" altLang="zh-CN" dirty="0"/>
              <a:t> training</a:t>
            </a:r>
            <a:r>
              <a:rPr lang="zh-CN" altLang="en-US" dirty="0"/>
              <a:t>依赖</a:t>
            </a:r>
            <a:r>
              <a:rPr lang="en-US" altLang="zh-CN" dirty="0"/>
              <a:t>SMHP training operator</a:t>
            </a:r>
            <a:r>
              <a:rPr lang="zh-CN" altLang="en-US" dirty="0"/>
              <a:t>。</a:t>
            </a:r>
            <a:endParaRPr lang="en-US" dirty="0"/>
          </a:p>
          <a:p>
            <a:r>
              <a:rPr lang="en-US" dirty="0" err="1"/>
              <a:t>Checkpointless</a:t>
            </a:r>
            <a:r>
              <a:rPr lang="en-US" dirty="0"/>
              <a:t> training on SageMaker </a:t>
            </a:r>
            <a:r>
              <a:rPr lang="en-US" dirty="0" err="1"/>
              <a:t>HyperPod</a:t>
            </a:r>
            <a:r>
              <a:rPr lang="en-US" dirty="0"/>
              <a:t> is built on top of the </a:t>
            </a:r>
            <a:r>
              <a:rPr lang="en-US" dirty="0">
                <a:hlinkClick r:id="rId3"/>
              </a:rPr>
              <a:t>NVIDIA </a:t>
            </a:r>
            <a:r>
              <a:rPr lang="en-US" dirty="0" err="1">
                <a:hlinkClick r:id="rId3"/>
              </a:rPr>
              <a:t>NeMo</a:t>
            </a:r>
            <a:r>
              <a:rPr lang="en-US" dirty="0">
                <a:hlinkClick r:id="rId3"/>
              </a:rPr>
              <a:t> Framework User Guide</a:t>
            </a:r>
            <a:r>
              <a:rPr lang="en-US" dirty="0"/>
              <a:t>. </a:t>
            </a:r>
          </a:p>
          <a:p>
            <a:endParaRPr lang="en-US" dirty="0"/>
          </a:p>
          <a:p>
            <a:pPr lvl="0"/>
            <a:r>
              <a:rPr lang="en-US" dirty="0"/>
              <a:t>elastic agent </a:t>
            </a:r>
            <a:r>
              <a:rPr lang="zh-CN" altLang="en-US" dirty="0"/>
              <a:t>是一个独立的进程，负责管理其下的 </a:t>
            </a:r>
            <a:r>
              <a:rPr lang="en-US" dirty="0"/>
              <a:t>workers。</a:t>
            </a:r>
            <a:r>
              <a:rPr lang="zh-CN" altLang="en-US" dirty="0"/>
              <a:t>它起到了类似进程管理系统 </a:t>
            </a:r>
            <a:r>
              <a:rPr lang="en-US" dirty="0"/>
              <a:t>supervisor </a:t>
            </a:r>
            <a:r>
              <a:rPr lang="zh-CN" altLang="en-US" dirty="0"/>
              <a:t>的作用，</a:t>
            </a:r>
            <a:endParaRPr lang="en-US" altLang="zh-CN" dirty="0"/>
          </a:p>
          <a:p>
            <a:pPr lvl="1"/>
            <a:r>
              <a:rPr lang="zh-CN" altLang="en-US" dirty="0"/>
              <a:t>会在启动的时候确保每个 </a:t>
            </a:r>
            <a:r>
              <a:rPr lang="en-US" dirty="0"/>
              <a:t>worker </a:t>
            </a:r>
            <a:r>
              <a:rPr lang="zh-CN" altLang="en-US" dirty="0"/>
              <a:t>的设置正确。由于有关 </a:t>
            </a:r>
            <a:r>
              <a:rPr lang="en-US" dirty="0"/>
              <a:t>WORLD_SIZE </a:t>
            </a:r>
            <a:r>
              <a:rPr lang="zh-CN" altLang="en-US" dirty="0"/>
              <a:t>和 </a:t>
            </a:r>
            <a:r>
              <a:rPr lang="en-US" dirty="0"/>
              <a:t>RANK </a:t>
            </a:r>
            <a:r>
              <a:rPr lang="zh-CN" altLang="en-US" dirty="0"/>
              <a:t>的信息不再需要用户提供，</a:t>
            </a:r>
            <a:r>
              <a:rPr lang="en-US" dirty="0"/>
              <a:t>elastic agent </a:t>
            </a:r>
            <a:r>
              <a:rPr lang="zh-CN" altLang="en-US" dirty="0"/>
              <a:t>会负责处理。除此之外，</a:t>
            </a:r>
            <a:r>
              <a:rPr lang="en-US" dirty="0"/>
              <a:t>worker </a:t>
            </a:r>
            <a:r>
              <a:rPr lang="zh-CN" altLang="en-US" dirty="0"/>
              <a:t>的失效也是由 </a:t>
            </a:r>
            <a:r>
              <a:rPr lang="en-US" dirty="0"/>
              <a:t>elastic agent </a:t>
            </a:r>
            <a:r>
              <a:rPr lang="zh-CN" altLang="en-US" dirty="0"/>
              <a:t>负责捕获处理。可以说 </a:t>
            </a:r>
            <a:r>
              <a:rPr lang="en-US" dirty="0"/>
              <a:t>elastic agent </a:t>
            </a:r>
            <a:r>
              <a:rPr lang="zh-CN" altLang="en-US" dirty="0"/>
              <a:t>是弹性训练中最核心的抽象概念。</a:t>
            </a:r>
            <a:endParaRPr lang="en-US" dirty="0"/>
          </a:p>
          <a:p>
            <a:endParaRPr lang="en-US" dirty="0"/>
          </a:p>
        </p:txBody>
      </p:sp>
      <p:sp>
        <p:nvSpPr>
          <p:cNvPr id="4" name="灯片编号占位符 3"/>
          <p:cNvSpPr>
            <a:spLocks noGrp="1"/>
          </p:cNvSpPr>
          <p:nvPr>
            <p:ph type="sldNum" sz="quarter" idx="5"/>
          </p:nvPr>
        </p:nvSpPr>
        <p:spPr/>
        <p:txBody>
          <a:bodyPr/>
          <a:lstStyle/>
          <a:p>
            <a:fld id="{66C37D7F-2679-4ADE-AC24-526AD77A08D7}" type="slidenum">
              <a:rPr lang="en-US" smtClean="0"/>
              <a:t>6</a:t>
            </a:fld>
            <a:endParaRPr lang="en-US"/>
          </a:p>
        </p:txBody>
      </p:sp>
    </p:spTree>
    <p:extLst>
      <p:ext uri="{BB962C8B-B14F-4D97-AF65-F5344CB8AC3E}">
        <p14:creationId xmlns:p14="http://schemas.microsoft.com/office/powerpoint/2010/main" val="2105418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66C37D7F-2679-4ADE-AC24-526AD77A08D7}" type="slidenum">
              <a:rPr lang="en-US" smtClean="0"/>
              <a:t>7</a:t>
            </a:fld>
            <a:endParaRPr lang="en-US"/>
          </a:p>
        </p:txBody>
      </p:sp>
    </p:spTree>
    <p:extLst>
      <p:ext uri="{BB962C8B-B14F-4D97-AF65-F5344CB8AC3E}">
        <p14:creationId xmlns:p14="http://schemas.microsoft.com/office/powerpoint/2010/main" val="3103080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https://github.com/aws/sagemaker-hyperpod-recipes/blob/main/recipes_collection/recipes/training/llama/checkpointless_llama3_70b_pretrain.yaml</a:t>
            </a:r>
          </a:p>
        </p:txBody>
      </p:sp>
      <p:sp>
        <p:nvSpPr>
          <p:cNvPr id="4" name="灯片编号占位符 3"/>
          <p:cNvSpPr>
            <a:spLocks noGrp="1"/>
          </p:cNvSpPr>
          <p:nvPr>
            <p:ph type="sldNum" sz="quarter" idx="5"/>
          </p:nvPr>
        </p:nvSpPr>
        <p:spPr/>
        <p:txBody>
          <a:bodyPr/>
          <a:lstStyle/>
          <a:p>
            <a:fld id="{66C37D7F-2679-4ADE-AC24-526AD77A08D7}" type="slidenum">
              <a:rPr lang="en-US" smtClean="0"/>
              <a:t>8</a:t>
            </a:fld>
            <a:endParaRPr lang="en-US"/>
          </a:p>
        </p:txBody>
      </p:sp>
    </p:spTree>
    <p:extLst>
      <p:ext uri="{BB962C8B-B14F-4D97-AF65-F5344CB8AC3E}">
        <p14:creationId xmlns:p14="http://schemas.microsoft.com/office/powerpoint/2010/main" val="629420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a:t>
            </a:r>
            <a:r>
              <a:rPr lang="en-US" altLang="zh-CN" dirty="0"/>
              <a:t>blog</a:t>
            </a:r>
            <a:r>
              <a:rPr lang="zh-CN" altLang="en-US" dirty="0"/>
              <a:t>：</a:t>
            </a:r>
            <a:r>
              <a:rPr lang="en-US" altLang="zh-CN" dirty="0"/>
              <a:t>https://aws.amazon.com/cn/blogs/machine-learning/checkpointless-training-on-amazon-sagemaker-hyperpod-production-scale-training-with-faster-fault-recovery/</a:t>
            </a:r>
            <a:endParaRPr lang="en-US" dirty="0"/>
          </a:p>
        </p:txBody>
      </p:sp>
      <p:sp>
        <p:nvSpPr>
          <p:cNvPr id="4" name="灯片编号占位符 3"/>
          <p:cNvSpPr>
            <a:spLocks noGrp="1"/>
          </p:cNvSpPr>
          <p:nvPr>
            <p:ph type="sldNum" sz="quarter" idx="5"/>
          </p:nvPr>
        </p:nvSpPr>
        <p:spPr/>
        <p:txBody>
          <a:bodyPr/>
          <a:lstStyle/>
          <a:p>
            <a:fld id="{66C37D7F-2679-4ADE-AC24-526AD77A08D7}" type="slidenum">
              <a:rPr lang="en-US" smtClean="0"/>
              <a:t>9</a:t>
            </a:fld>
            <a:endParaRPr lang="en-US"/>
          </a:p>
        </p:txBody>
      </p:sp>
    </p:spTree>
    <p:extLst>
      <p:ext uri="{BB962C8B-B14F-4D97-AF65-F5344CB8AC3E}">
        <p14:creationId xmlns:p14="http://schemas.microsoft.com/office/powerpoint/2010/main" val="2628055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a:t>
            </a:r>
            <a:r>
              <a:rPr lang="en-US" altLang="zh-CN" dirty="0"/>
              <a:t>https://pypi.org/project/amzn-sagemaker-checkpointing/</a:t>
            </a:r>
            <a:endParaRPr lang="en-US" dirty="0"/>
          </a:p>
        </p:txBody>
      </p:sp>
      <p:sp>
        <p:nvSpPr>
          <p:cNvPr id="4" name="灯片编号占位符 3"/>
          <p:cNvSpPr>
            <a:spLocks noGrp="1"/>
          </p:cNvSpPr>
          <p:nvPr>
            <p:ph type="sldNum" sz="quarter" idx="5"/>
          </p:nvPr>
        </p:nvSpPr>
        <p:spPr/>
        <p:txBody>
          <a:bodyPr/>
          <a:lstStyle/>
          <a:p>
            <a:fld id="{66C37D7F-2679-4ADE-AC24-526AD77A08D7}" type="slidenum">
              <a:rPr lang="en-US" smtClean="0"/>
              <a:t>10</a:t>
            </a:fld>
            <a:endParaRPr lang="en-US"/>
          </a:p>
        </p:txBody>
      </p:sp>
    </p:spTree>
    <p:extLst>
      <p:ext uri="{BB962C8B-B14F-4D97-AF65-F5344CB8AC3E}">
        <p14:creationId xmlns:p14="http://schemas.microsoft.com/office/powerpoint/2010/main" val="2789920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https://aws.amazon.com/blogs/machine-learning/introducing-amazon-eks-support-in-amazon-sagemaker-hyperpod/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https://docs.aws.amazon.com/sagemaker/latest/dg/sagemaker-hyperpod-eks-run-jobs-kubectl.html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https://quip-amazon.com/iTqsAkNcnRU6/SMHPResiliency</a:t>
            </a:r>
          </a:p>
          <a:p>
            <a:endParaRPr lang="en-US" dirty="0"/>
          </a:p>
        </p:txBody>
      </p:sp>
      <p:sp>
        <p:nvSpPr>
          <p:cNvPr id="4" name="灯片编号占位符 3"/>
          <p:cNvSpPr>
            <a:spLocks noGrp="1"/>
          </p:cNvSpPr>
          <p:nvPr>
            <p:ph type="sldNum" sz="quarter" idx="5"/>
          </p:nvPr>
        </p:nvSpPr>
        <p:spPr/>
        <p:txBody>
          <a:bodyPr/>
          <a:lstStyle/>
          <a:p>
            <a:fld id="{84CC69DD-CFF1-4812-BFEF-96188E6E5A94}" type="slidenum">
              <a:rPr lang="en-US" smtClean="0"/>
              <a:t>12</a:t>
            </a:fld>
            <a:endParaRPr lang="en-US"/>
          </a:p>
        </p:txBody>
      </p:sp>
    </p:spTree>
    <p:extLst>
      <p:ext uri="{BB962C8B-B14F-4D97-AF65-F5344CB8AC3E}">
        <p14:creationId xmlns:p14="http://schemas.microsoft.com/office/powerpoint/2010/main" val="4234989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7755A2-52B5-E8F7-63EF-3303AEBD0C8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333ED5DD-5784-2105-58CA-71AB71CD51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52839913-E9E0-A02B-7B10-1D9EB88979D4}"/>
              </a:ext>
            </a:extLst>
          </p:cNvPr>
          <p:cNvSpPr>
            <a:spLocks noGrp="1"/>
          </p:cNvSpPr>
          <p:nvPr>
            <p:ph type="dt" sz="half" idx="10"/>
          </p:nvPr>
        </p:nvSpPr>
        <p:spPr/>
        <p:txBody>
          <a:bodyPr/>
          <a:lstStyle/>
          <a:p>
            <a:fld id="{35E7BC7F-EB91-4C2B-89FA-E87CFE950619}" type="datetimeFigureOut">
              <a:rPr lang="en-US" smtClean="0"/>
              <a:t>5/19/2026</a:t>
            </a:fld>
            <a:endParaRPr lang="en-US"/>
          </a:p>
        </p:txBody>
      </p:sp>
      <p:sp>
        <p:nvSpPr>
          <p:cNvPr id="5" name="页脚占位符 4">
            <a:extLst>
              <a:ext uri="{FF2B5EF4-FFF2-40B4-BE49-F238E27FC236}">
                <a16:creationId xmlns:a16="http://schemas.microsoft.com/office/drawing/2014/main" id="{EDDB84C6-B052-72B6-76B2-1B11CDBB61ED}"/>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4C4DC0F5-2386-48B5-D73A-2985B41ACF52}"/>
              </a:ext>
            </a:extLst>
          </p:cNvPr>
          <p:cNvSpPr>
            <a:spLocks noGrp="1"/>
          </p:cNvSpPr>
          <p:nvPr>
            <p:ph type="sldNum" sz="quarter" idx="12"/>
          </p:nvPr>
        </p:nvSpPr>
        <p:spPr/>
        <p:txBody>
          <a:bodyPr/>
          <a:lstStyle/>
          <a:p>
            <a:fld id="{B077908D-9546-4E2D-9EB9-669DBDAAB7E9}" type="slidenum">
              <a:rPr lang="en-US" smtClean="0"/>
              <a:t>‹#›</a:t>
            </a:fld>
            <a:endParaRPr lang="en-US"/>
          </a:p>
        </p:txBody>
      </p:sp>
    </p:spTree>
    <p:extLst>
      <p:ext uri="{BB962C8B-B14F-4D97-AF65-F5344CB8AC3E}">
        <p14:creationId xmlns:p14="http://schemas.microsoft.com/office/powerpoint/2010/main" val="3435688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270825-E5B6-5D9B-805C-C7B907040B92}"/>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3831DCB3-4D53-A4EB-D7B8-05A6E5FAA4B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28A158D4-677F-044A-9156-540C02C9DE7C}"/>
              </a:ext>
            </a:extLst>
          </p:cNvPr>
          <p:cNvSpPr>
            <a:spLocks noGrp="1"/>
          </p:cNvSpPr>
          <p:nvPr>
            <p:ph type="dt" sz="half" idx="10"/>
          </p:nvPr>
        </p:nvSpPr>
        <p:spPr/>
        <p:txBody>
          <a:bodyPr/>
          <a:lstStyle/>
          <a:p>
            <a:fld id="{35E7BC7F-EB91-4C2B-89FA-E87CFE950619}" type="datetimeFigureOut">
              <a:rPr lang="en-US" smtClean="0"/>
              <a:t>5/19/2026</a:t>
            </a:fld>
            <a:endParaRPr lang="en-US"/>
          </a:p>
        </p:txBody>
      </p:sp>
      <p:sp>
        <p:nvSpPr>
          <p:cNvPr id="5" name="页脚占位符 4">
            <a:extLst>
              <a:ext uri="{FF2B5EF4-FFF2-40B4-BE49-F238E27FC236}">
                <a16:creationId xmlns:a16="http://schemas.microsoft.com/office/drawing/2014/main" id="{1EC43E46-DBF8-725C-1DE9-6A6A683DD0D6}"/>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7F0BCC9F-8741-C9FC-53F6-15CD670AF448}"/>
              </a:ext>
            </a:extLst>
          </p:cNvPr>
          <p:cNvSpPr>
            <a:spLocks noGrp="1"/>
          </p:cNvSpPr>
          <p:nvPr>
            <p:ph type="sldNum" sz="quarter" idx="12"/>
          </p:nvPr>
        </p:nvSpPr>
        <p:spPr/>
        <p:txBody>
          <a:bodyPr/>
          <a:lstStyle/>
          <a:p>
            <a:fld id="{B077908D-9546-4E2D-9EB9-669DBDAAB7E9}" type="slidenum">
              <a:rPr lang="en-US" smtClean="0"/>
              <a:t>‹#›</a:t>
            </a:fld>
            <a:endParaRPr lang="en-US"/>
          </a:p>
        </p:txBody>
      </p:sp>
    </p:spTree>
    <p:extLst>
      <p:ext uri="{BB962C8B-B14F-4D97-AF65-F5344CB8AC3E}">
        <p14:creationId xmlns:p14="http://schemas.microsoft.com/office/powerpoint/2010/main" val="3951804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45D3E-3853-53BB-D08E-AF735175AC3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D46EAD5E-B49C-63D5-BC4F-922AF37CC8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B416562-13E8-5537-61C9-362388388257}"/>
              </a:ext>
            </a:extLst>
          </p:cNvPr>
          <p:cNvSpPr>
            <a:spLocks noGrp="1"/>
          </p:cNvSpPr>
          <p:nvPr>
            <p:ph type="dt" sz="half" idx="10"/>
          </p:nvPr>
        </p:nvSpPr>
        <p:spPr/>
        <p:txBody>
          <a:bodyPr/>
          <a:lstStyle/>
          <a:p>
            <a:fld id="{35E7BC7F-EB91-4C2B-89FA-E87CFE950619}" type="datetimeFigureOut">
              <a:rPr lang="en-US" smtClean="0"/>
              <a:t>5/19/2026</a:t>
            </a:fld>
            <a:endParaRPr lang="en-US"/>
          </a:p>
        </p:txBody>
      </p:sp>
      <p:sp>
        <p:nvSpPr>
          <p:cNvPr id="5" name="页脚占位符 4">
            <a:extLst>
              <a:ext uri="{FF2B5EF4-FFF2-40B4-BE49-F238E27FC236}">
                <a16:creationId xmlns:a16="http://schemas.microsoft.com/office/drawing/2014/main" id="{3F5DF467-2738-4693-7D94-E6E55DAA8CB2}"/>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F01161F-7587-D133-46D2-8ED36C6C5B76}"/>
              </a:ext>
            </a:extLst>
          </p:cNvPr>
          <p:cNvSpPr>
            <a:spLocks noGrp="1"/>
          </p:cNvSpPr>
          <p:nvPr>
            <p:ph type="sldNum" sz="quarter" idx="12"/>
          </p:nvPr>
        </p:nvSpPr>
        <p:spPr/>
        <p:txBody>
          <a:bodyPr/>
          <a:lstStyle/>
          <a:p>
            <a:fld id="{B077908D-9546-4E2D-9EB9-669DBDAAB7E9}" type="slidenum">
              <a:rPr lang="en-US" smtClean="0"/>
              <a:t>‹#›</a:t>
            </a:fld>
            <a:endParaRPr lang="en-US"/>
          </a:p>
        </p:txBody>
      </p:sp>
    </p:spTree>
    <p:extLst>
      <p:ext uri="{BB962C8B-B14F-4D97-AF65-F5344CB8AC3E}">
        <p14:creationId xmlns:p14="http://schemas.microsoft.com/office/powerpoint/2010/main" val="3337130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380019-9E44-E713-7E28-BCB52E0DFEB8}"/>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EC53D900-0A34-790F-AA32-6000710364E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a:extLst>
              <a:ext uri="{FF2B5EF4-FFF2-40B4-BE49-F238E27FC236}">
                <a16:creationId xmlns:a16="http://schemas.microsoft.com/office/drawing/2014/main" id="{2CC36BCB-60FB-B646-E930-82007096C81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2189567E-BD2B-F44C-6CC0-2F5FC5145272}"/>
              </a:ext>
            </a:extLst>
          </p:cNvPr>
          <p:cNvSpPr>
            <a:spLocks noGrp="1"/>
          </p:cNvSpPr>
          <p:nvPr>
            <p:ph type="dt" sz="half" idx="10"/>
          </p:nvPr>
        </p:nvSpPr>
        <p:spPr/>
        <p:txBody>
          <a:bodyPr/>
          <a:lstStyle/>
          <a:p>
            <a:fld id="{35E7BC7F-EB91-4C2B-89FA-E87CFE950619}" type="datetimeFigureOut">
              <a:rPr lang="en-US" smtClean="0"/>
              <a:t>5/19/2026</a:t>
            </a:fld>
            <a:endParaRPr lang="en-US"/>
          </a:p>
        </p:txBody>
      </p:sp>
      <p:sp>
        <p:nvSpPr>
          <p:cNvPr id="6" name="页脚占位符 5">
            <a:extLst>
              <a:ext uri="{FF2B5EF4-FFF2-40B4-BE49-F238E27FC236}">
                <a16:creationId xmlns:a16="http://schemas.microsoft.com/office/drawing/2014/main" id="{A7D555ED-3F52-E85C-1E8D-6DD3552DC8BE}"/>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2D5C8109-DC02-1A9D-B935-869B125C0A2B}"/>
              </a:ext>
            </a:extLst>
          </p:cNvPr>
          <p:cNvSpPr>
            <a:spLocks noGrp="1"/>
          </p:cNvSpPr>
          <p:nvPr>
            <p:ph type="sldNum" sz="quarter" idx="12"/>
          </p:nvPr>
        </p:nvSpPr>
        <p:spPr/>
        <p:txBody>
          <a:bodyPr/>
          <a:lstStyle/>
          <a:p>
            <a:fld id="{B077908D-9546-4E2D-9EB9-669DBDAAB7E9}" type="slidenum">
              <a:rPr lang="en-US" smtClean="0"/>
              <a:t>‹#›</a:t>
            </a:fld>
            <a:endParaRPr lang="en-US"/>
          </a:p>
        </p:txBody>
      </p:sp>
    </p:spTree>
    <p:extLst>
      <p:ext uri="{BB962C8B-B14F-4D97-AF65-F5344CB8AC3E}">
        <p14:creationId xmlns:p14="http://schemas.microsoft.com/office/powerpoint/2010/main" val="1955228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AD06C9-64CF-5254-1AAA-3F14DCDF992A}"/>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2FE76765-1489-D492-25F9-CD053C7394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2A30FB3-BCF5-4BA3-233A-432E9657AB7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a:extLst>
              <a:ext uri="{FF2B5EF4-FFF2-40B4-BE49-F238E27FC236}">
                <a16:creationId xmlns:a16="http://schemas.microsoft.com/office/drawing/2014/main" id="{726BF49C-C7E8-C9FA-F5AD-C2EF24A619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95A630-64F9-4132-213F-6B44E25799C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a:extLst>
              <a:ext uri="{FF2B5EF4-FFF2-40B4-BE49-F238E27FC236}">
                <a16:creationId xmlns:a16="http://schemas.microsoft.com/office/drawing/2014/main" id="{AC84FE10-146B-26E5-0CBA-E10E08A898FB}"/>
              </a:ext>
            </a:extLst>
          </p:cNvPr>
          <p:cNvSpPr>
            <a:spLocks noGrp="1"/>
          </p:cNvSpPr>
          <p:nvPr>
            <p:ph type="dt" sz="half" idx="10"/>
          </p:nvPr>
        </p:nvSpPr>
        <p:spPr/>
        <p:txBody>
          <a:bodyPr/>
          <a:lstStyle/>
          <a:p>
            <a:fld id="{35E7BC7F-EB91-4C2B-89FA-E87CFE950619}" type="datetimeFigureOut">
              <a:rPr lang="en-US" smtClean="0"/>
              <a:t>5/19/2026</a:t>
            </a:fld>
            <a:endParaRPr lang="en-US"/>
          </a:p>
        </p:txBody>
      </p:sp>
      <p:sp>
        <p:nvSpPr>
          <p:cNvPr id="8" name="页脚占位符 7">
            <a:extLst>
              <a:ext uri="{FF2B5EF4-FFF2-40B4-BE49-F238E27FC236}">
                <a16:creationId xmlns:a16="http://schemas.microsoft.com/office/drawing/2014/main" id="{79A4F7AA-9EFC-1C21-8528-04A2A8416E9D}"/>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010AFCCE-FEE5-0DDC-817F-BDFCFD19DF11}"/>
              </a:ext>
            </a:extLst>
          </p:cNvPr>
          <p:cNvSpPr>
            <a:spLocks noGrp="1"/>
          </p:cNvSpPr>
          <p:nvPr>
            <p:ph type="sldNum" sz="quarter" idx="12"/>
          </p:nvPr>
        </p:nvSpPr>
        <p:spPr/>
        <p:txBody>
          <a:bodyPr/>
          <a:lstStyle/>
          <a:p>
            <a:fld id="{B077908D-9546-4E2D-9EB9-669DBDAAB7E9}" type="slidenum">
              <a:rPr lang="en-US" smtClean="0"/>
              <a:t>‹#›</a:t>
            </a:fld>
            <a:endParaRPr lang="en-US"/>
          </a:p>
        </p:txBody>
      </p:sp>
    </p:spTree>
    <p:extLst>
      <p:ext uri="{BB962C8B-B14F-4D97-AF65-F5344CB8AC3E}">
        <p14:creationId xmlns:p14="http://schemas.microsoft.com/office/powerpoint/2010/main" val="843691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200F92-D63A-42DC-B75E-747B54CC8D78}"/>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D6570508-9FCC-01E3-5211-168B41224E6C}"/>
              </a:ext>
            </a:extLst>
          </p:cNvPr>
          <p:cNvSpPr>
            <a:spLocks noGrp="1"/>
          </p:cNvSpPr>
          <p:nvPr>
            <p:ph type="dt" sz="half" idx="10"/>
          </p:nvPr>
        </p:nvSpPr>
        <p:spPr/>
        <p:txBody>
          <a:bodyPr/>
          <a:lstStyle/>
          <a:p>
            <a:fld id="{35E7BC7F-EB91-4C2B-89FA-E87CFE950619}" type="datetimeFigureOut">
              <a:rPr lang="en-US" smtClean="0"/>
              <a:t>5/19/2026</a:t>
            </a:fld>
            <a:endParaRPr lang="en-US"/>
          </a:p>
        </p:txBody>
      </p:sp>
      <p:sp>
        <p:nvSpPr>
          <p:cNvPr id="4" name="页脚占位符 3">
            <a:extLst>
              <a:ext uri="{FF2B5EF4-FFF2-40B4-BE49-F238E27FC236}">
                <a16:creationId xmlns:a16="http://schemas.microsoft.com/office/drawing/2014/main" id="{BE1E84FA-AB39-1D6B-DD9C-02B4727CE7A2}"/>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06F8D861-5B84-F3B2-CE99-04EBF93EE383}"/>
              </a:ext>
            </a:extLst>
          </p:cNvPr>
          <p:cNvSpPr>
            <a:spLocks noGrp="1"/>
          </p:cNvSpPr>
          <p:nvPr>
            <p:ph type="sldNum" sz="quarter" idx="12"/>
          </p:nvPr>
        </p:nvSpPr>
        <p:spPr/>
        <p:txBody>
          <a:bodyPr/>
          <a:lstStyle/>
          <a:p>
            <a:fld id="{B077908D-9546-4E2D-9EB9-669DBDAAB7E9}" type="slidenum">
              <a:rPr lang="en-US" smtClean="0"/>
              <a:t>‹#›</a:t>
            </a:fld>
            <a:endParaRPr lang="en-US"/>
          </a:p>
        </p:txBody>
      </p:sp>
    </p:spTree>
    <p:extLst>
      <p:ext uri="{BB962C8B-B14F-4D97-AF65-F5344CB8AC3E}">
        <p14:creationId xmlns:p14="http://schemas.microsoft.com/office/powerpoint/2010/main" val="36688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9B7A869-6C31-951F-D638-E5F78FCC0062}"/>
              </a:ext>
            </a:extLst>
          </p:cNvPr>
          <p:cNvSpPr>
            <a:spLocks noGrp="1"/>
          </p:cNvSpPr>
          <p:nvPr>
            <p:ph type="dt" sz="half" idx="10"/>
          </p:nvPr>
        </p:nvSpPr>
        <p:spPr/>
        <p:txBody>
          <a:bodyPr/>
          <a:lstStyle/>
          <a:p>
            <a:fld id="{35E7BC7F-EB91-4C2B-89FA-E87CFE950619}" type="datetimeFigureOut">
              <a:rPr lang="en-US" smtClean="0"/>
              <a:t>5/19/2026</a:t>
            </a:fld>
            <a:endParaRPr lang="en-US"/>
          </a:p>
        </p:txBody>
      </p:sp>
      <p:sp>
        <p:nvSpPr>
          <p:cNvPr id="3" name="页脚占位符 2">
            <a:extLst>
              <a:ext uri="{FF2B5EF4-FFF2-40B4-BE49-F238E27FC236}">
                <a16:creationId xmlns:a16="http://schemas.microsoft.com/office/drawing/2014/main" id="{D317BF32-CDE6-73CD-0F53-37617142C902}"/>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E1C32AA8-0258-0F21-4C78-114C35EE86B4}"/>
              </a:ext>
            </a:extLst>
          </p:cNvPr>
          <p:cNvSpPr>
            <a:spLocks noGrp="1"/>
          </p:cNvSpPr>
          <p:nvPr>
            <p:ph type="sldNum" sz="quarter" idx="12"/>
          </p:nvPr>
        </p:nvSpPr>
        <p:spPr/>
        <p:txBody>
          <a:bodyPr/>
          <a:lstStyle/>
          <a:p>
            <a:fld id="{B077908D-9546-4E2D-9EB9-669DBDAAB7E9}" type="slidenum">
              <a:rPr lang="en-US" smtClean="0"/>
              <a:t>‹#›</a:t>
            </a:fld>
            <a:endParaRPr lang="en-US"/>
          </a:p>
        </p:txBody>
      </p:sp>
    </p:spTree>
    <p:extLst>
      <p:ext uri="{BB962C8B-B14F-4D97-AF65-F5344CB8AC3E}">
        <p14:creationId xmlns:p14="http://schemas.microsoft.com/office/powerpoint/2010/main" val="4013484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47D1EE-7B00-754B-4664-284FA4CD758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AAD978E7-4630-32CC-D03A-1EB422FE57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a:extLst>
              <a:ext uri="{FF2B5EF4-FFF2-40B4-BE49-F238E27FC236}">
                <a16:creationId xmlns:a16="http://schemas.microsoft.com/office/drawing/2014/main" id="{68E8F273-2F24-A617-3677-94DF34764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426A9C4-6D90-0C0F-0FAB-1173CB0B38F1}"/>
              </a:ext>
            </a:extLst>
          </p:cNvPr>
          <p:cNvSpPr>
            <a:spLocks noGrp="1"/>
          </p:cNvSpPr>
          <p:nvPr>
            <p:ph type="dt" sz="half" idx="10"/>
          </p:nvPr>
        </p:nvSpPr>
        <p:spPr/>
        <p:txBody>
          <a:bodyPr/>
          <a:lstStyle/>
          <a:p>
            <a:fld id="{35E7BC7F-EB91-4C2B-89FA-E87CFE950619}" type="datetimeFigureOut">
              <a:rPr lang="en-US" smtClean="0"/>
              <a:t>5/19/2026</a:t>
            </a:fld>
            <a:endParaRPr lang="en-US"/>
          </a:p>
        </p:txBody>
      </p:sp>
      <p:sp>
        <p:nvSpPr>
          <p:cNvPr id="6" name="页脚占位符 5">
            <a:extLst>
              <a:ext uri="{FF2B5EF4-FFF2-40B4-BE49-F238E27FC236}">
                <a16:creationId xmlns:a16="http://schemas.microsoft.com/office/drawing/2014/main" id="{D2CDC949-B1DD-F502-C33D-7BCB1C68E0B0}"/>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9DD6346D-657E-C29A-84A4-DC40C5BDD788}"/>
              </a:ext>
            </a:extLst>
          </p:cNvPr>
          <p:cNvSpPr>
            <a:spLocks noGrp="1"/>
          </p:cNvSpPr>
          <p:nvPr>
            <p:ph type="sldNum" sz="quarter" idx="12"/>
          </p:nvPr>
        </p:nvSpPr>
        <p:spPr/>
        <p:txBody>
          <a:bodyPr/>
          <a:lstStyle/>
          <a:p>
            <a:fld id="{B077908D-9546-4E2D-9EB9-669DBDAAB7E9}" type="slidenum">
              <a:rPr lang="en-US" smtClean="0"/>
              <a:t>‹#›</a:t>
            </a:fld>
            <a:endParaRPr lang="en-US"/>
          </a:p>
        </p:txBody>
      </p:sp>
    </p:spTree>
    <p:extLst>
      <p:ext uri="{BB962C8B-B14F-4D97-AF65-F5344CB8AC3E}">
        <p14:creationId xmlns:p14="http://schemas.microsoft.com/office/powerpoint/2010/main" val="3740937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0E6D66-159D-2638-E46D-6E651137255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85063947-34F9-A677-D49D-AD14BCD8D1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BD080561-DD53-DA03-87CB-29E4F25B8A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F700CB5-7984-2A69-307A-244C15BD0559}"/>
              </a:ext>
            </a:extLst>
          </p:cNvPr>
          <p:cNvSpPr>
            <a:spLocks noGrp="1"/>
          </p:cNvSpPr>
          <p:nvPr>
            <p:ph type="dt" sz="half" idx="10"/>
          </p:nvPr>
        </p:nvSpPr>
        <p:spPr/>
        <p:txBody>
          <a:bodyPr/>
          <a:lstStyle/>
          <a:p>
            <a:fld id="{35E7BC7F-EB91-4C2B-89FA-E87CFE950619}" type="datetimeFigureOut">
              <a:rPr lang="en-US" smtClean="0"/>
              <a:t>5/19/2026</a:t>
            </a:fld>
            <a:endParaRPr lang="en-US"/>
          </a:p>
        </p:txBody>
      </p:sp>
      <p:sp>
        <p:nvSpPr>
          <p:cNvPr id="6" name="页脚占位符 5">
            <a:extLst>
              <a:ext uri="{FF2B5EF4-FFF2-40B4-BE49-F238E27FC236}">
                <a16:creationId xmlns:a16="http://schemas.microsoft.com/office/drawing/2014/main" id="{6CC0C616-AB04-2627-0BBA-3B6A7709B24D}"/>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4301EC25-85FE-45C9-3E09-F5E91DF4C15C}"/>
              </a:ext>
            </a:extLst>
          </p:cNvPr>
          <p:cNvSpPr>
            <a:spLocks noGrp="1"/>
          </p:cNvSpPr>
          <p:nvPr>
            <p:ph type="sldNum" sz="quarter" idx="12"/>
          </p:nvPr>
        </p:nvSpPr>
        <p:spPr/>
        <p:txBody>
          <a:bodyPr/>
          <a:lstStyle/>
          <a:p>
            <a:fld id="{B077908D-9546-4E2D-9EB9-669DBDAAB7E9}" type="slidenum">
              <a:rPr lang="en-US" smtClean="0"/>
              <a:t>‹#›</a:t>
            </a:fld>
            <a:endParaRPr lang="en-US"/>
          </a:p>
        </p:txBody>
      </p:sp>
    </p:spTree>
    <p:extLst>
      <p:ext uri="{BB962C8B-B14F-4D97-AF65-F5344CB8AC3E}">
        <p14:creationId xmlns:p14="http://schemas.microsoft.com/office/powerpoint/2010/main" val="918185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0151C7-207C-FE1F-0A9C-364546A5FB62}"/>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A7E814C0-92AC-90D5-A06A-BDB31BE8744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752D86DE-92B0-0C3C-7D1E-7317B81FD8D5}"/>
              </a:ext>
            </a:extLst>
          </p:cNvPr>
          <p:cNvSpPr>
            <a:spLocks noGrp="1"/>
          </p:cNvSpPr>
          <p:nvPr>
            <p:ph type="dt" sz="half" idx="10"/>
          </p:nvPr>
        </p:nvSpPr>
        <p:spPr/>
        <p:txBody>
          <a:bodyPr/>
          <a:lstStyle/>
          <a:p>
            <a:fld id="{35E7BC7F-EB91-4C2B-89FA-E87CFE950619}" type="datetimeFigureOut">
              <a:rPr lang="en-US" smtClean="0"/>
              <a:t>5/19/2026</a:t>
            </a:fld>
            <a:endParaRPr lang="en-US"/>
          </a:p>
        </p:txBody>
      </p:sp>
      <p:sp>
        <p:nvSpPr>
          <p:cNvPr id="5" name="页脚占位符 4">
            <a:extLst>
              <a:ext uri="{FF2B5EF4-FFF2-40B4-BE49-F238E27FC236}">
                <a16:creationId xmlns:a16="http://schemas.microsoft.com/office/drawing/2014/main" id="{3F6D5900-9ACB-53B2-D779-FE7B05866F55}"/>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7DE3F085-AC1C-5AC1-7C8B-38EE9284C492}"/>
              </a:ext>
            </a:extLst>
          </p:cNvPr>
          <p:cNvSpPr>
            <a:spLocks noGrp="1"/>
          </p:cNvSpPr>
          <p:nvPr>
            <p:ph type="sldNum" sz="quarter" idx="12"/>
          </p:nvPr>
        </p:nvSpPr>
        <p:spPr/>
        <p:txBody>
          <a:bodyPr/>
          <a:lstStyle/>
          <a:p>
            <a:fld id="{B077908D-9546-4E2D-9EB9-669DBDAAB7E9}" type="slidenum">
              <a:rPr lang="en-US" smtClean="0"/>
              <a:t>‹#›</a:t>
            </a:fld>
            <a:endParaRPr lang="en-US"/>
          </a:p>
        </p:txBody>
      </p:sp>
    </p:spTree>
    <p:extLst>
      <p:ext uri="{BB962C8B-B14F-4D97-AF65-F5344CB8AC3E}">
        <p14:creationId xmlns:p14="http://schemas.microsoft.com/office/powerpoint/2010/main" val="4066076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F15C56E-0C89-60FE-E94B-21CA955D94D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1552E55B-978D-B2FE-B3E0-B3C068EB645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EE222334-D443-AC71-90B7-C08367093A8A}"/>
              </a:ext>
            </a:extLst>
          </p:cNvPr>
          <p:cNvSpPr>
            <a:spLocks noGrp="1"/>
          </p:cNvSpPr>
          <p:nvPr>
            <p:ph type="dt" sz="half" idx="10"/>
          </p:nvPr>
        </p:nvSpPr>
        <p:spPr/>
        <p:txBody>
          <a:bodyPr/>
          <a:lstStyle/>
          <a:p>
            <a:fld id="{35E7BC7F-EB91-4C2B-89FA-E87CFE950619}" type="datetimeFigureOut">
              <a:rPr lang="en-US" smtClean="0"/>
              <a:t>5/19/2026</a:t>
            </a:fld>
            <a:endParaRPr lang="en-US"/>
          </a:p>
        </p:txBody>
      </p:sp>
      <p:sp>
        <p:nvSpPr>
          <p:cNvPr id="5" name="页脚占位符 4">
            <a:extLst>
              <a:ext uri="{FF2B5EF4-FFF2-40B4-BE49-F238E27FC236}">
                <a16:creationId xmlns:a16="http://schemas.microsoft.com/office/drawing/2014/main" id="{798EF3B5-21F4-5443-9BFB-B93632696FB2}"/>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8B1FC68-F0B5-7111-CE30-ECF2704E0648}"/>
              </a:ext>
            </a:extLst>
          </p:cNvPr>
          <p:cNvSpPr>
            <a:spLocks noGrp="1"/>
          </p:cNvSpPr>
          <p:nvPr>
            <p:ph type="sldNum" sz="quarter" idx="12"/>
          </p:nvPr>
        </p:nvSpPr>
        <p:spPr/>
        <p:txBody>
          <a:bodyPr/>
          <a:lstStyle/>
          <a:p>
            <a:fld id="{B077908D-9546-4E2D-9EB9-669DBDAAB7E9}" type="slidenum">
              <a:rPr lang="en-US" smtClean="0"/>
              <a:t>‹#›</a:t>
            </a:fld>
            <a:endParaRPr lang="en-US"/>
          </a:p>
        </p:txBody>
      </p:sp>
    </p:spTree>
    <p:extLst>
      <p:ext uri="{BB962C8B-B14F-4D97-AF65-F5344CB8AC3E}">
        <p14:creationId xmlns:p14="http://schemas.microsoft.com/office/powerpoint/2010/main" val="180848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CDFE5C1-E728-6201-223C-F092C98ADD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125B76D0-5B56-5A13-743A-B569743B6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7792905F-8C32-62E2-6654-38B3D84D5E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E7BC7F-EB91-4C2B-89FA-E87CFE950619}" type="datetimeFigureOut">
              <a:rPr lang="en-US" smtClean="0"/>
              <a:t>5/19/2026</a:t>
            </a:fld>
            <a:endParaRPr lang="en-US"/>
          </a:p>
        </p:txBody>
      </p:sp>
      <p:sp>
        <p:nvSpPr>
          <p:cNvPr id="5" name="页脚占位符 4">
            <a:extLst>
              <a:ext uri="{FF2B5EF4-FFF2-40B4-BE49-F238E27FC236}">
                <a16:creationId xmlns:a16="http://schemas.microsoft.com/office/drawing/2014/main" id="{A5A15117-0713-00F0-EC9F-9C3DE6F459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灯片编号占位符 5">
            <a:extLst>
              <a:ext uri="{FF2B5EF4-FFF2-40B4-BE49-F238E27FC236}">
                <a16:creationId xmlns:a16="http://schemas.microsoft.com/office/drawing/2014/main" id="{B45CBDC7-D27E-769B-4A52-9167D763B9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77908D-9546-4E2D-9EB9-669DBDAAB7E9}" type="slidenum">
              <a:rPr lang="en-US" smtClean="0"/>
              <a:t>‹#›</a:t>
            </a:fld>
            <a:endParaRPr lang="en-US"/>
          </a:p>
        </p:txBody>
      </p:sp>
    </p:spTree>
    <p:extLst>
      <p:ext uri="{BB962C8B-B14F-4D97-AF65-F5344CB8AC3E}">
        <p14:creationId xmlns:p14="http://schemas.microsoft.com/office/powerpoint/2010/main" val="1414965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D12598-E8E4-E54B-AABA-79AED9A531FD}"/>
              </a:ext>
            </a:extLst>
          </p:cNvPr>
          <p:cNvSpPr>
            <a:spLocks noGrp="1"/>
          </p:cNvSpPr>
          <p:nvPr>
            <p:ph type="ctrTitle"/>
          </p:nvPr>
        </p:nvSpPr>
        <p:spPr>
          <a:xfrm>
            <a:off x="549310" y="1021880"/>
            <a:ext cx="11093380" cy="1801707"/>
          </a:xfrm>
        </p:spPr>
        <p:txBody>
          <a:bodyPr>
            <a:normAutofit/>
          </a:bodyPr>
          <a:lstStyle/>
          <a:p>
            <a:r>
              <a:rPr lang="en-US" sz="5400" dirty="0"/>
              <a:t>S</a:t>
            </a:r>
            <a:r>
              <a:rPr lang="en-US" altLang="zh-CN" sz="5400" dirty="0"/>
              <a:t>ageMaker </a:t>
            </a:r>
            <a:r>
              <a:rPr lang="en-US" altLang="zh-CN" sz="5400" dirty="0" err="1"/>
              <a:t>Hyperpod</a:t>
            </a:r>
            <a:r>
              <a:rPr lang="zh-CN" altLang="en-US" sz="5400" dirty="0"/>
              <a:t>训练相关</a:t>
            </a:r>
            <a:r>
              <a:rPr lang="en-US" altLang="zh-CN" sz="5400" dirty="0"/>
              <a:t>feature</a:t>
            </a:r>
            <a:endParaRPr lang="en-US" sz="5400" dirty="0"/>
          </a:p>
        </p:txBody>
      </p:sp>
      <p:sp>
        <p:nvSpPr>
          <p:cNvPr id="3" name="副标题 2">
            <a:extLst>
              <a:ext uri="{FF2B5EF4-FFF2-40B4-BE49-F238E27FC236}">
                <a16:creationId xmlns:a16="http://schemas.microsoft.com/office/drawing/2014/main" id="{E8B03D3F-6542-29EC-4E7D-1ED7DC4CD3F6}"/>
              </a:ext>
            </a:extLst>
          </p:cNvPr>
          <p:cNvSpPr>
            <a:spLocks noGrp="1"/>
          </p:cNvSpPr>
          <p:nvPr>
            <p:ph type="subTitle" idx="1"/>
          </p:nvPr>
        </p:nvSpPr>
        <p:spPr>
          <a:xfrm>
            <a:off x="1383323" y="3206533"/>
            <a:ext cx="9144000" cy="1655762"/>
          </a:xfrm>
        </p:spPr>
        <p:txBody>
          <a:bodyPr>
            <a:normAutofit/>
          </a:bodyPr>
          <a:lstStyle/>
          <a:p>
            <a:r>
              <a:rPr lang="zh-CN" altLang="en-US" sz="3200" dirty="0"/>
              <a:t>梁宇辉 </a:t>
            </a:r>
            <a:r>
              <a:rPr lang="en-US" altLang="zh-CN" sz="3200" dirty="0"/>
              <a:t>ML SSA</a:t>
            </a:r>
            <a:endParaRPr lang="en-US" sz="3200" dirty="0"/>
          </a:p>
        </p:txBody>
      </p:sp>
    </p:spTree>
    <p:extLst>
      <p:ext uri="{BB962C8B-B14F-4D97-AF65-F5344CB8AC3E}">
        <p14:creationId xmlns:p14="http://schemas.microsoft.com/office/powerpoint/2010/main" val="1408320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2A4647-CAF6-8130-1321-24C95686163D}"/>
              </a:ext>
            </a:extLst>
          </p:cNvPr>
          <p:cNvSpPr>
            <a:spLocks noGrp="1"/>
          </p:cNvSpPr>
          <p:nvPr>
            <p:ph type="title"/>
          </p:nvPr>
        </p:nvSpPr>
        <p:spPr>
          <a:xfrm>
            <a:off x="838200" y="365126"/>
            <a:ext cx="10515600" cy="954628"/>
          </a:xfrm>
        </p:spPr>
        <p:txBody>
          <a:bodyPr/>
          <a:lstStyle/>
          <a:p>
            <a:r>
              <a:rPr lang="en-US" dirty="0"/>
              <a:t>E</a:t>
            </a:r>
            <a:r>
              <a:rPr lang="en-US" altLang="zh-CN" dirty="0"/>
              <a:t>lastic training</a:t>
            </a:r>
            <a:endParaRPr lang="en-US" dirty="0"/>
          </a:p>
        </p:txBody>
      </p:sp>
      <p:sp>
        <p:nvSpPr>
          <p:cNvPr id="3" name="内容占位符 2">
            <a:extLst>
              <a:ext uri="{FF2B5EF4-FFF2-40B4-BE49-F238E27FC236}">
                <a16:creationId xmlns:a16="http://schemas.microsoft.com/office/drawing/2014/main" id="{C1ADB607-2E0A-4D1D-DC11-0138607BE1B7}"/>
              </a:ext>
            </a:extLst>
          </p:cNvPr>
          <p:cNvSpPr>
            <a:spLocks noGrp="1"/>
          </p:cNvSpPr>
          <p:nvPr>
            <p:ph idx="1"/>
          </p:nvPr>
        </p:nvSpPr>
        <p:spPr>
          <a:xfrm>
            <a:off x="838200" y="1517716"/>
            <a:ext cx="10515600" cy="5213023"/>
          </a:xfrm>
        </p:spPr>
        <p:txBody>
          <a:bodyPr>
            <a:normAutofit fontScale="92500" lnSpcReduction="10000"/>
          </a:bodyPr>
          <a:lstStyle/>
          <a:p>
            <a:r>
              <a:rPr lang="zh-CN" altLang="en-US" dirty="0"/>
              <a:t>基于</a:t>
            </a:r>
            <a:r>
              <a:rPr lang="en-US" altLang="zh-CN" dirty="0" err="1"/>
              <a:t>Hyperpod</a:t>
            </a:r>
            <a:r>
              <a:rPr lang="zh-CN" altLang="en-US" dirty="0"/>
              <a:t>的</a:t>
            </a:r>
            <a:r>
              <a:rPr lang="en-US" altLang="zh-CN" dirty="0"/>
              <a:t>training operator</a:t>
            </a:r>
            <a:r>
              <a:rPr lang="zh-CN" altLang="en-US" dirty="0"/>
              <a:t>：</a:t>
            </a:r>
            <a:endParaRPr lang="en-US" altLang="zh-CN" dirty="0"/>
          </a:p>
          <a:p>
            <a:pPr lvl="1"/>
            <a:r>
              <a:rPr lang="zh-CN" altLang="en-US" dirty="0"/>
              <a:t>该</a:t>
            </a:r>
            <a:r>
              <a:rPr lang="en-US" altLang="zh-CN" dirty="0"/>
              <a:t>EKS addon</a:t>
            </a:r>
            <a:r>
              <a:rPr lang="zh-CN" altLang="en-US" dirty="0"/>
              <a:t>组件通过智能故障恢复和进程级管理，帮助大规模 </a:t>
            </a:r>
            <a:r>
              <a:rPr lang="en-US" altLang="zh-CN" dirty="0"/>
              <a:t>GPU </a:t>
            </a:r>
            <a:r>
              <a:rPr lang="zh-CN" altLang="en-US" dirty="0"/>
              <a:t>集群高效运行分布式训练，减少中断恢复时间并降低成本。</a:t>
            </a:r>
            <a:endParaRPr lang="en-US" altLang="zh-CN" dirty="0"/>
          </a:p>
          <a:p>
            <a:r>
              <a:rPr lang="zh-CN" altLang="en-US" dirty="0"/>
              <a:t>集成了</a:t>
            </a:r>
            <a:r>
              <a:rPr lang="en-US" altLang="zh-CN" dirty="0" err="1"/>
              <a:t>Pytorch</a:t>
            </a:r>
            <a:r>
              <a:rPr lang="en-US" altLang="zh-CN" dirty="0"/>
              <a:t> Distributed Checkpoint(DCP)</a:t>
            </a:r>
          </a:p>
          <a:p>
            <a:pPr lvl="1"/>
            <a:r>
              <a:rPr lang="zh-CN" altLang="en-US" dirty="0"/>
              <a:t>分布式检查点（</a:t>
            </a:r>
            <a:r>
              <a:rPr lang="en-US" altLang="zh-CN" dirty="0"/>
              <a:t>DCP</a:t>
            </a:r>
            <a:r>
              <a:rPr lang="zh-CN" altLang="en-US" dirty="0"/>
              <a:t>）支持从多个 </a:t>
            </a:r>
            <a:r>
              <a:rPr lang="en-US" altLang="zh-CN" dirty="0"/>
              <a:t>rank </a:t>
            </a:r>
            <a:r>
              <a:rPr lang="zh-CN" altLang="en-US" dirty="0"/>
              <a:t>并行加载和保存模型，并能处理</a:t>
            </a:r>
            <a:r>
              <a:rPr lang="zh-CN" altLang="en-US" b="1" dirty="0"/>
              <a:t>加载时的重分片</a:t>
            </a:r>
            <a:r>
              <a:rPr lang="zh-CN" altLang="en-US" dirty="0"/>
              <a:t>操作，从而实现在一个集群拓扑中保存模型后在另一个不同的集群拓扑中加载。</a:t>
            </a:r>
            <a:endParaRPr lang="en-US" altLang="zh-CN" dirty="0"/>
          </a:p>
          <a:p>
            <a:pPr lvl="1"/>
            <a:r>
              <a:rPr lang="en-US" altLang="zh-CN" dirty="0"/>
              <a:t>DCP</a:t>
            </a:r>
            <a:r>
              <a:rPr lang="zh-CN" altLang="en-US" dirty="0"/>
              <a:t>即支持同步保存</a:t>
            </a:r>
            <a:r>
              <a:rPr lang="en-US" altLang="zh-CN" dirty="0"/>
              <a:t>checkpoint</a:t>
            </a:r>
            <a:r>
              <a:rPr lang="zh-CN" altLang="en-US" dirty="0"/>
              <a:t>也支持异步保存</a:t>
            </a:r>
            <a:r>
              <a:rPr lang="en-US" altLang="zh-CN" dirty="0"/>
              <a:t>checkpoint</a:t>
            </a:r>
            <a:r>
              <a:rPr lang="zh-CN" altLang="en-US" dirty="0"/>
              <a:t>。</a:t>
            </a:r>
            <a:endParaRPr lang="en-US" altLang="zh-CN" dirty="0"/>
          </a:p>
          <a:p>
            <a:r>
              <a:rPr lang="zh-CN" altLang="en-US" dirty="0"/>
              <a:t>支持</a:t>
            </a:r>
            <a:r>
              <a:rPr lang="en-US" dirty="0" err="1"/>
              <a:t>PyTorch</a:t>
            </a:r>
            <a:r>
              <a:rPr lang="en-US" dirty="0"/>
              <a:t> with Distributed Data Parallel(DDP) and Fully Sharded Data Parallel(FSDP)</a:t>
            </a:r>
            <a:r>
              <a:rPr lang="zh-CN" altLang="en-US" dirty="0"/>
              <a:t>训练方式。</a:t>
            </a:r>
            <a:endParaRPr lang="en-US" altLang="zh-CN" dirty="0"/>
          </a:p>
          <a:p>
            <a:r>
              <a:rPr lang="zh-CN" altLang="en-US" dirty="0"/>
              <a:t>实现了一个定制的</a:t>
            </a:r>
            <a:r>
              <a:rPr lang="en-US" altLang="zh-CN" dirty="0" err="1"/>
              <a:t>torchrun</a:t>
            </a:r>
            <a:r>
              <a:rPr lang="zh-CN" altLang="en-US" dirty="0"/>
              <a:t>的</a:t>
            </a:r>
            <a:r>
              <a:rPr lang="en-US" altLang="zh-CN" dirty="0"/>
              <a:t> </a:t>
            </a:r>
            <a:r>
              <a:rPr lang="en-US" dirty="0"/>
              <a:t>rendezvous</a:t>
            </a:r>
            <a:r>
              <a:rPr lang="zh-CN" altLang="en-US" dirty="0"/>
              <a:t>后端名为“</a:t>
            </a:r>
            <a:r>
              <a:rPr lang="en-US" dirty="0" err="1"/>
              <a:t>hyperpod</a:t>
            </a:r>
            <a:r>
              <a:rPr lang="zh-CN" altLang="en-US" dirty="0"/>
              <a:t>”。</a:t>
            </a:r>
            <a:endParaRPr lang="en-US" altLang="zh-CN" dirty="0"/>
          </a:p>
          <a:p>
            <a:pPr lvl="1"/>
            <a:r>
              <a:rPr lang="en-US" dirty="0"/>
              <a:t>Rendezvous</a:t>
            </a:r>
            <a:r>
              <a:rPr lang="zh-CN" altLang="en-US" dirty="0"/>
              <a:t>：一个结合了 </a:t>
            </a:r>
            <a:r>
              <a:rPr lang="en-US" dirty="0"/>
              <a:t>peer discovery </a:t>
            </a:r>
            <a:r>
              <a:rPr lang="zh-CN" altLang="en-US" dirty="0"/>
              <a:t>的分布式同步（</a:t>
            </a:r>
            <a:r>
              <a:rPr lang="en-US" dirty="0"/>
              <a:t>distributed synchronization）</a:t>
            </a:r>
            <a:r>
              <a:rPr lang="zh-CN" altLang="en-US" dirty="0"/>
              <a:t>原语。</a:t>
            </a:r>
            <a:endParaRPr lang="en-US" altLang="zh-CN" dirty="0"/>
          </a:p>
          <a:p>
            <a:pPr lvl="1"/>
            <a:r>
              <a:rPr lang="en-US" altLang="zh-CN" dirty="0"/>
              <a:t>Torch built-in</a:t>
            </a:r>
            <a:r>
              <a:rPr lang="zh-CN" altLang="en-US" dirty="0"/>
              <a:t>的</a:t>
            </a:r>
            <a:r>
              <a:rPr lang="en-US" dirty="0" err="1"/>
              <a:t>rdzv_backend</a:t>
            </a:r>
            <a:r>
              <a:rPr lang="zh-CN" altLang="en-US" dirty="0"/>
              <a:t>有</a:t>
            </a:r>
            <a:r>
              <a:rPr lang="en-US" altLang="zh-CN" dirty="0"/>
              <a:t>C10d</a:t>
            </a:r>
            <a:r>
              <a:rPr lang="zh-CN" altLang="en-US" dirty="0"/>
              <a:t>和</a:t>
            </a:r>
            <a:r>
              <a:rPr lang="en-US" altLang="zh-CN" dirty="0" err="1"/>
              <a:t>etcd</a:t>
            </a:r>
            <a:r>
              <a:rPr lang="zh-CN" altLang="en-US" dirty="0"/>
              <a:t>。</a:t>
            </a:r>
            <a:endParaRPr lang="en-US" dirty="0"/>
          </a:p>
        </p:txBody>
      </p:sp>
    </p:spTree>
    <p:extLst>
      <p:ext uri="{BB962C8B-B14F-4D97-AF65-F5344CB8AC3E}">
        <p14:creationId xmlns:p14="http://schemas.microsoft.com/office/powerpoint/2010/main" val="241824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382F91-252B-3FA0-86C7-C1C812137E2F}"/>
              </a:ext>
            </a:extLst>
          </p:cNvPr>
          <p:cNvSpPr>
            <a:spLocks noGrp="1"/>
          </p:cNvSpPr>
          <p:nvPr>
            <p:ph type="title"/>
          </p:nvPr>
        </p:nvSpPr>
        <p:spPr>
          <a:xfrm>
            <a:off x="838200" y="365125"/>
            <a:ext cx="10515600" cy="835025"/>
          </a:xfrm>
        </p:spPr>
        <p:txBody>
          <a:bodyPr/>
          <a:lstStyle/>
          <a:p>
            <a:r>
              <a:rPr lang="en-US" dirty="0"/>
              <a:t>C</a:t>
            </a:r>
            <a:r>
              <a:rPr lang="en-US" altLang="zh-CN" dirty="0"/>
              <a:t>ontinue…..</a:t>
            </a:r>
            <a:endParaRPr lang="en-US" dirty="0"/>
          </a:p>
        </p:txBody>
      </p:sp>
      <p:sp>
        <p:nvSpPr>
          <p:cNvPr id="3" name="内容占位符 2">
            <a:extLst>
              <a:ext uri="{FF2B5EF4-FFF2-40B4-BE49-F238E27FC236}">
                <a16:creationId xmlns:a16="http://schemas.microsoft.com/office/drawing/2014/main" id="{87F1CA99-88F6-6B77-B165-478711AFD8A1}"/>
              </a:ext>
            </a:extLst>
          </p:cNvPr>
          <p:cNvSpPr>
            <a:spLocks noGrp="1"/>
          </p:cNvSpPr>
          <p:nvPr>
            <p:ph idx="1"/>
          </p:nvPr>
        </p:nvSpPr>
        <p:spPr>
          <a:xfrm>
            <a:off x="838200" y="1276350"/>
            <a:ext cx="10515600" cy="4900613"/>
          </a:xfrm>
        </p:spPr>
        <p:txBody>
          <a:bodyPr/>
          <a:lstStyle/>
          <a:p>
            <a:r>
              <a:rPr lang="zh-CN" altLang="en-US" b="1" dirty="0"/>
              <a:t>优点</a:t>
            </a:r>
            <a:r>
              <a:rPr lang="zh-CN" altLang="en-US" dirty="0"/>
              <a:t>：</a:t>
            </a:r>
            <a:r>
              <a:rPr lang="zh-CN" altLang="en-US" b="1" dirty="0"/>
              <a:t>提供了更好的集群使用率，最小化集群的</a:t>
            </a:r>
            <a:r>
              <a:rPr lang="en-US" altLang="zh-CN" b="1" dirty="0"/>
              <a:t>idle</a:t>
            </a:r>
            <a:r>
              <a:rPr lang="zh-CN" altLang="en-US" b="1" dirty="0"/>
              <a:t>时间</a:t>
            </a:r>
            <a:r>
              <a:rPr lang="zh-CN" altLang="en-US" dirty="0"/>
              <a:t>。</a:t>
            </a:r>
            <a:endParaRPr lang="en-US" dirty="0"/>
          </a:p>
          <a:p>
            <a:pPr lvl="1"/>
            <a:r>
              <a:rPr lang="zh-CN" altLang="en-US" dirty="0"/>
              <a:t>通过</a:t>
            </a:r>
            <a:r>
              <a:rPr lang="en-US" altLang="zh-CN" dirty="0"/>
              <a:t>elastic Policy</a:t>
            </a:r>
            <a:r>
              <a:rPr lang="zh-CN" altLang="en-US" dirty="0"/>
              <a:t>可以设定最大数量和最小数量的节点资源，以及</a:t>
            </a:r>
            <a:r>
              <a:rPr lang="en-US" altLang="zh-CN" dirty="0"/>
              <a:t>scaling</a:t>
            </a:r>
            <a:r>
              <a:rPr lang="zh-CN" altLang="en-US" dirty="0"/>
              <a:t>资源时的粒度。初始化的节点的数量可以手动设定。</a:t>
            </a:r>
            <a:endParaRPr lang="en-US" altLang="zh-CN" dirty="0"/>
          </a:p>
          <a:p>
            <a:pPr lvl="1"/>
            <a:r>
              <a:rPr lang="en-US" altLang="zh-CN" dirty="0"/>
              <a:t>Elastic training</a:t>
            </a:r>
            <a:r>
              <a:rPr lang="zh-CN" altLang="en-US" dirty="0"/>
              <a:t> </a:t>
            </a:r>
            <a:r>
              <a:rPr lang="en-US" altLang="zh-CN" dirty="0"/>
              <a:t>job</a:t>
            </a:r>
            <a:r>
              <a:rPr lang="zh-CN" altLang="en-US" dirty="0"/>
              <a:t>可以通过借助</a:t>
            </a:r>
            <a:r>
              <a:rPr lang="en-US" altLang="zh-CN" dirty="0" err="1"/>
              <a:t>kueue</a:t>
            </a:r>
            <a:r>
              <a:rPr lang="zh-CN" altLang="en-US" dirty="0"/>
              <a:t>的优先级队列来设定任务抢占。为了防止低优先级任务的饥饿，可以配置两个</a:t>
            </a:r>
            <a:r>
              <a:rPr lang="en-US" altLang="zh-CN" dirty="0" err="1"/>
              <a:t>replicaspec</a:t>
            </a:r>
            <a:r>
              <a:rPr lang="zh-CN" altLang="en-US" dirty="0"/>
              <a:t>来缓解。</a:t>
            </a:r>
            <a:endParaRPr lang="en-US" altLang="zh-CN" dirty="0"/>
          </a:p>
          <a:p>
            <a:pPr lvl="3"/>
            <a:r>
              <a:rPr lang="zh-CN" altLang="en-US" dirty="0"/>
              <a:t>一个是</a:t>
            </a:r>
            <a:r>
              <a:rPr lang="en-US" altLang="zh-CN" dirty="0"/>
              <a:t>normal</a:t>
            </a:r>
            <a:r>
              <a:rPr lang="zh-CN" altLang="en-US" dirty="0"/>
              <a:t>或者</a:t>
            </a:r>
            <a:r>
              <a:rPr lang="en-US" altLang="zh-CN" dirty="0"/>
              <a:t>high priority</a:t>
            </a:r>
            <a:r>
              <a:rPr lang="zh-CN" altLang="en-US" dirty="0"/>
              <a:t>，且需要资源小的</a:t>
            </a:r>
            <a:r>
              <a:rPr lang="en-US" altLang="zh-CN" dirty="0"/>
              <a:t>spec</a:t>
            </a:r>
          </a:p>
          <a:p>
            <a:pPr lvl="3"/>
            <a:r>
              <a:rPr lang="zh-CN" altLang="en-US" dirty="0"/>
              <a:t>一个是</a:t>
            </a:r>
            <a:r>
              <a:rPr lang="en-US" altLang="zh-CN" dirty="0"/>
              <a:t>low priority</a:t>
            </a:r>
            <a:r>
              <a:rPr lang="zh-CN" altLang="en-US" dirty="0"/>
              <a:t>的，但是拥有最大节点数的</a:t>
            </a:r>
            <a:r>
              <a:rPr lang="en-US" altLang="zh-CN" dirty="0"/>
              <a:t>spec</a:t>
            </a:r>
          </a:p>
        </p:txBody>
      </p:sp>
      <p:pic>
        <p:nvPicPr>
          <p:cNvPr id="7" name="图片 6">
            <a:extLst>
              <a:ext uri="{FF2B5EF4-FFF2-40B4-BE49-F238E27FC236}">
                <a16:creationId xmlns:a16="http://schemas.microsoft.com/office/drawing/2014/main" id="{6210C6ED-385C-2A73-BB27-4E45B4CBFCC1}"/>
              </a:ext>
            </a:extLst>
          </p:cNvPr>
          <p:cNvPicPr>
            <a:picLocks noChangeAspect="1"/>
          </p:cNvPicPr>
          <p:nvPr/>
        </p:nvPicPr>
        <p:blipFill>
          <a:blip r:embed="rId3"/>
          <a:stretch>
            <a:fillRect/>
          </a:stretch>
        </p:blipFill>
        <p:spPr>
          <a:xfrm>
            <a:off x="7967004" y="3298496"/>
            <a:ext cx="3676941" cy="3194379"/>
          </a:xfrm>
          <a:prstGeom prst="rect">
            <a:avLst/>
          </a:prstGeom>
        </p:spPr>
      </p:pic>
    </p:spTree>
    <p:extLst>
      <p:ext uri="{BB962C8B-B14F-4D97-AF65-F5344CB8AC3E}">
        <p14:creationId xmlns:p14="http://schemas.microsoft.com/office/powerpoint/2010/main" val="1433121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7EEE08-E7ED-25CF-F000-9D62F6CE6EB0}"/>
              </a:ext>
            </a:extLst>
          </p:cNvPr>
          <p:cNvSpPr>
            <a:spLocks noGrp="1"/>
          </p:cNvSpPr>
          <p:nvPr>
            <p:ph type="title"/>
          </p:nvPr>
        </p:nvSpPr>
        <p:spPr/>
        <p:txBody>
          <a:bodyPr/>
          <a:lstStyle/>
          <a:p>
            <a:r>
              <a:rPr lang="en-US" dirty="0"/>
              <a:t>C</a:t>
            </a:r>
            <a:r>
              <a:rPr lang="en-US" altLang="zh-CN" dirty="0"/>
              <a:t>ontinue…..</a:t>
            </a:r>
            <a:endParaRPr lang="en-US" dirty="0"/>
          </a:p>
        </p:txBody>
      </p:sp>
      <p:sp>
        <p:nvSpPr>
          <p:cNvPr id="3" name="内容占位符 2">
            <a:extLst>
              <a:ext uri="{FF2B5EF4-FFF2-40B4-BE49-F238E27FC236}">
                <a16:creationId xmlns:a16="http://schemas.microsoft.com/office/drawing/2014/main" id="{3A568BAF-07A7-9AF4-2E65-038327D41D86}"/>
              </a:ext>
            </a:extLst>
          </p:cNvPr>
          <p:cNvSpPr>
            <a:spLocks noGrp="1"/>
          </p:cNvSpPr>
          <p:nvPr>
            <p:ph idx="1"/>
          </p:nvPr>
        </p:nvSpPr>
        <p:spPr>
          <a:xfrm>
            <a:off x="838200" y="1690688"/>
            <a:ext cx="10515600" cy="4486275"/>
          </a:xfrm>
        </p:spPr>
        <p:txBody>
          <a:bodyPr/>
          <a:lstStyle/>
          <a:p>
            <a:r>
              <a:rPr lang="en-US" altLang="zh-CN" dirty="0"/>
              <a:t>Tips</a:t>
            </a:r>
            <a:r>
              <a:rPr lang="zh-CN" altLang="en-US" dirty="0"/>
              <a:t>：</a:t>
            </a:r>
            <a:endParaRPr lang="en-US" altLang="zh-CN" dirty="0"/>
          </a:p>
          <a:p>
            <a:pPr lvl="1"/>
            <a:r>
              <a:rPr lang="zh-CN" altLang="en-US" dirty="0"/>
              <a:t>当探测到节点</a:t>
            </a:r>
            <a:r>
              <a:rPr lang="en-US" altLang="zh-CN" dirty="0"/>
              <a:t>scaling</a:t>
            </a:r>
            <a:r>
              <a:rPr lang="zh-CN" altLang="en-US" dirty="0"/>
              <a:t>变化后，你的训练脚本中需要保存</a:t>
            </a:r>
            <a:r>
              <a:rPr lang="en-US" altLang="zh-CN" dirty="0"/>
              <a:t>checkpoint</a:t>
            </a:r>
            <a:r>
              <a:rPr lang="zh-CN" altLang="en-US" dirty="0"/>
              <a:t>并退出：</a:t>
            </a:r>
            <a:endParaRPr lang="en-US" altLang="zh-CN" dirty="0"/>
          </a:p>
          <a:p>
            <a:endParaRPr lang="en-US" dirty="0"/>
          </a:p>
        </p:txBody>
      </p:sp>
      <p:pic>
        <p:nvPicPr>
          <p:cNvPr id="5" name="图片 4">
            <a:extLst>
              <a:ext uri="{FF2B5EF4-FFF2-40B4-BE49-F238E27FC236}">
                <a16:creationId xmlns:a16="http://schemas.microsoft.com/office/drawing/2014/main" id="{AFB1BDF4-6A31-0D01-EA37-555A3EA49450}"/>
              </a:ext>
            </a:extLst>
          </p:cNvPr>
          <p:cNvPicPr>
            <a:picLocks noChangeAspect="1"/>
          </p:cNvPicPr>
          <p:nvPr/>
        </p:nvPicPr>
        <p:blipFill>
          <a:blip r:embed="rId2"/>
          <a:stretch>
            <a:fillRect/>
          </a:stretch>
        </p:blipFill>
        <p:spPr>
          <a:xfrm>
            <a:off x="2270926" y="2639624"/>
            <a:ext cx="8510955" cy="3853251"/>
          </a:xfrm>
          <a:prstGeom prst="rect">
            <a:avLst/>
          </a:prstGeom>
        </p:spPr>
      </p:pic>
    </p:spTree>
    <p:extLst>
      <p:ext uri="{BB962C8B-B14F-4D97-AF65-F5344CB8AC3E}">
        <p14:creationId xmlns:p14="http://schemas.microsoft.com/office/powerpoint/2010/main" val="4165117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EC78E7-D1FB-EB77-EE29-A716E4437A3E}"/>
              </a:ext>
            </a:extLst>
          </p:cNvPr>
          <p:cNvSpPr>
            <a:spLocks noGrp="1"/>
          </p:cNvSpPr>
          <p:nvPr>
            <p:ph type="title"/>
          </p:nvPr>
        </p:nvSpPr>
        <p:spPr>
          <a:xfrm>
            <a:off x="838200" y="365125"/>
            <a:ext cx="10515600" cy="942565"/>
          </a:xfrm>
        </p:spPr>
        <p:txBody>
          <a:bodyPr/>
          <a:lstStyle/>
          <a:p>
            <a:r>
              <a:rPr lang="en-US" dirty="0"/>
              <a:t>C</a:t>
            </a:r>
            <a:r>
              <a:rPr lang="en-US" altLang="zh-CN" dirty="0"/>
              <a:t>ontinue…..</a:t>
            </a:r>
            <a:endParaRPr lang="en-US" dirty="0"/>
          </a:p>
        </p:txBody>
      </p:sp>
      <p:sp>
        <p:nvSpPr>
          <p:cNvPr id="3" name="内容占位符 2">
            <a:extLst>
              <a:ext uri="{FF2B5EF4-FFF2-40B4-BE49-F238E27FC236}">
                <a16:creationId xmlns:a16="http://schemas.microsoft.com/office/drawing/2014/main" id="{06A67D32-A475-48CD-B1F0-45EE78080989}"/>
              </a:ext>
            </a:extLst>
          </p:cNvPr>
          <p:cNvSpPr>
            <a:spLocks noGrp="1"/>
          </p:cNvSpPr>
          <p:nvPr>
            <p:ph idx="1"/>
          </p:nvPr>
        </p:nvSpPr>
        <p:spPr>
          <a:xfrm>
            <a:off x="838200" y="1307690"/>
            <a:ext cx="10515600" cy="5550310"/>
          </a:xfrm>
        </p:spPr>
        <p:txBody>
          <a:bodyPr/>
          <a:lstStyle/>
          <a:p>
            <a:pPr lvl="1"/>
            <a:r>
              <a:rPr lang="zh-CN" altLang="en-US" dirty="0"/>
              <a:t>节点变化以后，如何更好的自适应</a:t>
            </a:r>
            <a:r>
              <a:rPr lang="en-US" altLang="zh-CN" dirty="0"/>
              <a:t>GPU ranker</a:t>
            </a:r>
            <a:r>
              <a:rPr lang="zh-CN" altLang="en-US" dirty="0"/>
              <a:t>的变化：</a:t>
            </a:r>
            <a:endParaRPr lang="en-US" altLang="zh-CN" dirty="0"/>
          </a:p>
          <a:p>
            <a:pPr lvl="2"/>
            <a:r>
              <a:rPr lang="zh-CN" altLang="en-US" dirty="0"/>
              <a:t>手动通过在训练脚本中根据新的</a:t>
            </a:r>
            <a:r>
              <a:rPr lang="en-US" altLang="zh-CN" dirty="0"/>
              <a:t>world size</a:t>
            </a:r>
            <a:r>
              <a:rPr lang="zh-CN" altLang="en-US" dirty="0"/>
              <a:t>以及设定的</a:t>
            </a:r>
            <a:r>
              <a:rPr lang="en-US" altLang="zh-CN" dirty="0"/>
              <a:t>global batch size</a:t>
            </a:r>
            <a:r>
              <a:rPr lang="zh-CN" altLang="en-US" dirty="0"/>
              <a:t>（该参数可能是固定的）来动态计算相关的超参数以及并行度设定。</a:t>
            </a:r>
            <a:endParaRPr lang="en-US" altLang="zh-CN" dirty="0"/>
          </a:p>
          <a:p>
            <a:pPr lvl="2"/>
            <a:r>
              <a:rPr lang="en-US" dirty="0"/>
              <a:t>SMHP </a:t>
            </a:r>
            <a:r>
              <a:rPr lang="zh-CN" altLang="en-US" dirty="0"/>
              <a:t>的</a:t>
            </a:r>
            <a:r>
              <a:rPr lang="en-US" dirty="0"/>
              <a:t>recipes</a:t>
            </a:r>
            <a:r>
              <a:rPr lang="zh-CN" altLang="en-US" dirty="0"/>
              <a:t>直接适应超参数调整以及并行策略的调整。</a:t>
            </a:r>
            <a:endParaRPr lang="en-US" altLang="zh-CN" dirty="0"/>
          </a:p>
          <a:p>
            <a:pPr lvl="2"/>
            <a:r>
              <a:rPr lang="en-US" altLang="zh-CN" dirty="0"/>
              <a:t>SMHP </a:t>
            </a:r>
            <a:r>
              <a:rPr lang="zh-CN" altLang="en-US" dirty="0"/>
              <a:t>的</a:t>
            </a:r>
            <a:r>
              <a:rPr lang="en-US" altLang="zh-CN" dirty="0"/>
              <a:t>recipes</a:t>
            </a:r>
            <a:r>
              <a:rPr lang="zh-CN" altLang="en-US" dirty="0"/>
              <a:t>可以通过在</a:t>
            </a:r>
            <a:r>
              <a:rPr lang="en-US" altLang="zh-CN" dirty="0" err="1"/>
              <a:t>yaml</a:t>
            </a:r>
            <a:r>
              <a:rPr lang="zh-CN" altLang="en-US" dirty="0"/>
              <a:t>文件中配置</a:t>
            </a:r>
            <a:r>
              <a:rPr lang="en-US" altLang="zh-CN" dirty="0" err="1"/>
              <a:t>scale_config</a:t>
            </a:r>
            <a:r>
              <a:rPr lang="zh-CN" altLang="en-US" dirty="0"/>
              <a:t>来调整：</a:t>
            </a:r>
            <a:endParaRPr lang="en-US" altLang="zh-CN" dirty="0"/>
          </a:p>
          <a:p>
            <a:pPr lvl="2"/>
            <a:endParaRPr lang="en-US" altLang="zh-CN" dirty="0"/>
          </a:p>
          <a:p>
            <a:pPr lvl="1"/>
            <a:endParaRPr lang="en-US" dirty="0"/>
          </a:p>
          <a:p>
            <a:pPr lvl="1"/>
            <a:endParaRPr lang="en-US" dirty="0"/>
          </a:p>
        </p:txBody>
      </p:sp>
      <p:pic>
        <p:nvPicPr>
          <p:cNvPr id="5" name="图片 4">
            <a:extLst>
              <a:ext uri="{FF2B5EF4-FFF2-40B4-BE49-F238E27FC236}">
                <a16:creationId xmlns:a16="http://schemas.microsoft.com/office/drawing/2014/main" id="{26306783-A3B0-FE14-1770-63731241086E}"/>
              </a:ext>
            </a:extLst>
          </p:cNvPr>
          <p:cNvPicPr>
            <a:picLocks noChangeAspect="1"/>
          </p:cNvPicPr>
          <p:nvPr/>
        </p:nvPicPr>
        <p:blipFill>
          <a:blip r:embed="rId3"/>
          <a:stretch>
            <a:fillRect/>
          </a:stretch>
        </p:blipFill>
        <p:spPr>
          <a:xfrm>
            <a:off x="1969477" y="3074797"/>
            <a:ext cx="7807569" cy="3630804"/>
          </a:xfrm>
          <a:prstGeom prst="rect">
            <a:avLst/>
          </a:prstGeom>
        </p:spPr>
      </p:pic>
    </p:spTree>
    <p:extLst>
      <p:ext uri="{BB962C8B-B14F-4D97-AF65-F5344CB8AC3E}">
        <p14:creationId xmlns:p14="http://schemas.microsoft.com/office/powerpoint/2010/main" val="4173286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6FFE23-5DAA-1C6A-C55A-3EB32B3F8CBB}"/>
              </a:ext>
            </a:extLst>
          </p:cNvPr>
          <p:cNvSpPr>
            <a:spLocks noGrp="1"/>
          </p:cNvSpPr>
          <p:nvPr>
            <p:ph type="title"/>
          </p:nvPr>
        </p:nvSpPr>
        <p:spPr>
          <a:xfrm>
            <a:off x="838200" y="365126"/>
            <a:ext cx="10515600" cy="1031596"/>
          </a:xfrm>
        </p:spPr>
        <p:txBody>
          <a:bodyPr/>
          <a:lstStyle/>
          <a:p>
            <a:r>
              <a:rPr lang="en-US" dirty="0" err="1"/>
              <a:t>C</a:t>
            </a:r>
            <a:r>
              <a:rPr lang="en-US" altLang="zh-CN" dirty="0" err="1"/>
              <a:t>heckpointless</a:t>
            </a:r>
            <a:r>
              <a:rPr lang="en-US" altLang="zh-CN" dirty="0"/>
              <a:t> training</a:t>
            </a:r>
            <a:endParaRPr lang="en-US" dirty="0"/>
          </a:p>
        </p:txBody>
      </p:sp>
      <p:sp>
        <p:nvSpPr>
          <p:cNvPr id="3" name="内容占位符 2">
            <a:extLst>
              <a:ext uri="{FF2B5EF4-FFF2-40B4-BE49-F238E27FC236}">
                <a16:creationId xmlns:a16="http://schemas.microsoft.com/office/drawing/2014/main" id="{B47B2F9F-137C-28DD-7B35-24D5D5B9CA21}"/>
              </a:ext>
            </a:extLst>
          </p:cNvPr>
          <p:cNvSpPr>
            <a:spLocks noGrp="1"/>
          </p:cNvSpPr>
          <p:nvPr>
            <p:ph idx="1"/>
          </p:nvPr>
        </p:nvSpPr>
        <p:spPr>
          <a:xfrm>
            <a:off x="838200" y="1657978"/>
            <a:ext cx="10515600" cy="4973934"/>
          </a:xfrm>
        </p:spPr>
        <p:txBody>
          <a:bodyPr>
            <a:normAutofit fontScale="92500" lnSpcReduction="10000"/>
          </a:bodyPr>
          <a:lstStyle/>
          <a:p>
            <a:r>
              <a:rPr lang="zh-CN" altLang="en-US" b="1" dirty="0">
                <a:effectLst/>
              </a:rPr>
              <a:t>限制</a:t>
            </a:r>
            <a:r>
              <a:rPr lang="zh-CN" altLang="en-US" dirty="0">
                <a:effectLst/>
              </a:rPr>
              <a:t>：</a:t>
            </a:r>
            <a:endParaRPr lang="en-US" altLang="zh-CN" dirty="0">
              <a:effectLst/>
            </a:endParaRPr>
          </a:p>
          <a:p>
            <a:pPr lvl="1"/>
            <a:r>
              <a:rPr lang="zh-CN" altLang="en-US" b="1" dirty="0">
                <a:effectLst/>
              </a:rPr>
              <a:t>当前</a:t>
            </a:r>
            <a:r>
              <a:rPr lang="en-US" altLang="zh-CN" b="1" dirty="0" err="1">
                <a:effectLst/>
              </a:rPr>
              <a:t>Checkpointless</a:t>
            </a:r>
            <a:r>
              <a:rPr lang="en-US" altLang="zh-CN" b="1" dirty="0">
                <a:effectLst/>
              </a:rPr>
              <a:t> training</a:t>
            </a:r>
            <a:r>
              <a:rPr lang="zh-CN" altLang="en-US" b="1" dirty="0">
                <a:effectLst/>
              </a:rPr>
              <a:t>和</a:t>
            </a:r>
            <a:r>
              <a:rPr lang="en-US" altLang="zh-CN" b="1" dirty="0">
                <a:effectLst/>
              </a:rPr>
              <a:t>SMHP Elastic training</a:t>
            </a:r>
            <a:r>
              <a:rPr lang="zh-CN" altLang="en-US" b="1" dirty="0">
                <a:effectLst/>
              </a:rPr>
              <a:t>，</a:t>
            </a:r>
            <a:r>
              <a:rPr lang="zh-CN" altLang="en-US" b="1" dirty="0"/>
              <a:t>以及</a:t>
            </a:r>
            <a:r>
              <a:rPr lang="en-US" altLang="zh-CN" b="1" dirty="0"/>
              <a:t>managed tier checkpoint</a:t>
            </a:r>
            <a:r>
              <a:rPr lang="zh-CN" altLang="en-US" b="1" dirty="0"/>
              <a:t>是不能一起使用的</a:t>
            </a:r>
            <a:r>
              <a:rPr lang="zh-CN" altLang="en-US" dirty="0"/>
              <a:t>。</a:t>
            </a:r>
            <a:endParaRPr lang="en-US" altLang="zh-CN" dirty="0"/>
          </a:p>
          <a:p>
            <a:pPr lvl="1"/>
            <a:r>
              <a:rPr lang="zh-CN" altLang="en-US" dirty="0">
                <a:effectLst/>
              </a:rPr>
              <a:t>该</a:t>
            </a:r>
            <a:r>
              <a:rPr lang="en-US" altLang="zh-CN" dirty="0">
                <a:effectLst/>
              </a:rPr>
              <a:t>feature</a:t>
            </a:r>
            <a:r>
              <a:rPr lang="zh-CN" altLang="en-US" dirty="0">
                <a:effectLst/>
              </a:rPr>
              <a:t>当前是基于</a:t>
            </a:r>
            <a:r>
              <a:rPr lang="en-US" altLang="zh-CN" dirty="0">
                <a:effectLst/>
              </a:rPr>
              <a:t>Nvidia Nemo</a:t>
            </a:r>
            <a:r>
              <a:rPr lang="zh-CN" altLang="en-US" dirty="0">
                <a:effectLst/>
              </a:rPr>
              <a:t>框架的。</a:t>
            </a:r>
            <a:endParaRPr lang="en-US" altLang="zh-CN" dirty="0">
              <a:effectLst/>
            </a:endParaRPr>
          </a:p>
          <a:p>
            <a:pPr lvl="1"/>
            <a:r>
              <a:rPr lang="zh-CN" altLang="en-US" dirty="0">
                <a:effectLst/>
              </a:rPr>
              <a:t>该</a:t>
            </a:r>
            <a:r>
              <a:rPr lang="en-US" altLang="zh-CN" dirty="0">
                <a:effectLst/>
              </a:rPr>
              <a:t>feature</a:t>
            </a:r>
            <a:r>
              <a:rPr lang="zh-CN" altLang="en-US" dirty="0">
                <a:effectLst/>
              </a:rPr>
              <a:t>依赖于</a:t>
            </a:r>
            <a:r>
              <a:rPr lang="en-US" altLang="zh-CN" dirty="0">
                <a:effectLst/>
              </a:rPr>
              <a:t>SMHP training operator</a:t>
            </a:r>
            <a:r>
              <a:rPr lang="zh-CN" altLang="en-US" dirty="0">
                <a:effectLst/>
              </a:rPr>
              <a:t>。</a:t>
            </a:r>
            <a:endParaRPr lang="en-US" dirty="0">
              <a:effectLst/>
            </a:endParaRPr>
          </a:p>
          <a:p>
            <a:r>
              <a:rPr lang="en-US" b="1" dirty="0" err="1">
                <a:effectLst/>
              </a:rPr>
              <a:t>TCPStore</a:t>
            </a:r>
            <a:r>
              <a:rPr lang="en-US" b="1" dirty="0">
                <a:effectLst/>
              </a:rPr>
              <a:t>-less/root-less NCCL and </a:t>
            </a:r>
            <a:r>
              <a:rPr lang="en-US" b="1" dirty="0" err="1">
                <a:effectLst/>
              </a:rPr>
              <a:t>Gloo</a:t>
            </a:r>
            <a:r>
              <a:rPr lang="en-US" b="1" dirty="0">
                <a:effectLst/>
              </a:rPr>
              <a:t> initialization</a:t>
            </a:r>
          </a:p>
          <a:p>
            <a:pPr lvl="1"/>
            <a:r>
              <a:rPr lang="zh-CN" altLang="en-US" b="1" dirty="0"/>
              <a:t>痛点</a:t>
            </a:r>
            <a:r>
              <a:rPr lang="zh-CN" altLang="en-US" dirty="0"/>
              <a:t>：对于使用</a:t>
            </a:r>
            <a:r>
              <a:rPr lang="en-US" altLang="zh-CN" dirty="0" err="1"/>
              <a:t>TCPStore</a:t>
            </a:r>
            <a:r>
              <a:rPr lang="zh-CN" altLang="en-US" dirty="0"/>
              <a:t>作为</a:t>
            </a:r>
            <a:r>
              <a:rPr lang="en-US" altLang="zh-CN" dirty="0"/>
              <a:t>peer discovery</a:t>
            </a:r>
            <a:r>
              <a:rPr lang="zh-CN" altLang="en-US" dirty="0"/>
              <a:t>的情况（比如典型的</a:t>
            </a:r>
            <a:r>
              <a:rPr lang="en-US" altLang="zh-CN" dirty="0"/>
              <a:t>C10d rendezvous backend</a:t>
            </a:r>
            <a:r>
              <a:rPr lang="zh-CN" altLang="en-US" dirty="0"/>
              <a:t>就是使用的</a:t>
            </a:r>
            <a:r>
              <a:rPr lang="en-US" altLang="zh-CN" dirty="0" err="1"/>
              <a:t>TCPStore</a:t>
            </a:r>
            <a:r>
              <a:rPr lang="zh-CN" altLang="en-US" dirty="0"/>
              <a:t>），在</a:t>
            </a:r>
            <a:r>
              <a:rPr lang="en-US" altLang="zh-CN" dirty="0"/>
              <a:t>process Group</a:t>
            </a:r>
            <a:r>
              <a:rPr lang="zh-CN" altLang="en-US" dirty="0"/>
              <a:t>初始化的时候，每个</a:t>
            </a:r>
            <a:r>
              <a:rPr lang="en-US" altLang="zh-CN" dirty="0"/>
              <a:t>ranker</a:t>
            </a:r>
            <a:r>
              <a:rPr lang="zh-CN" altLang="en-US" dirty="0"/>
              <a:t>都要和所谓的</a:t>
            </a:r>
            <a:r>
              <a:rPr lang="en-US" altLang="zh-CN" dirty="0"/>
              <a:t>root server/ranker 0</a:t>
            </a:r>
            <a:r>
              <a:rPr lang="zh-CN" altLang="en-US" dirty="0"/>
              <a:t>进行通信，对于超大集群这个初始化过程会增大</a:t>
            </a:r>
            <a:r>
              <a:rPr lang="en-US" altLang="zh-CN" dirty="0"/>
              <a:t>ranker 0</a:t>
            </a:r>
            <a:r>
              <a:rPr lang="zh-CN" altLang="en-US" dirty="0"/>
              <a:t>的负担以及单点故障问题。</a:t>
            </a:r>
            <a:endParaRPr lang="en-US" altLang="zh-CN" dirty="0"/>
          </a:p>
          <a:p>
            <a:pPr lvl="1"/>
            <a:r>
              <a:rPr lang="zh-CN" altLang="en-US" b="1" dirty="0"/>
              <a:t>方案</a:t>
            </a:r>
            <a:r>
              <a:rPr lang="zh-CN" altLang="en-US" dirty="0"/>
              <a:t>：</a:t>
            </a:r>
            <a:r>
              <a:rPr lang="en-US" b="1" dirty="0" err="1">
                <a:solidFill>
                  <a:srgbClr val="FF0000"/>
                </a:solidFill>
              </a:rPr>
              <a:t>C</a:t>
            </a:r>
            <a:r>
              <a:rPr lang="en-US" altLang="zh-CN" b="1" dirty="0" err="1">
                <a:solidFill>
                  <a:srgbClr val="FF0000"/>
                </a:solidFill>
              </a:rPr>
              <a:t>heckpointless</a:t>
            </a:r>
            <a:r>
              <a:rPr lang="en-US" altLang="zh-CN" b="1" dirty="0">
                <a:solidFill>
                  <a:srgbClr val="FF0000"/>
                </a:solidFill>
              </a:rPr>
              <a:t> training</a:t>
            </a:r>
            <a:r>
              <a:rPr lang="zh-CN" altLang="en-US" b="1" dirty="0">
                <a:solidFill>
                  <a:srgbClr val="FF0000"/>
                </a:solidFill>
              </a:rPr>
              <a:t>消除了这种中心化依赖</a:t>
            </a:r>
            <a:r>
              <a:rPr lang="zh-CN" altLang="en-US" dirty="0"/>
              <a:t>。</a:t>
            </a:r>
            <a:endParaRPr lang="en-US" altLang="zh-CN" dirty="0"/>
          </a:p>
          <a:p>
            <a:pPr lvl="2"/>
            <a:r>
              <a:rPr lang="zh-CN" altLang="en-US" dirty="0"/>
              <a:t>系统不再将所有连接请求汇集到单个</a:t>
            </a:r>
            <a:r>
              <a:rPr lang="en-US" altLang="zh-CN" dirty="0"/>
              <a:t>root server</a:t>
            </a:r>
            <a:r>
              <a:rPr lang="zh-CN" altLang="en-US" dirty="0"/>
              <a:t>，而是使用对称访问模式。每个</a:t>
            </a:r>
            <a:r>
              <a:rPr lang="en-US" altLang="zh-CN" dirty="0"/>
              <a:t>ranker</a:t>
            </a:r>
            <a:r>
              <a:rPr lang="zh-CN" altLang="en-US" dirty="0"/>
              <a:t>使用全局组计数器独立计算</a:t>
            </a:r>
            <a:r>
              <a:rPr lang="en-US" altLang="zh-CN" dirty="0"/>
              <a:t>peer</a:t>
            </a:r>
            <a:r>
              <a:rPr lang="zh-CN" altLang="en-US" dirty="0"/>
              <a:t> </a:t>
            </a:r>
            <a:r>
              <a:rPr lang="en-US" altLang="zh-CN" dirty="0"/>
              <a:t>connection</a:t>
            </a:r>
            <a:r>
              <a:rPr lang="zh-CN" altLang="en-US" dirty="0"/>
              <a:t>信息。各</a:t>
            </a:r>
            <a:r>
              <a:rPr lang="en-US" altLang="zh-CN" dirty="0"/>
              <a:t>ranker</a:t>
            </a:r>
            <a:r>
              <a:rPr lang="zh-CN" altLang="en-US" dirty="0"/>
              <a:t>使用预先确定的端口分配直接相互连接。</a:t>
            </a:r>
            <a:r>
              <a:rPr lang="zh-CN" altLang="en-US" b="1" dirty="0"/>
              <a:t>即使在拥有数千个节点的集群上</a:t>
            </a:r>
            <a:r>
              <a:rPr lang="en-US" altLang="zh-CN" b="1" dirty="0"/>
              <a:t>,</a:t>
            </a:r>
            <a:r>
              <a:rPr lang="zh-CN" altLang="en-US" b="1" dirty="0"/>
              <a:t>进程组初始化时间也从数十分钟降至几秒钟</a:t>
            </a:r>
            <a:r>
              <a:rPr lang="zh-CN" altLang="en-US" dirty="0"/>
              <a:t>。该系统还消除了基于</a:t>
            </a:r>
            <a:r>
              <a:rPr lang="en-US" altLang="zh-CN" dirty="0"/>
              <a:t>root server</a:t>
            </a:r>
            <a:r>
              <a:rPr lang="zh-CN" altLang="en-US" dirty="0"/>
              <a:t>初始化所固有的单点故障风险。</a:t>
            </a:r>
            <a:endParaRPr lang="en-US" altLang="zh-CN" dirty="0"/>
          </a:p>
          <a:p>
            <a:pPr lvl="2"/>
            <a:r>
              <a:rPr lang="zh-CN" altLang="en-US" dirty="0"/>
              <a:t>它是</a:t>
            </a:r>
            <a:r>
              <a:rPr lang="en-US" dirty="0"/>
              <a:t>AWS</a:t>
            </a:r>
            <a:r>
              <a:rPr lang="zh-CN" altLang="en-US" dirty="0"/>
              <a:t>自己的实现：需要修改</a:t>
            </a:r>
            <a:r>
              <a:rPr lang="en-US" dirty="0"/>
              <a:t>NCCL, </a:t>
            </a:r>
            <a:r>
              <a:rPr lang="en-US" dirty="0" err="1"/>
              <a:t>Gloo</a:t>
            </a:r>
            <a:r>
              <a:rPr lang="en-US" dirty="0"/>
              <a:t>, and </a:t>
            </a:r>
            <a:r>
              <a:rPr lang="en-US" dirty="0" err="1"/>
              <a:t>PyTorch</a:t>
            </a:r>
            <a:r>
              <a:rPr lang="zh-CN" altLang="en-US" dirty="0"/>
              <a:t>。</a:t>
            </a:r>
            <a:endParaRPr lang="en-US" dirty="0"/>
          </a:p>
        </p:txBody>
      </p:sp>
    </p:spTree>
    <p:extLst>
      <p:ext uri="{BB962C8B-B14F-4D97-AF65-F5344CB8AC3E}">
        <p14:creationId xmlns:p14="http://schemas.microsoft.com/office/powerpoint/2010/main" val="3212159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F3A1A5-7E46-BA74-9CBA-D5CE27A8AF86}"/>
              </a:ext>
            </a:extLst>
          </p:cNvPr>
          <p:cNvSpPr>
            <a:spLocks noGrp="1"/>
          </p:cNvSpPr>
          <p:nvPr>
            <p:ph type="title"/>
          </p:nvPr>
        </p:nvSpPr>
        <p:spPr>
          <a:xfrm>
            <a:off x="838200" y="365125"/>
            <a:ext cx="10515600" cy="854075"/>
          </a:xfrm>
        </p:spPr>
        <p:txBody>
          <a:bodyPr/>
          <a:lstStyle/>
          <a:p>
            <a:r>
              <a:rPr lang="en-US" dirty="0"/>
              <a:t>C</a:t>
            </a:r>
            <a:r>
              <a:rPr lang="en-US" altLang="zh-CN" dirty="0"/>
              <a:t>ontinue…..</a:t>
            </a:r>
            <a:endParaRPr lang="en-US" dirty="0"/>
          </a:p>
        </p:txBody>
      </p:sp>
      <p:sp>
        <p:nvSpPr>
          <p:cNvPr id="3" name="内容占位符 2">
            <a:extLst>
              <a:ext uri="{FF2B5EF4-FFF2-40B4-BE49-F238E27FC236}">
                <a16:creationId xmlns:a16="http://schemas.microsoft.com/office/drawing/2014/main" id="{C895BF8C-1FE0-8F6C-0E84-77A11EFA1C1D}"/>
              </a:ext>
            </a:extLst>
          </p:cNvPr>
          <p:cNvSpPr>
            <a:spLocks noGrp="1"/>
          </p:cNvSpPr>
          <p:nvPr>
            <p:ph idx="1"/>
          </p:nvPr>
        </p:nvSpPr>
        <p:spPr>
          <a:xfrm>
            <a:off x="838200" y="1288026"/>
            <a:ext cx="10515600" cy="5358580"/>
          </a:xfrm>
        </p:spPr>
        <p:txBody>
          <a:bodyPr/>
          <a:lstStyle/>
          <a:p>
            <a:r>
              <a:rPr lang="en-US" b="1" dirty="0"/>
              <a:t>Memory-mapped data loading</a:t>
            </a:r>
          </a:p>
          <a:p>
            <a:pPr lvl="1"/>
            <a:r>
              <a:rPr lang="zh-CN" altLang="en-US" sz="2000" b="1" dirty="0"/>
              <a:t>优点</a:t>
            </a:r>
            <a:r>
              <a:rPr lang="zh-CN" altLang="en-US" sz="2000" dirty="0"/>
              <a:t>：</a:t>
            </a:r>
            <a:endParaRPr lang="en-US" altLang="zh-CN" sz="2000" dirty="0"/>
          </a:p>
          <a:p>
            <a:pPr lvl="2"/>
            <a:r>
              <a:rPr lang="zh-CN" altLang="en-US" sz="1600" b="1" dirty="0"/>
              <a:t>健壮性：</a:t>
            </a:r>
            <a:r>
              <a:rPr lang="zh-CN" altLang="en-US" sz="1600" dirty="0"/>
              <a:t>训练数据被映射到共享内存区域，即使单个进程失败，这些区域也会持续存在。</a:t>
            </a:r>
            <a:endParaRPr lang="en-US" altLang="zh-CN" sz="1600" dirty="0"/>
          </a:p>
          <a:p>
            <a:pPr lvl="2"/>
            <a:r>
              <a:rPr lang="zh-CN" altLang="en-US" sz="1600" b="1" dirty="0"/>
              <a:t>便利性：数据加载器状态得以保留</a:t>
            </a:r>
            <a:r>
              <a:rPr lang="en-US" altLang="zh-CN" sz="1600" b="1" dirty="0"/>
              <a:t>,</a:t>
            </a:r>
            <a:r>
              <a:rPr lang="zh-CN" altLang="en-US" sz="1600" b="1" dirty="0"/>
              <a:t>有助于确保训练从正确的位置继续</a:t>
            </a:r>
            <a:r>
              <a:rPr lang="en-US" altLang="zh-CN" sz="1600" b="1" dirty="0"/>
              <a:t>,</a:t>
            </a:r>
            <a:r>
              <a:rPr lang="zh-CN" altLang="en-US" sz="1600" b="1" dirty="0"/>
              <a:t>不会出现重复或跳过样本的情况</a:t>
            </a:r>
            <a:r>
              <a:rPr lang="zh-CN" altLang="en-US" sz="1600" dirty="0"/>
              <a:t>。</a:t>
            </a:r>
            <a:endParaRPr lang="en-US" altLang="zh-CN" sz="1600" dirty="0"/>
          </a:p>
          <a:p>
            <a:pPr lvl="1"/>
            <a:r>
              <a:rPr lang="zh-CN" altLang="en-US" sz="2000" dirty="0"/>
              <a:t>该机制给每个节点仅维护一份数据副本</a:t>
            </a:r>
            <a:r>
              <a:rPr lang="en-US" altLang="zh-CN" sz="2000" dirty="0"/>
              <a:t>(</a:t>
            </a:r>
            <a:r>
              <a:rPr lang="zh-CN" altLang="en-US" sz="2000" dirty="0"/>
              <a:t>相比之下</a:t>
            </a:r>
            <a:r>
              <a:rPr lang="en-US" altLang="zh-CN" sz="2000" dirty="0"/>
              <a:t>,</a:t>
            </a:r>
            <a:r>
              <a:rPr lang="zh-CN" altLang="en-US" sz="2000" dirty="0"/>
              <a:t>传统数据加载器在 </a:t>
            </a:r>
            <a:r>
              <a:rPr lang="en-US" altLang="zh-CN" sz="2000" dirty="0"/>
              <a:t>8-GPU </a:t>
            </a:r>
            <a:r>
              <a:rPr lang="zh-CN" altLang="en-US" sz="2000" dirty="0"/>
              <a:t>节点上会保留 </a:t>
            </a:r>
            <a:r>
              <a:rPr lang="en-US" altLang="zh-CN" sz="2000" dirty="0"/>
              <a:t>8 </a:t>
            </a:r>
            <a:r>
              <a:rPr lang="zh-CN" altLang="en-US" sz="2000" dirty="0"/>
              <a:t>份副本</a:t>
            </a:r>
            <a:r>
              <a:rPr lang="en-US" altLang="zh-CN" sz="2000" dirty="0"/>
              <a:t>)</a:t>
            </a:r>
            <a:r>
              <a:rPr lang="zh-CN" altLang="en-US" sz="2000" dirty="0"/>
              <a:t>来减少主机 </a:t>
            </a:r>
            <a:r>
              <a:rPr lang="en-US" altLang="zh-CN" sz="2000" dirty="0"/>
              <a:t>CPU </a:t>
            </a:r>
            <a:r>
              <a:rPr lang="zh-CN" altLang="en-US" sz="2000" dirty="0"/>
              <a:t>内存使用量</a:t>
            </a:r>
            <a:r>
              <a:rPr lang="en-US" altLang="zh-CN" sz="2000" dirty="0"/>
              <a:t>,</a:t>
            </a:r>
            <a:r>
              <a:rPr lang="zh-CN" altLang="en-US" sz="2000" dirty="0"/>
              <a:t>并且训练可以立即使用缓存批次恢复</a:t>
            </a:r>
            <a:r>
              <a:rPr lang="en-US" altLang="zh-CN" sz="2000" dirty="0"/>
              <a:t>,</a:t>
            </a:r>
            <a:r>
              <a:rPr lang="zh-CN" altLang="en-US" sz="2000" dirty="0"/>
              <a:t>同时数据加载器在后台并发预取下一批数据</a:t>
            </a:r>
            <a:r>
              <a:rPr lang="zh-CN" altLang="en-US" dirty="0"/>
              <a:t>。</a:t>
            </a:r>
            <a:endParaRPr lang="en-US" altLang="zh-CN" dirty="0"/>
          </a:p>
          <a:p>
            <a:pPr lvl="2"/>
            <a:r>
              <a:rPr lang="zh-CN" altLang="en-US" dirty="0"/>
              <a:t>缺省情况下，每个节点只有</a:t>
            </a:r>
            <a:r>
              <a:rPr lang="en-US" altLang="zh-CN" dirty="0"/>
              <a:t>local ranker 0</a:t>
            </a:r>
            <a:r>
              <a:rPr lang="zh-CN" altLang="en-US" dirty="0"/>
              <a:t>从数据源读取数据并写入该节点内共享的</a:t>
            </a:r>
            <a:r>
              <a:rPr lang="en-US" altLang="zh-CN" dirty="0"/>
              <a:t>memory-base</a:t>
            </a:r>
            <a:r>
              <a:rPr lang="zh-CN" altLang="en-US" dirty="0"/>
              <a:t>的文件系统。</a:t>
            </a:r>
            <a:endParaRPr lang="en-US" dirty="0"/>
          </a:p>
          <a:p>
            <a:pPr lvl="2"/>
            <a:endParaRPr lang="en-US" dirty="0"/>
          </a:p>
          <a:p>
            <a:endParaRPr lang="en-US" dirty="0"/>
          </a:p>
        </p:txBody>
      </p:sp>
      <p:pic>
        <p:nvPicPr>
          <p:cNvPr id="5" name="图片 4">
            <a:extLst>
              <a:ext uri="{FF2B5EF4-FFF2-40B4-BE49-F238E27FC236}">
                <a16:creationId xmlns:a16="http://schemas.microsoft.com/office/drawing/2014/main" id="{7FEB5F74-3817-B32C-874B-17DFF250762F}"/>
              </a:ext>
            </a:extLst>
          </p:cNvPr>
          <p:cNvPicPr>
            <a:picLocks noChangeAspect="1"/>
          </p:cNvPicPr>
          <p:nvPr/>
        </p:nvPicPr>
        <p:blipFill>
          <a:blip r:embed="rId3"/>
          <a:stretch>
            <a:fillRect/>
          </a:stretch>
        </p:blipFill>
        <p:spPr>
          <a:xfrm>
            <a:off x="2041489" y="4299885"/>
            <a:ext cx="7393913" cy="2346721"/>
          </a:xfrm>
          <a:prstGeom prst="rect">
            <a:avLst/>
          </a:prstGeom>
        </p:spPr>
      </p:pic>
    </p:spTree>
    <p:extLst>
      <p:ext uri="{BB962C8B-B14F-4D97-AF65-F5344CB8AC3E}">
        <p14:creationId xmlns:p14="http://schemas.microsoft.com/office/powerpoint/2010/main" val="3853649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C20AC4-55E1-B70E-F594-5A1964077BE2}"/>
              </a:ext>
            </a:extLst>
          </p:cNvPr>
          <p:cNvSpPr>
            <a:spLocks noGrp="1"/>
          </p:cNvSpPr>
          <p:nvPr>
            <p:ph type="title"/>
          </p:nvPr>
        </p:nvSpPr>
        <p:spPr/>
        <p:txBody>
          <a:bodyPr/>
          <a:lstStyle/>
          <a:p>
            <a:r>
              <a:rPr lang="en-US" dirty="0"/>
              <a:t>C</a:t>
            </a:r>
            <a:r>
              <a:rPr lang="en-US" altLang="zh-CN" dirty="0"/>
              <a:t>ontinue…….</a:t>
            </a:r>
            <a:endParaRPr lang="en-US" dirty="0"/>
          </a:p>
        </p:txBody>
      </p:sp>
      <p:sp>
        <p:nvSpPr>
          <p:cNvPr id="3" name="内容占位符 2">
            <a:extLst>
              <a:ext uri="{FF2B5EF4-FFF2-40B4-BE49-F238E27FC236}">
                <a16:creationId xmlns:a16="http://schemas.microsoft.com/office/drawing/2014/main" id="{CDBCEFDA-8D83-86C3-57FD-3DF4FBD92375}"/>
              </a:ext>
            </a:extLst>
          </p:cNvPr>
          <p:cNvSpPr>
            <a:spLocks noGrp="1"/>
          </p:cNvSpPr>
          <p:nvPr>
            <p:ph idx="1"/>
          </p:nvPr>
        </p:nvSpPr>
        <p:spPr>
          <a:xfrm>
            <a:off x="838200" y="1607736"/>
            <a:ext cx="10515600" cy="5144756"/>
          </a:xfrm>
        </p:spPr>
        <p:txBody>
          <a:bodyPr/>
          <a:lstStyle/>
          <a:p>
            <a:r>
              <a:rPr lang="en-US" b="1" dirty="0"/>
              <a:t>In-process recovery </a:t>
            </a:r>
          </a:p>
          <a:p>
            <a:pPr lvl="1"/>
            <a:r>
              <a:rPr lang="zh-CN" altLang="en-US" dirty="0"/>
              <a:t>简单讲</a:t>
            </a:r>
            <a:r>
              <a:rPr lang="en-US" altLang="zh-CN" dirty="0"/>
              <a:t>in process recovery</a:t>
            </a:r>
            <a:r>
              <a:rPr lang="zh-CN" altLang="en-US" dirty="0"/>
              <a:t>指的是</a:t>
            </a:r>
            <a:r>
              <a:rPr lang="zh-CN" altLang="en-US" b="1" dirty="0"/>
              <a:t>重新执行进程内的某个代码块</a:t>
            </a:r>
            <a:r>
              <a:rPr lang="zh-CN" altLang="en-US" dirty="0"/>
              <a:t>。</a:t>
            </a:r>
            <a:endParaRPr lang="en-US" altLang="zh-CN" dirty="0"/>
          </a:p>
          <a:p>
            <a:pPr lvl="2"/>
            <a:r>
              <a:rPr lang="zh-CN" altLang="en-US" dirty="0"/>
              <a:t>如果只是做</a:t>
            </a:r>
            <a:r>
              <a:rPr lang="en-US" altLang="zh-CN" dirty="0"/>
              <a:t>in process recovery</a:t>
            </a:r>
            <a:r>
              <a:rPr lang="zh-CN" altLang="en-US" dirty="0"/>
              <a:t>，进程本身不会被重启。那么该</a:t>
            </a:r>
            <a:r>
              <a:rPr lang="en-US" altLang="zh-CN" dirty="0"/>
              <a:t>GPU</a:t>
            </a:r>
            <a:r>
              <a:rPr lang="zh-CN" altLang="en-US" dirty="0"/>
              <a:t>进程涉及到的</a:t>
            </a:r>
            <a:r>
              <a:rPr lang="en-US" altLang="zh-CN" dirty="0"/>
              <a:t>CUDA </a:t>
            </a:r>
            <a:r>
              <a:rPr lang="zh-CN" altLang="en-US" dirty="0"/>
              <a:t>上下文，计算图编译</a:t>
            </a:r>
            <a:r>
              <a:rPr lang="en-US" altLang="zh-CN" dirty="0"/>
              <a:t>cache</a:t>
            </a:r>
            <a:r>
              <a:rPr lang="zh-CN" altLang="en-US" dirty="0"/>
              <a:t>以及</a:t>
            </a:r>
            <a:r>
              <a:rPr lang="en-US" altLang="zh-CN" dirty="0"/>
              <a:t>GPU state</a:t>
            </a:r>
            <a:r>
              <a:rPr lang="zh-CN" altLang="en-US" dirty="0"/>
              <a:t>这些都是</a:t>
            </a:r>
            <a:r>
              <a:rPr lang="en-US" altLang="zh-CN" dirty="0"/>
              <a:t>active</a:t>
            </a:r>
            <a:r>
              <a:rPr lang="zh-CN" altLang="en-US" dirty="0"/>
              <a:t>的，只是重新执行你的</a:t>
            </a:r>
            <a:r>
              <a:rPr lang="en-US" altLang="zh-CN" dirty="0"/>
              <a:t>train loop</a:t>
            </a:r>
            <a:r>
              <a:rPr lang="zh-CN" altLang="en-US" dirty="0"/>
              <a:t>代码块。因此能减少给</a:t>
            </a:r>
            <a:r>
              <a:rPr lang="en-US" altLang="zh-CN" dirty="0"/>
              <a:t>GPU</a:t>
            </a:r>
            <a:r>
              <a:rPr lang="zh-CN" altLang="en-US" dirty="0"/>
              <a:t>进程重启初始化的过程。</a:t>
            </a:r>
            <a:endParaRPr lang="en-US" altLang="zh-CN" dirty="0"/>
          </a:p>
          <a:p>
            <a:pPr lvl="1"/>
            <a:r>
              <a:rPr lang="zh-CN" altLang="en-US" b="1" dirty="0"/>
              <a:t>优点</a:t>
            </a:r>
            <a:r>
              <a:rPr lang="zh-CN" altLang="en-US" dirty="0"/>
              <a:t>：</a:t>
            </a:r>
            <a:r>
              <a:rPr lang="en-US" altLang="zh-CN" dirty="0" err="1"/>
              <a:t>Checkpointless</a:t>
            </a:r>
            <a:r>
              <a:rPr lang="en-US" altLang="zh-CN" dirty="0"/>
              <a:t> training</a:t>
            </a:r>
            <a:r>
              <a:rPr lang="zh-CN" altLang="en-US" dirty="0"/>
              <a:t>会自动递进的采取恢复机制（参见下图）</a:t>
            </a:r>
            <a:endParaRPr lang="en-US" altLang="zh-CN" dirty="0"/>
          </a:p>
          <a:p>
            <a:pPr lvl="1"/>
            <a:endParaRPr lang="en-US" dirty="0"/>
          </a:p>
        </p:txBody>
      </p:sp>
      <p:pic>
        <p:nvPicPr>
          <p:cNvPr id="5" name="图片 4">
            <a:extLst>
              <a:ext uri="{FF2B5EF4-FFF2-40B4-BE49-F238E27FC236}">
                <a16:creationId xmlns:a16="http://schemas.microsoft.com/office/drawing/2014/main" id="{58A80B1A-BD40-11D6-06FB-817E54A4CC60}"/>
              </a:ext>
            </a:extLst>
          </p:cNvPr>
          <p:cNvPicPr>
            <a:picLocks noChangeAspect="1"/>
          </p:cNvPicPr>
          <p:nvPr/>
        </p:nvPicPr>
        <p:blipFill>
          <a:blip r:embed="rId3"/>
          <a:stretch>
            <a:fillRect/>
          </a:stretch>
        </p:blipFill>
        <p:spPr>
          <a:xfrm>
            <a:off x="1321904" y="3788229"/>
            <a:ext cx="9700683" cy="2851109"/>
          </a:xfrm>
          <a:prstGeom prst="rect">
            <a:avLst/>
          </a:prstGeom>
        </p:spPr>
      </p:pic>
    </p:spTree>
    <p:extLst>
      <p:ext uri="{BB962C8B-B14F-4D97-AF65-F5344CB8AC3E}">
        <p14:creationId xmlns:p14="http://schemas.microsoft.com/office/powerpoint/2010/main" val="2574687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F7F122-8ED2-EA40-6271-EDCABD2DF5B6}"/>
              </a:ext>
            </a:extLst>
          </p:cNvPr>
          <p:cNvSpPr>
            <a:spLocks noGrp="1"/>
          </p:cNvSpPr>
          <p:nvPr>
            <p:ph type="title"/>
          </p:nvPr>
        </p:nvSpPr>
        <p:spPr>
          <a:xfrm>
            <a:off x="838200" y="365126"/>
            <a:ext cx="10515600" cy="820580"/>
          </a:xfrm>
        </p:spPr>
        <p:txBody>
          <a:bodyPr/>
          <a:lstStyle/>
          <a:p>
            <a:r>
              <a:rPr lang="en-US" dirty="0"/>
              <a:t>C</a:t>
            </a:r>
            <a:r>
              <a:rPr lang="en-US" altLang="zh-CN" dirty="0"/>
              <a:t>ontinue….</a:t>
            </a:r>
            <a:endParaRPr lang="en-US" dirty="0"/>
          </a:p>
        </p:txBody>
      </p:sp>
      <p:sp>
        <p:nvSpPr>
          <p:cNvPr id="3" name="内容占位符 2">
            <a:extLst>
              <a:ext uri="{FF2B5EF4-FFF2-40B4-BE49-F238E27FC236}">
                <a16:creationId xmlns:a16="http://schemas.microsoft.com/office/drawing/2014/main" id="{30254AF1-D118-C917-123C-64F655BA4A3F}"/>
              </a:ext>
            </a:extLst>
          </p:cNvPr>
          <p:cNvSpPr>
            <a:spLocks noGrp="1"/>
          </p:cNvSpPr>
          <p:nvPr>
            <p:ph idx="1"/>
          </p:nvPr>
        </p:nvSpPr>
        <p:spPr>
          <a:xfrm>
            <a:off x="838200" y="1306286"/>
            <a:ext cx="10515600" cy="4870677"/>
          </a:xfrm>
        </p:spPr>
        <p:txBody>
          <a:bodyPr/>
          <a:lstStyle/>
          <a:p>
            <a:r>
              <a:rPr lang="en-US" b="1" dirty="0"/>
              <a:t>Peer-to-peer state replication</a:t>
            </a:r>
          </a:p>
          <a:p>
            <a:pPr lvl="1"/>
            <a:r>
              <a:rPr lang="zh-CN" altLang="en-US" b="1" dirty="0"/>
              <a:t>优点</a:t>
            </a:r>
            <a:r>
              <a:rPr lang="zh-CN" altLang="en-US" dirty="0"/>
              <a:t>：</a:t>
            </a:r>
            <a:r>
              <a:rPr lang="zh-CN" altLang="en-US" b="1" dirty="0"/>
              <a:t>持续的</a:t>
            </a:r>
            <a:r>
              <a:rPr lang="en-US" altLang="zh-CN" b="1" dirty="0"/>
              <a:t>peer-to-peer</a:t>
            </a:r>
            <a:r>
              <a:rPr lang="zh-CN" altLang="en-US" b="1" dirty="0"/>
              <a:t>的状态复制</a:t>
            </a:r>
            <a:r>
              <a:rPr lang="zh-CN" altLang="en-US" dirty="0"/>
              <a:t>。更快的恢复速度，只需要从</a:t>
            </a:r>
            <a:r>
              <a:rPr lang="en-US" altLang="zh-CN" dirty="0"/>
              <a:t>peer</a:t>
            </a:r>
            <a:r>
              <a:rPr lang="zh-CN" altLang="en-US" dirty="0"/>
              <a:t>拷贝自己的</a:t>
            </a:r>
            <a:r>
              <a:rPr lang="en-US" altLang="zh-CN" dirty="0"/>
              <a:t>model/optimizer shard</a:t>
            </a:r>
            <a:r>
              <a:rPr lang="zh-CN" altLang="en-US" dirty="0"/>
              <a:t>部分。</a:t>
            </a:r>
            <a:endParaRPr lang="en-US" altLang="zh-CN" dirty="0"/>
          </a:p>
          <a:p>
            <a:pPr lvl="1"/>
            <a:r>
              <a:rPr lang="zh-CN" altLang="en-US" dirty="0"/>
              <a:t>每个 </a:t>
            </a:r>
            <a:r>
              <a:rPr lang="en-US" altLang="zh-CN" dirty="0"/>
              <a:t>GPU  ranker</a:t>
            </a:r>
            <a:r>
              <a:rPr lang="zh-CN" altLang="en-US" dirty="0"/>
              <a:t> 会在</a:t>
            </a:r>
            <a:r>
              <a:rPr lang="en-US" altLang="zh-CN" dirty="0"/>
              <a:t>peer</a:t>
            </a:r>
            <a:r>
              <a:rPr lang="zh-CN" altLang="en-US" dirty="0"/>
              <a:t>的多个</a:t>
            </a:r>
            <a:r>
              <a:rPr lang="en-US" altLang="zh-CN" dirty="0"/>
              <a:t>GPU</a:t>
            </a:r>
            <a:r>
              <a:rPr lang="zh-CN" altLang="en-US" dirty="0"/>
              <a:t>显存上维护其</a:t>
            </a:r>
            <a:r>
              <a:rPr lang="zh-CN" altLang="en-US" b="1" dirty="0"/>
              <a:t>模型分片（包括模型权重和优化器状态）</a:t>
            </a:r>
            <a:r>
              <a:rPr lang="zh-CN" altLang="en-US" dirty="0"/>
              <a:t>的冗余副本。</a:t>
            </a:r>
            <a:endParaRPr lang="en-US" altLang="zh-CN" dirty="0"/>
          </a:p>
          <a:p>
            <a:pPr lvl="2"/>
            <a:r>
              <a:rPr lang="zh-CN" altLang="en-US" dirty="0"/>
              <a:t>支持</a:t>
            </a:r>
            <a:r>
              <a:rPr lang="en-US" altLang="zh-CN" dirty="0"/>
              <a:t>checkpoint offload</a:t>
            </a:r>
            <a:r>
              <a:rPr lang="zh-CN" altLang="en-US" dirty="0"/>
              <a:t>到</a:t>
            </a:r>
            <a:r>
              <a:rPr lang="en-US" altLang="zh-CN" dirty="0"/>
              <a:t>CPU memory</a:t>
            </a:r>
            <a:r>
              <a:rPr lang="zh-CN" altLang="en-US" dirty="0"/>
              <a:t>（可选的）</a:t>
            </a:r>
            <a:endParaRPr lang="en-US" altLang="zh-CN" dirty="0"/>
          </a:p>
          <a:p>
            <a:r>
              <a:rPr lang="en-US" dirty="0"/>
              <a:t>P</a:t>
            </a:r>
            <a:r>
              <a:rPr lang="en-US" altLang="zh-CN" dirty="0"/>
              <a:t>erformance result</a:t>
            </a:r>
            <a:r>
              <a:rPr lang="zh-CN" altLang="en-US" dirty="0"/>
              <a:t>：</a:t>
            </a:r>
            <a:endParaRPr lang="en-US" dirty="0"/>
          </a:p>
        </p:txBody>
      </p:sp>
      <p:pic>
        <p:nvPicPr>
          <p:cNvPr id="5" name="图片 4">
            <a:extLst>
              <a:ext uri="{FF2B5EF4-FFF2-40B4-BE49-F238E27FC236}">
                <a16:creationId xmlns:a16="http://schemas.microsoft.com/office/drawing/2014/main" id="{9E1124AD-D922-3C27-FD73-42CA89440406}"/>
              </a:ext>
            </a:extLst>
          </p:cNvPr>
          <p:cNvPicPr>
            <a:picLocks noChangeAspect="1"/>
          </p:cNvPicPr>
          <p:nvPr/>
        </p:nvPicPr>
        <p:blipFill>
          <a:blip r:embed="rId3"/>
          <a:stretch>
            <a:fillRect/>
          </a:stretch>
        </p:blipFill>
        <p:spPr>
          <a:xfrm>
            <a:off x="1266092" y="4119824"/>
            <a:ext cx="8521003" cy="2596662"/>
          </a:xfrm>
          <a:prstGeom prst="rect">
            <a:avLst/>
          </a:prstGeom>
        </p:spPr>
      </p:pic>
    </p:spTree>
    <p:extLst>
      <p:ext uri="{BB962C8B-B14F-4D97-AF65-F5344CB8AC3E}">
        <p14:creationId xmlns:p14="http://schemas.microsoft.com/office/powerpoint/2010/main" val="342627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9EE57B-11F5-ECF7-0010-E6E51C29AE2E}"/>
              </a:ext>
            </a:extLst>
          </p:cNvPr>
          <p:cNvSpPr>
            <a:spLocks noGrp="1"/>
          </p:cNvSpPr>
          <p:nvPr>
            <p:ph type="title"/>
          </p:nvPr>
        </p:nvSpPr>
        <p:spPr>
          <a:xfrm>
            <a:off x="838200" y="365126"/>
            <a:ext cx="10515600" cy="926962"/>
          </a:xfrm>
        </p:spPr>
        <p:txBody>
          <a:bodyPr/>
          <a:lstStyle/>
          <a:p>
            <a:r>
              <a:rPr lang="en-US" dirty="0"/>
              <a:t>Managed tiered checkpointing </a:t>
            </a:r>
          </a:p>
        </p:txBody>
      </p:sp>
      <p:sp>
        <p:nvSpPr>
          <p:cNvPr id="3" name="内容占位符 2">
            <a:extLst>
              <a:ext uri="{FF2B5EF4-FFF2-40B4-BE49-F238E27FC236}">
                <a16:creationId xmlns:a16="http://schemas.microsoft.com/office/drawing/2014/main" id="{73D1B65F-03CA-4E75-F740-DBFA387FF135}"/>
              </a:ext>
            </a:extLst>
          </p:cNvPr>
          <p:cNvSpPr>
            <a:spLocks noGrp="1"/>
          </p:cNvSpPr>
          <p:nvPr>
            <p:ph idx="1"/>
          </p:nvPr>
        </p:nvSpPr>
        <p:spPr>
          <a:xfrm>
            <a:off x="838200" y="1600200"/>
            <a:ext cx="10515600" cy="4892674"/>
          </a:xfrm>
        </p:spPr>
        <p:txBody>
          <a:bodyPr>
            <a:normAutofit fontScale="92500" lnSpcReduction="10000"/>
          </a:bodyPr>
          <a:lstStyle/>
          <a:p>
            <a:r>
              <a:rPr lang="en-US" altLang="zh-CN" dirty="0"/>
              <a:t>2</a:t>
            </a:r>
            <a:r>
              <a:rPr lang="zh-CN" altLang="en-US" dirty="0"/>
              <a:t>个层级：</a:t>
            </a:r>
            <a:endParaRPr lang="en-US" altLang="zh-CN" dirty="0"/>
          </a:p>
          <a:p>
            <a:pPr lvl="1"/>
            <a:r>
              <a:rPr lang="en-US" dirty="0"/>
              <a:t>CPU/</a:t>
            </a:r>
            <a:r>
              <a:rPr lang="zh-CN" altLang="en-US" dirty="0"/>
              <a:t>系统</a:t>
            </a:r>
            <a:r>
              <a:rPr lang="en-US" dirty="0"/>
              <a:t> </a:t>
            </a:r>
            <a:r>
              <a:rPr lang="en-US" altLang="zh-CN" dirty="0"/>
              <a:t>memory</a:t>
            </a:r>
            <a:r>
              <a:rPr lang="zh-CN" altLang="en-US" dirty="0"/>
              <a:t>是</a:t>
            </a:r>
            <a:r>
              <a:rPr lang="en-US" altLang="zh-CN" dirty="0"/>
              <a:t>primary tier</a:t>
            </a:r>
            <a:r>
              <a:rPr lang="zh-CN" altLang="en-US" dirty="0"/>
              <a:t>；</a:t>
            </a:r>
            <a:endParaRPr lang="en-US" altLang="zh-CN" dirty="0"/>
          </a:p>
          <a:p>
            <a:pPr lvl="1"/>
            <a:r>
              <a:rPr lang="en-US" dirty="0"/>
              <a:t>S3</a:t>
            </a:r>
            <a:r>
              <a:rPr lang="zh-CN" altLang="en-US" dirty="0"/>
              <a:t>是第二个</a:t>
            </a:r>
            <a:r>
              <a:rPr lang="en-US" altLang="zh-CN" dirty="0"/>
              <a:t>tier</a:t>
            </a:r>
            <a:r>
              <a:rPr lang="zh-CN" altLang="en-US" dirty="0"/>
              <a:t>。</a:t>
            </a:r>
            <a:endParaRPr lang="en-US" altLang="zh-CN" dirty="0"/>
          </a:p>
          <a:p>
            <a:r>
              <a:rPr lang="zh-CN" altLang="en-US" dirty="0"/>
              <a:t>特点：</a:t>
            </a:r>
            <a:endParaRPr lang="en-US" altLang="zh-CN" dirty="0"/>
          </a:p>
          <a:p>
            <a:pPr lvl="1"/>
            <a:r>
              <a:rPr lang="zh-CN" altLang="en-US" dirty="0"/>
              <a:t>和</a:t>
            </a:r>
            <a:r>
              <a:rPr lang="en-US" altLang="zh-CN" dirty="0" err="1"/>
              <a:t>Pytorch</a:t>
            </a:r>
            <a:r>
              <a:rPr lang="zh-CN" altLang="en-US" dirty="0"/>
              <a:t>的</a:t>
            </a:r>
            <a:r>
              <a:rPr lang="en-US" altLang="zh-CN" dirty="0"/>
              <a:t>Distributed checkpoint/DCP</a:t>
            </a:r>
            <a:r>
              <a:rPr lang="zh-CN" altLang="en-US" dirty="0"/>
              <a:t>的</a:t>
            </a:r>
            <a:r>
              <a:rPr lang="en-US" altLang="zh-CN" b="1" dirty="0" err="1"/>
              <a:t>async_save</a:t>
            </a:r>
            <a:r>
              <a:rPr lang="zh-CN" altLang="en-US" dirty="0"/>
              <a:t>集成。</a:t>
            </a:r>
            <a:endParaRPr lang="en-US" altLang="zh-CN" dirty="0"/>
          </a:p>
          <a:p>
            <a:pPr lvl="1"/>
            <a:r>
              <a:rPr lang="en-US" altLang="zh-CN" dirty="0"/>
              <a:t>Checkpoint</a:t>
            </a:r>
            <a:r>
              <a:rPr lang="zh-CN" altLang="en-US" dirty="0"/>
              <a:t>会先保存到当前节点的系统</a:t>
            </a:r>
            <a:r>
              <a:rPr lang="en-US" altLang="zh-CN" dirty="0"/>
              <a:t>RAM</a:t>
            </a:r>
            <a:r>
              <a:rPr lang="zh-CN" altLang="en-US" dirty="0"/>
              <a:t>，然后自动复制</a:t>
            </a:r>
            <a:r>
              <a:rPr lang="en-US" altLang="zh-CN" dirty="0"/>
              <a:t>checkpoint</a:t>
            </a:r>
            <a:r>
              <a:rPr lang="zh-CN" altLang="en-US" dirty="0"/>
              <a:t>得到临近节点的系统</a:t>
            </a:r>
            <a:r>
              <a:rPr lang="en-US" altLang="zh-CN" dirty="0"/>
              <a:t>RAM</a:t>
            </a:r>
            <a:r>
              <a:rPr lang="zh-CN" altLang="en-US" dirty="0"/>
              <a:t>。</a:t>
            </a:r>
            <a:endParaRPr lang="en-US" altLang="zh-CN" dirty="0"/>
          </a:p>
          <a:p>
            <a:pPr lvl="1"/>
            <a:r>
              <a:rPr lang="zh-CN" altLang="en-US" dirty="0"/>
              <a:t>定期根据设定的频率保存</a:t>
            </a:r>
            <a:r>
              <a:rPr lang="en-US" altLang="zh-CN" dirty="0"/>
              <a:t>checkpoint</a:t>
            </a:r>
            <a:r>
              <a:rPr lang="zh-CN" altLang="en-US" dirty="0"/>
              <a:t>到</a:t>
            </a:r>
            <a:r>
              <a:rPr lang="en-US" altLang="zh-CN" dirty="0"/>
              <a:t>S3</a:t>
            </a:r>
            <a:r>
              <a:rPr lang="zh-CN" altLang="en-US" dirty="0"/>
              <a:t>做持久化。</a:t>
            </a:r>
            <a:endParaRPr lang="en-US" altLang="zh-CN" dirty="0"/>
          </a:p>
          <a:p>
            <a:r>
              <a:rPr lang="zh-CN" altLang="en-US" b="1" dirty="0"/>
              <a:t>优点</a:t>
            </a:r>
            <a:r>
              <a:rPr lang="zh-CN" altLang="en-US" dirty="0"/>
              <a:t>：</a:t>
            </a:r>
            <a:endParaRPr lang="en-US" altLang="zh-CN" dirty="0"/>
          </a:p>
          <a:p>
            <a:pPr lvl="1"/>
            <a:r>
              <a:rPr lang="zh-CN" altLang="en-US" b="1" dirty="0"/>
              <a:t>更快的检查点操作</a:t>
            </a:r>
            <a:r>
              <a:rPr lang="zh-CN" altLang="en-US" dirty="0"/>
              <a:t>：基于内存的存储相比基于磁盘的检查点提供更快的保存和加载时间，从而实现更快的恢复。</a:t>
            </a:r>
            <a:endParaRPr lang="en-US" altLang="zh-CN" dirty="0"/>
          </a:p>
          <a:p>
            <a:pPr lvl="1"/>
            <a:r>
              <a:rPr lang="zh-CN" altLang="en-US" dirty="0"/>
              <a:t> </a:t>
            </a:r>
            <a:r>
              <a:rPr lang="zh-CN" altLang="en-US" b="1" dirty="0"/>
              <a:t>容错能力</a:t>
            </a:r>
            <a:r>
              <a:rPr lang="zh-CN" altLang="en-US" dirty="0"/>
              <a:t>：跨节点自动检查点复制，加速从硬件节点故障恢复时间。</a:t>
            </a:r>
            <a:endParaRPr lang="en-US" altLang="zh-CN" dirty="0"/>
          </a:p>
          <a:p>
            <a:pPr lvl="1"/>
            <a:r>
              <a:rPr lang="zh-CN" altLang="en-US" b="1" dirty="0"/>
              <a:t>最少的代码更改</a:t>
            </a:r>
            <a:r>
              <a:rPr lang="zh-CN" altLang="en-US" dirty="0"/>
              <a:t>：简单的</a:t>
            </a:r>
            <a:r>
              <a:rPr lang="en-US" altLang="zh-CN" dirty="0"/>
              <a:t>API</a:t>
            </a:r>
            <a:r>
              <a:rPr lang="zh-CN" altLang="en-US" dirty="0"/>
              <a:t>集成只需要对现有训练脚本进行少量修改。</a:t>
            </a:r>
            <a:endParaRPr lang="en-US" altLang="zh-CN" dirty="0"/>
          </a:p>
          <a:p>
            <a:pPr lvl="1"/>
            <a:r>
              <a:rPr lang="zh-CN" altLang="en-US" dirty="0"/>
              <a:t> </a:t>
            </a:r>
            <a:r>
              <a:rPr lang="zh-CN" altLang="en-US" b="1" dirty="0"/>
              <a:t>改进的训练吞吐量</a:t>
            </a:r>
            <a:r>
              <a:rPr lang="zh-CN" altLang="en-US" dirty="0"/>
              <a:t>：减少检查点开销意味着将更多时间用于实际训练。</a:t>
            </a:r>
            <a:endParaRPr lang="en-US" dirty="0"/>
          </a:p>
        </p:txBody>
      </p:sp>
    </p:spTree>
    <p:extLst>
      <p:ext uri="{BB962C8B-B14F-4D97-AF65-F5344CB8AC3E}">
        <p14:creationId xmlns:p14="http://schemas.microsoft.com/office/powerpoint/2010/main" val="2149551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C8D9DA-F939-CF9A-D7A8-EF32CFAE45C8}"/>
              </a:ext>
            </a:extLst>
          </p:cNvPr>
          <p:cNvSpPr>
            <a:spLocks noGrp="1"/>
          </p:cNvSpPr>
          <p:nvPr>
            <p:ph type="title"/>
          </p:nvPr>
        </p:nvSpPr>
        <p:spPr>
          <a:xfrm>
            <a:off x="838200" y="365125"/>
            <a:ext cx="10515600" cy="1016203"/>
          </a:xfrm>
        </p:spPr>
        <p:txBody>
          <a:bodyPr/>
          <a:lstStyle/>
          <a:p>
            <a:r>
              <a:rPr lang="en-US" dirty="0"/>
              <a:t>R</a:t>
            </a:r>
            <a:r>
              <a:rPr lang="en-US" altLang="zh-CN" dirty="0"/>
              <a:t>esiliency</a:t>
            </a:r>
            <a:r>
              <a:rPr lang="zh-CN" altLang="en-US" dirty="0"/>
              <a:t>实现的核心因素</a:t>
            </a:r>
            <a:endParaRPr lang="en-US" dirty="0"/>
          </a:p>
        </p:txBody>
      </p:sp>
      <p:sp>
        <p:nvSpPr>
          <p:cNvPr id="3" name="内容占位符 2">
            <a:extLst>
              <a:ext uri="{FF2B5EF4-FFF2-40B4-BE49-F238E27FC236}">
                <a16:creationId xmlns:a16="http://schemas.microsoft.com/office/drawing/2014/main" id="{FC1F487C-96DC-387A-A30F-CD57FBEFF189}"/>
              </a:ext>
            </a:extLst>
          </p:cNvPr>
          <p:cNvSpPr>
            <a:spLocks noGrp="1"/>
          </p:cNvSpPr>
          <p:nvPr>
            <p:ph idx="1"/>
          </p:nvPr>
        </p:nvSpPr>
        <p:spPr>
          <a:xfrm>
            <a:off x="838200" y="1537398"/>
            <a:ext cx="10515600" cy="4858200"/>
          </a:xfrm>
        </p:spPr>
        <p:txBody>
          <a:bodyPr>
            <a:normAutofit fontScale="55000" lnSpcReduction="20000"/>
          </a:bodyPr>
          <a:lstStyle/>
          <a:p>
            <a:r>
              <a:rPr lang="zh-CN" altLang="en-US" b="1" dirty="0"/>
              <a:t>监控</a:t>
            </a:r>
            <a:r>
              <a:rPr lang="zh-CN" altLang="en-US" dirty="0"/>
              <a:t>：</a:t>
            </a:r>
            <a:endParaRPr lang="en-US" altLang="zh-CN" dirty="0"/>
          </a:p>
          <a:p>
            <a:pPr lvl="1"/>
            <a:r>
              <a:rPr lang="zh-CN" altLang="en-US" dirty="0"/>
              <a:t>监控的</a:t>
            </a:r>
            <a:r>
              <a:rPr lang="en-US" altLang="zh-CN" dirty="0"/>
              <a:t>scope/ metric</a:t>
            </a:r>
          </a:p>
          <a:p>
            <a:pPr lvl="1"/>
            <a:r>
              <a:rPr lang="zh-CN" altLang="en-US" dirty="0"/>
              <a:t>根据监控来定制的触发行为（比如告警，或者调用</a:t>
            </a:r>
            <a:r>
              <a:rPr lang="en-US" altLang="zh-CN" dirty="0"/>
              <a:t>lambda</a:t>
            </a:r>
            <a:r>
              <a:rPr lang="zh-CN" altLang="en-US" dirty="0"/>
              <a:t>函数执行某些</a:t>
            </a:r>
            <a:r>
              <a:rPr lang="en-US" altLang="zh-CN" dirty="0"/>
              <a:t>action</a:t>
            </a:r>
            <a:r>
              <a:rPr lang="zh-CN" altLang="en-US" dirty="0"/>
              <a:t>等等</a:t>
            </a:r>
            <a:r>
              <a:rPr lang="en-US" altLang="zh-CN" dirty="0"/>
              <a:t>)</a:t>
            </a:r>
          </a:p>
          <a:p>
            <a:r>
              <a:rPr lang="zh-CN" altLang="en-US" b="1" dirty="0"/>
              <a:t>健康检查</a:t>
            </a:r>
            <a:r>
              <a:rPr lang="zh-CN" altLang="en-US" dirty="0"/>
              <a:t>：</a:t>
            </a:r>
            <a:endParaRPr lang="en-US" altLang="zh-CN" dirty="0"/>
          </a:p>
          <a:p>
            <a:pPr lvl="1"/>
            <a:r>
              <a:rPr lang="zh-CN" altLang="en-US" dirty="0"/>
              <a:t>健康检查的范围</a:t>
            </a:r>
            <a:r>
              <a:rPr lang="en-US" altLang="zh-CN" dirty="0"/>
              <a:t>/</a:t>
            </a:r>
            <a:r>
              <a:rPr lang="zh-CN" altLang="en-US" dirty="0"/>
              <a:t>深度</a:t>
            </a:r>
            <a:endParaRPr lang="en-US" altLang="zh-CN" dirty="0"/>
          </a:p>
          <a:p>
            <a:pPr lvl="1"/>
            <a:r>
              <a:rPr lang="zh-CN" altLang="en-US" dirty="0"/>
              <a:t>健康检查的时机</a:t>
            </a:r>
            <a:endParaRPr lang="en-US" altLang="zh-CN" dirty="0"/>
          </a:p>
          <a:p>
            <a:pPr lvl="1"/>
            <a:r>
              <a:rPr lang="zh-CN" altLang="en-US" dirty="0"/>
              <a:t>健康检查失败后的</a:t>
            </a:r>
            <a:r>
              <a:rPr lang="en-US" altLang="zh-CN" dirty="0"/>
              <a:t>action</a:t>
            </a:r>
          </a:p>
          <a:p>
            <a:r>
              <a:rPr lang="en-US" altLang="zh-CN" b="1" dirty="0"/>
              <a:t>Replace</a:t>
            </a:r>
            <a:r>
              <a:rPr lang="zh-CN" altLang="en-US" b="1" dirty="0"/>
              <a:t>节点的供给</a:t>
            </a:r>
            <a:r>
              <a:rPr lang="zh-CN" altLang="en-US" dirty="0"/>
              <a:t>：</a:t>
            </a:r>
            <a:endParaRPr lang="en-US" altLang="zh-CN" dirty="0"/>
          </a:p>
          <a:p>
            <a:pPr lvl="1"/>
            <a:r>
              <a:rPr lang="zh-CN" altLang="en-US" dirty="0"/>
              <a:t>当需要</a:t>
            </a:r>
            <a:r>
              <a:rPr lang="en-US" altLang="zh-CN" dirty="0"/>
              <a:t>replace</a:t>
            </a:r>
            <a:r>
              <a:rPr lang="zh-CN" altLang="en-US" dirty="0"/>
              <a:t>节点的供给时，如何实现？</a:t>
            </a:r>
            <a:endParaRPr lang="en-US" altLang="zh-CN" dirty="0"/>
          </a:p>
          <a:p>
            <a:r>
              <a:rPr lang="zh-CN" altLang="en-US" b="1" dirty="0"/>
              <a:t>故障节点的探测</a:t>
            </a:r>
            <a:r>
              <a:rPr lang="en-US" altLang="zh-CN" b="1" dirty="0"/>
              <a:t>/</a:t>
            </a:r>
            <a:r>
              <a:rPr lang="zh-CN" altLang="en-US" b="1" dirty="0"/>
              <a:t>处理以及自动恢复</a:t>
            </a:r>
            <a:r>
              <a:rPr lang="zh-CN" altLang="en-US" dirty="0"/>
              <a:t>：</a:t>
            </a:r>
            <a:endParaRPr lang="en-US" altLang="zh-CN" dirty="0"/>
          </a:p>
          <a:p>
            <a:pPr lvl="1"/>
            <a:r>
              <a:rPr lang="zh-CN" altLang="en-US" dirty="0"/>
              <a:t>如何持续性的</a:t>
            </a:r>
            <a:r>
              <a:rPr lang="zh-CN" altLang="en-US" b="1" dirty="0"/>
              <a:t>探测</a:t>
            </a:r>
            <a:r>
              <a:rPr lang="zh-CN" altLang="en-US" dirty="0"/>
              <a:t>节点可能的问题？（比如通过应用日志，系统日志，监控指标等等）</a:t>
            </a:r>
            <a:endParaRPr lang="en-US" altLang="zh-CN" dirty="0"/>
          </a:p>
          <a:p>
            <a:pPr lvl="1"/>
            <a:r>
              <a:rPr lang="zh-CN" altLang="en-US" dirty="0"/>
              <a:t>如何判定某个节点有故障以及故障类型？（故障归因分析）</a:t>
            </a:r>
            <a:endParaRPr lang="en-US" altLang="zh-CN" dirty="0"/>
          </a:p>
          <a:p>
            <a:pPr lvl="1"/>
            <a:r>
              <a:rPr lang="zh-CN" altLang="en-US" dirty="0"/>
              <a:t>故障节点如何处理：</a:t>
            </a:r>
            <a:endParaRPr lang="en-US" altLang="zh-CN" dirty="0"/>
          </a:p>
          <a:p>
            <a:pPr lvl="2"/>
            <a:r>
              <a:rPr lang="zh-CN" altLang="en-US" dirty="0"/>
              <a:t>什么情况下需要隔离？</a:t>
            </a:r>
            <a:endParaRPr lang="en-US" altLang="zh-CN" dirty="0"/>
          </a:p>
          <a:p>
            <a:pPr lvl="2"/>
            <a:r>
              <a:rPr lang="zh-CN" altLang="en-US" dirty="0"/>
              <a:t>什么情况下需要自动</a:t>
            </a:r>
            <a:r>
              <a:rPr lang="en-US" altLang="zh-CN" dirty="0"/>
              <a:t>recovery</a:t>
            </a:r>
            <a:r>
              <a:rPr lang="zh-CN" altLang="en-US" dirty="0"/>
              <a:t>（通过</a:t>
            </a:r>
            <a:r>
              <a:rPr lang="en-US" altLang="zh-CN" dirty="0"/>
              <a:t>reboot</a:t>
            </a:r>
            <a:r>
              <a:rPr lang="zh-CN" altLang="en-US" dirty="0"/>
              <a:t>或者</a:t>
            </a:r>
            <a:r>
              <a:rPr lang="en-US" altLang="zh-CN" dirty="0"/>
              <a:t>replace</a:t>
            </a:r>
            <a:r>
              <a:rPr lang="zh-CN" altLang="en-US" dirty="0"/>
              <a:t>节点</a:t>
            </a:r>
            <a:r>
              <a:rPr lang="en-US" altLang="zh-CN" dirty="0"/>
              <a:t>/node</a:t>
            </a:r>
            <a:r>
              <a:rPr lang="zh-CN" altLang="en-US" dirty="0"/>
              <a:t>）？</a:t>
            </a:r>
            <a:endParaRPr lang="en-US" altLang="zh-CN" dirty="0"/>
          </a:p>
          <a:p>
            <a:r>
              <a:rPr lang="zh-CN" altLang="en-US" b="1" dirty="0"/>
              <a:t>任务自动恢复</a:t>
            </a:r>
            <a:r>
              <a:rPr lang="zh-CN" altLang="en-US" dirty="0"/>
              <a:t>：</a:t>
            </a:r>
            <a:endParaRPr lang="en-US" altLang="zh-CN" dirty="0"/>
          </a:p>
          <a:p>
            <a:pPr lvl="1"/>
            <a:r>
              <a:rPr lang="zh-CN" altLang="en-US" dirty="0"/>
              <a:t>整个任务自动恢复的逻辑</a:t>
            </a:r>
            <a:r>
              <a:rPr lang="en-US" altLang="zh-CN" dirty="0"/>
              <a:t>/</a:t>
            </a:r>
            <a:r>
              <a:rPr lang="zh-CN" altLang="en-US" dirty="0"/>
              <a:t>流程图</a:t>
            </a:r>
            <a:endParaRPr lang="en-US" altLang="zh-CN" dirty="0"/>
          </a:p>
          <a:p>
            <a:pPr lvl="1"/>
            <a:r>
              <a:rPr lang="zh-CN" altLang="en-US" dirty="0"/>
              <a:t>配合编排工具一起实现</a:t>
            </a:r>
            <a:endParaRPr lang="en-US" altLang="zh-CN" dirty="0"/>
          </a:p>
          <a:p>
            <a:r>
              <a:rPr lang="zh-CN" altLang="en-US" b="1" dirty="0"/>
              <a:t>人为干涉和自动化流程的结合</a:t>
            </a:r>
            <a:r>
              <a:rPr lang="zh-CN" altLang="en-US" dirty="0"/>
              <a:t>：</a:t>
            </a:r>
            <a:endParaRPr lang="en-US" altLang="zh-CN" dirty="0"/>
          </a:p>
          <a:p>
            <a:pPr lvl="1"/>
            <a:r>
              <a:rPr lang="zh-CN" altLang="en-US" dirty="0"/>
              <a:t>什么时候需要人为干涉；</a:t>
            </a:r>
            <a:endParaRPr lang="en-US" altLang="zh-CN" dirty="0"/>
          </a:p>
          <a:p>
            <a:pPr lvl="1"/>
            <a:r>
              <a:rPr lang="zh-CN" altLang="en-US" dirty="0"/>
              <a:t>什么时候通过自动化来提升流程的效率。</a:t>
            </a:r>
            <a:endParaRPr lang="en-US" altLang="zh-CN" dirty="0"/>
          </a:p>
          <a:p>
            <a:pPr lvl="1"/>
            <a:endParaRPr lang="en-US" altLang="zh-CN" dirty="0"/>
          </a:p>
          <a:p>
            <a:pPr lvl="1"/>
            <a:endParaRPr lang="en-US" altLang="zh-CN" dirty="0"/>
          </a:p>
          <a:p>
            <a:endParaRPr lang="en-US" dirty="0"/>
          </a:p>
        </p:txBody>
      </p:sp>
    </p:spTree>
    <p:extLst>
      <p:ext uri="{BB962C8B-B14F-4D97-AF65-F5344CB8AC3E}">
        <p14:creationId xmlns:p14="http://schemas.microsoft.com/office/powerpoint/2010/main" val="3361510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FF0C36-FAE7-87E9-A4F0-DA3B390D82B9}"/>
              </a:ext>
            </a:extLst>
          </p:cNvPr>
          <p:cNvSpPr>
            <a:spLocks noGrp="1"/>
          </p:cNvSpPr>
          <p:nvPr>
            <p:ph type="title"/>
          </p:nvPr>
        </p:nvSpPr>
        <p:spPr>
          <a:xfrm>
            <a:off x="838200" y="365126"/>
            <a:ext cx="10515600" cy="911015"/>
          </a:xfrm>
        </p:spPr>
        <p:txBody>
          <a:bodyPr/>
          <a:lstStyle/>
          <a:p>
            <a:r>
              <a:rPr lang="en-US" dirty="0"/>
              <a:t>SMHP R</a:t>
            </a:r>
            <a:r>
              <a:rPr lang="en-US" altLang="zh-CN" dirty="0"/>
              <a:t>esiliency</a:t>
            </a:r>
            <a:r>
              <a:rPr lang="zh-CN" altLang="en-US" dirty="0"/>
              <a:t>提供的能力</a:t>
            </a:r>
            <a:endParaRPr lang="en-US" dirty="0"/>
          </a:p>
        </p:txBody>
      </p:sp>
      <p:pic>
        <p:nvPicPr>
          <p:cNvPr id="7" name="内容占位符 6">
            <a:extLst>
              <a:ext uri="{FF2B5EF4-FFF2-40B4-BE49-F238E27FC236}">
                <a16:creationId xmlns:a16="http://schemas.microsoft.com/office/drawing/2014/main" id="{B172CD5A-E255-46A3-B149-7E5EC8B0ABBD}"/>
              </a:ext>
            </a:extLst>
          </p:cNvPr>
          <p:cNvPicPr>
            <a:picLocks noGrp="1" noChangeAspect="1"/>
          </p:cNvPicPr>
          <p:nvPr>
            <p:ph idx="1"/>
          </p:nvPr>
        </p:nvPicPr>
        <p:blipFill>
          <a:blip r:embed="rId3"/>
          <a:stretch>
            <a:fillRect/>
          </a:stretch>
        </p:blipFill>
        <p:spPr>
          <a:xfrm>
            <a:off x="949911" y="1376038"/>
            <a:ext cx="10227075" cy="5291091"/>
          </a:xfrm>
        </p:spPr>
      </p:pic>
    </p:spTree>
    <p:extLst>
      <p:ext uri="{BB962C8B-B14F-4D97-AF65-F5344CB8AC3E}">
        <p14:creationId xmlns:p14="http://schemas.microsoft.com/office/powerpoint/2010/main" val="762090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7EE812-53E9-07A2-C368-4B2EE0BAB3B6}"/>
              </a:ext>
            </a:extLst>
          </p:cNvPr>
          <p:cNvSpPr>
            <a:spLocks noGrp="1"/>
          </p:cNvSpPr>
          <p:nvPr>
            <p:ph type="title"/>
          </p:nvPr>
        </p:nvSpPr>
        <p:spPr>
          <a:xfrm>
            <a:off x="838200" y="2857116"/>
            <a:ext cx="10515600" cy="1325563"/>
          </a:xfrm>
        </p:spPr>
        <p:txBody>
          <a:bodyPr/>
          <a:lstStyle/>
          <a:p>
            <a:pPr algn="ctr"/>
            <a:r>
              <a:rPr lang="zh-CN" altLang="en-US" dirty="0"/>
              <a:t>谢谢！</a:t>
            </a:r>
            <a:endParaRPr lang="en-US" dirty="0"/>
          </a:p>
        </p:txBody>
      </p:sp>
    </p:spTree>
    <p:extLst>
      <p:ext uri="{BB962C8B-B14F-4D97-AF65-F5344CB8AC3E}">
        <p14:creationId xmlns:p14="http://schemas.microsoft.com/office/powerpoint/2010/main" val="284224083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1764</TotalTime>
  <Words>1630</Words>
  <Application>Microsoft Office PowerPoint</Application>
  <PresentationFormat>宽屏</PresentationFormat>
  <Paragraphs>124</Paragraphs>
  <Slides>13</Slides>
  <Notes>9</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13</vt:i4>
      </vt:variant>
    </vt:vector>
  </HeadingPairs>
  <TitlesOfParts>
    <vt:vector size="17" baseType="lpstr">
      <vt:lpstr>Aptos</vt:lpstr>
      <vt:lpstr>Aptos Display</vt:lpstr>
      <vt:lpstr>Arial</vt:lpstr>
      <vt:lpstr>Office 主题​​</vt:lpstr>
      <vt:lpstr>SageMaker Hyperpod训练相关feature</vt:lpstr>
      <vt:lpstr>Elastic training</vt:lpstr>
      <vt:lpstr>Continue…..</vt:lpstr>
      <vt:lpstr>Continue…..</vt:lpstr>
      <vt:lpstr>Continue…..</vt:lpstr>
      <vt:lpstr>Checkpointless training</vt:lpstr>
      <vt:lpstr>Continue…..</vt:lpstr>
      <vt:lpstr>Continue…….</vt:lpstr>
      <vt:lpstr>Continue….</vt:lpstr>
      <vt:lpstr>Managed tiered checkpointing </vt:lpstr>
      <vt:lpstr>Resiliency实现的核心因素</vt:lpstr>
      <vt:lpstr>SMHP Resiliency提供的能力</vt:lpstr>
      <vt:lpstr>谢谢！</vt:lpstr>
    </vt:vector>
  </TitlesOfParts>
  <Company>Amazon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Liang, Yuhui</dc:creator>
  <cp:lastModifiedBy>Liang, Yuhui</cp:lastModifiedBy>
  <cp:revision>66</cp:revision>
  <dcterms:created xsi:type="dcterms:W3CDTF">2026-01-24T08:09:55Z</dcterms:created>
  <dcterms:modified xsi:type="dcterms:W3CDTF">2026-05-19T06:11:51Z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2026-01-24T08:26:10Z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b4933f58-c8c5-4281-b31b-72e7e19d8ce2</vt:lpwstr>
  </property>
  <property fmtid="{D5CDD505-2E9C-101B-9397-08002B2CF9AE}" pid="8" name="MSIP_Label_19e68092-05df-4271-8e3e-b2a4c82ba797_ContentBits">
    <vt:lpwstr>0</vt:lpwstr>
  </property>
  <property fmtid="{D5CDD505-2E9C-101B-9397-08002B2CF9AE}" pid="9" name="MSIP_Label_19e68092-05df-4271-8e3e-b2a4c82ba797_Tag">
    <vt:lpwstr>10, 3, 0, 1</vt:lpwstr>
  </property>
</Properties>
</file>