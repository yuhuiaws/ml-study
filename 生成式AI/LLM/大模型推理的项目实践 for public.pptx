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0"/>
  </p:notesMasterIdLst>
  <p:sldIdLst>
    <p:sldId id="256" r:id="rId2"/>
    <p:sldId id="257" r:id="rId3"/>
    <p:sldId id="330" r:id="rId4"/>
    <p:sldId id="261" r:id="rId5"/>
    <p:sldId id="262" r:id="rId6"/>
    <p:sldId id="331" r:id="rId7"/>
    <p:sldId id="333" r:id="rId8"/>
    <p:sldId id="267" r:id="rId9"/>
    <p:sldId id="268" r:id="rId10"/>
    <p:sldId id="269" r:id="rId11"/>
    <p:sldId id="356" r:id="rId12"/>
    <p:sldId id="357" r:id="rId13"/>
    <p:sldId id="264" r:id="rId14"/>
    <p:sldId id="266" r:id="rId15"/>
    <p:sldId id="335" r:id="rId16"/>
    <p:sldId id="282" r:id="rId17"/>
    <p:sldId id="283" r:id="rId18"/>
    <p:sldId id="284" r:id="rId19"/>
    <p:sldId id="338" r:id="rId20"/>
    <p:sldId id="285" r:id="rId21"/>
    <p:sldId id="339" r:id="rId22"/>
    <p:sldId id="286" r:id="rId23"/>
    <p:sldId id="287" r:id="rId24"/>
    <p:sldId id="288" r:id="rId25"/>
    <p:sldId id="272" r:id="rId26"/>
    <p:sldId id="321" r:id="rId27"/>
    <p:sldId id="340" r:id="rId28"/>
    <p:sldId id="296" r:id="rId29"/>
    <p:sldId id="289" r:id="rId30"/>
    <p:sldId id="295" r:id="rId31"/>
    <p:sldId id="342" r:id="rId32"/>
    <p:sldId id="290" r:id="rId33"/>
    <p:sldId id="291" r:id="rId34"/>
    <p:sldId id="292" r:id="rId35"/>
    <p:sldId id="343" r:id="rId36"/>
    <p:sldId id="293" r:id="rId37"/>
    <p:sldId id="344" r:id="rId38"/>
    <p:sldId id="353" r:id="rId39"/>
    <p:sldId id="354" r:id="rId40"/>
    <p:sldId id="355" r:id="rId41"/>
    <p:sldId id="329" r:id="rId42"/>
    <p:sldId id="294" r:id="rId43"/>
    <p:sldId id="298" r:id="rId44"/>
    <p:sldId id="304" r:id="rId45"/>
    <p:sldId id="303" r:id="rId46"/>
    <p:sldId id="305" r:id="rId47"/>
    <p:sldId id="299" r:id="rId48"/>
    <p:sldId id="307" r:id="rId49"/>
    <p:sldId id="308" r:id="rId50"/>
    <p:sldId id="347" r:id="rId51"/>
    <p:sldId id="311" r:id="rId52"/>
    <p:sldId id="345" r:id="rId53"/>
    <p:sldId id="312" r:id="rId54"/>
    <p:sldId id="346" r:id="rId55"/>
    <p:sldId id="314" r:id="rId56"/>
    <p:sldId id="300" r:id="rId57"/>
    <p:sldId id="301" r:id="rId58"/>
    <p:sldId id="302" r:id="rId59"/>
    <p:sldId id="328" r:id="rId60"/>
    <p:sldId id="322" r:id="rId61"/>
    <p:sldId id="323" r:id="rId62"/>
    <p:sldId id="350" r:id="rId63"/>
    <p:sldId id="324" r:id="rId64"/>
    <p:sldId id="349" r:id="rId65"/>
    <p:sldId id="348" r:id="rId66"/>
    <p:sldId id="325" r:id="rId67"/>
    <p:sldId id="315" r:id="rId68"/>
    <p:sldId id="316" r:id="rId69"/>
    <p:sldId id="317" r:id="rId70"/>
    <p:sldId id="320" r:id="rId71"/>
    <p:sldId id="318" r:id="rId72"/>
    <p:sldId id="273" r:id="rId73"/>
    <p:sldId id="271" r:id="rId74"/>
    <p:sldId id="274" r:id="rId75"/>
    <p:sldId id="270" r:id="rId76"/>
    <p:sldId id="275" r:id="rId77"/>
    <p:sldId id="332" r:id="rId78"/>
    <p:sldId id="281" r:id="rId7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6553" autoAdjust="0"/>
  </p:normalViewPr>
  <p:slideViewPr>
    <p:cSldViewPr snapToGrid="0">
      <p:cViewPr varScale="1">
        <p:scale>
          <a:sx n="55" d="100"/>
          <a:sy n="55" d="100"/>
        </p:scale>
        <p:origin x="1083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tableStyles" Target="tableStyle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7B40D6-90B5-4EF9-B784-B78A4E3AD684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5E3C63-A0D3-44A4-8EDA-6267A2E945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22369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tgroup/sglang/pull/4" TargetMode="External"/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5E3C63-A0D3-44A4-8EDA-6267A2E945F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25456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5E3C63-A0D3-44A4-8EDA-6267A2E945F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76217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5E3C63-A0D3-44A4-8EDA-6267A2E945F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77678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5E3C63-A0D3-44A4-8EDA-6267A2E945F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856224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5E3C63-A0D3-44A4-8EDA-6267A2E945F9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09753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 err="1"/>
              <a:t>DeepGEMM</a:t>
            </a:r>
            <a:r>
              <a:rPr lang="zh-CN" altLang="en-US" dirty="0"/>
              <a:t>是一个</a:t>
            </a:r>
            <a:r>
              <a:rPr lang="en-US" altLang="zh-CN" dirty="0"/>
              <a:t>JIT</a:t>
            </a:r>
            <a:r>
              <a:rPr lang="zh-CN" altLang="en-US" dirty="0"/>
              <a:t>（即时编译）的</a:t>
            </a:r>
            <a:r>
              <a:rPr lang="en-US" altLang="zh-CN" dirty="0"/>
              <a:t>GEMM</a:t>
            </a:r>
            <a:r>
              <a:rPr lang="zh-CN" altLang="en-US" dirty="0"/>
              <a:t>库。根据实际的矩阵形状在运行时动态生成并编译</a:t>
            </a:r>
            <a:r>
              <a:rPr lang="en-US" altLang="zh-CN" dirty="0"/>
              <a:t>CUDA kernel</a:t>
            </a:r>
            <a:r>
              <a:rPr lang="zh-CN" altLang="en-US" dirty="0"/>
              <a:t>。为了减少运行时编译带入的延迟，就有了</a:t>
            </a:r>
            <a:r>
              <a:rPr lang="en-US" altLang="zh-CN" dirty="0" err="1"/>
              <a:t>DeepGemm</a:t>
            </a:r>
            <a:r>
              <a:rPr lang="en-US" altLang="zh-CN" dirty="0"/>
              <a:t> warmup</a:t>
            </a:r>
            <a:r>
              <a:rPr lang="zh-CN" altLang="en-US" dirty="0"/>
              <a:t>。</a:t>
            </a:r>
            <a:r>
              <a:rPr lang="en-US" altLang="zh-CN" dirty="0" err="1"/>
              <a:t>DeepGemm</a:t>
            </a:r>
            <a:r>
              <a:rPr lang="en-US" altLang="zh-CN" dirty="0"/>
              <a:t> warmup</a:t>
            </a:r>
            <a:r>
              <a:rPr lang="zh-CN" altLang="en-US" dirty="0"/>
              <a:t>的本质：</a:t>
            </a:r>
            <a:r>
              <a:rPr lang="zh-CN" altLang="en-US" b="1" dirty="0"/>
              <a:t>把</a:t>
            </a:r>
            <a:r>
              <a:rPr lang="en-US" altLang="zh-CN" b="1" dirty="0"/>
              <a:t>"</a:t>
            </a:r>
            <a:r>
              <a:rPr lang="zh-CN" altLang="en-US" b="1" dirty="0"/>
              <a:t>编译</a:t>
            </a:r>
            <a:r>
              <a:rPr lang="en-US" altLang="zh-CN" b="1" dirty="0"/>
              <a:t>kernel"</a:t>
            </a:r>
            <a:r>
              <a:rPr lang="zh-CN" altLang="en-US" b="1" dirty="0"/>
              <a:t>的代价提前付掉，避免推理时第一次碰到新形状卡住</a:t>
            </a:r>
            <a:r>
              <a:rPr lang="zh-CN" altLang="en-US" dirty="0"/>
              <a:t>。</a:t>
            </a:r>
            <a:endParaRPr lang="en-US" altLang="zh-CN" dirty="0"/>
          </a:p>
          <a:p>
            <a:endParaRPr lang="en-US" dirty="0"/>
          </a:p>
          <a:p>
            <a:r>
              <a:rPr lang="en-US" dirty="0"/>
              <a:t>CUDA Graph Capture：</a:t>
            </a:r>
            <a:r>
              <a:rPr lang="zh-CN" altLang="en-US" dirty="0"/>
              <a:t>正常推理时，</a:t>
            </a:r>
            <a:r>
              <a:rPr lang="en-US" dirty="0"/>
              <a:t>CPU</a:t>
            </a:r>
            <a:r>
              <a:rPr lang="zh-CN" altLang="en-US" dirty="0"/>
              <a:t>每个算子都要：选</a:t>
            </a:r>
            <a:r>
              <a:rPr lang="en-US" dirty="0"/>
              <a:t>kernel → </a:t>
            </a:r>
            <a:r>
              <a:rPr lang="zh-CN" altLang="en-US" dirty="0"/>
              <a:t>设置参数 → </a:t>
            </a:r>
            <a:r>
              <a:rPr lang="en-US" dirty="0"/>
              <a:t>launch → </a:t>
            </a:r>
            <a:r>
              <a:rPr lang="zh-CN" altLang="en-US" dirty="0"/>
              <a:t>等</a:t>
            </a:r>
            <a:r>
              <a:rPr lang="en-US" dirty="0"/>
              <a:t>GPU</a:t>
            </a:r>
            <a:r>
              <a:rPr lang="zh-CN" altLang="en-US" dirty="0"/>
              <a:t>完成 → 下一个。对于</a:t>
            </a:r>
            <a:r>
              <a:rPr lang="en-US" dirty="0"/>
              <a:t>decode</a:t>
            </a:r>
            <a:r>
              <a:rPr lang="zh-CN" altLang="en-US" dirty="0"/>
              <a:t>阶段（</a:t>
            </a:r>
            <a:r>
              <a:rPr lang="en-US" dirty="0"/>
              <a:t>batch</a:t>
            </a:r>
            <a:r>
              <a:rPr lang="zh-CN" altLang="en-US" dirty="0"/>
              <a:t>小、计算快），</a:t>
            </a:r>
            <a:r>
              <a:rPr lang="en-US" dirty="0"/>
              <a:t>kernel launch</a:t>
            </a:r>
            <a:r>
              <a:rPr lang="zh-CN" altLang="en-US" dirty="0"/>
              <a:t>的</a:t>
            </a:r>
            <a:r>
              <a:rPr lang="en-US" dirty="0"/>
              <a:t>CPU</a:t>
            </a:r>
            <a:r>
              <a:rPr lang="zh-CN" altLang="en-US" dirty="0"/>
              <a:t>开销占比很大。</a:t>
            </a:r>
            <a:br>
              <a:rPr lang="zh-CN" altLang="en-US" dirty="0"/>
            </a:br>
            <a:br>
              <a:rPr lang="zh-CN" altLang="en-US" dirty="0"/>
            </a:br>
            <a:r>
              <a:rPr lang="en-US" dirty="0"/>
              <a:t>CUDA Graph</a:t>
            </a:r>
            <a:r>
              <a:rPr lang="zh-CN" altLang="en-US" dirty="0"/>
              <a:t>的做法：</a:t>
            </a:r>
            <a:br>
              <a:rPr lang="zh-CN" altLang="en-US" dirty="0"/>
            </a:br>
            <a:r>
              <a:rPr lang="en-US" dirty="0">
                <a:effectLst/>
              </a:rPr>
              <a:t>Capture</a:t>
            </a:r>
            <a:r>
              <a:rPr lang="zh-CN" altLang="en-US" dirty="0">
                <a:effectLst/>
              </a:rPr>
              <a:t>阶段：跑一遍完整</a:t>
            </a:r>
            <a:r>
              <a:rPr lang="en-US" dirty="0">
                <a:effectLst/>
              </a:rPr>
              <a:t>forward pass，</a:t>
            </a:r>
            <a:r>
              <a:rPr lang="zh-CN" altLang="en-US" dirty="0">
                <a:effectLst/>
              </a:rPr>
              <a:t>不真正计算，而是录制所有</a:t>
            </a:r>
            <a:r>
              <a:rPr lang="en-US" dirty="0">
                <a:effectLst/>
              </a:rPr>
              <a:t>CUDA</a:t>
            </a:r>
            <a:r>
              <a:rPr lang="zh-CN" altLang="en-US" dirty="0">
                <a:effectLst/>
              </a:rPr>
              <a:t>操作（</a:t>
            </a:r>
            <a:r>
              <a:rPr lang="en-US" dirty="0">
                <a:effectLst/>
              </a:rPr>
              <a:t>kernel</a:t>
            </a:r>
            <a:r>
              <a:rPr lang="zh-CN" altLang="en-US" dirty="0">
                <a:effectLst/>
              </a:rPr>
              <a:t>调用、内存地址、参数）到一个</a:t>
            </a:r>
            <a:r>
              <a:rPr lang="en-US" altLang="zh-CN" dirty="0">
                <a:effectLst/>
              </a:rPr>
              <a:t>"</a:t>
            </a:r>
            <a:r>
              <a:rPr lang="zh-CN" altLang="en-US" dirty="0">
                <a:effectLst/>
              </a:rPr>
              <a:t>图</a:t>
            </a:r>
            <a:r>
              <a:rPr lang="en-US" altLang="zh-CN" dirty="0">
                <a:effectLst/>
              </a:rPr>
              <a:t>"</a:t>
            </a:r>
          </a:p>
          <a:p>
            <a:r>
              <a:rPr lang="en-US" dirty="0">
                <a:effectLst/>
              </a:rPr>
              <a:t>Replay</a:t>
            </a:r>
            <a:r>
              <a:rPr lang="zh-CN" altLang="en-US" dirty="0">
                <a:effectLst/>
              </a:rPr>
              <a:t>阶段：推理时直接</a:t>
            </a:r>
            <a:r>
              <a:rPr lang="en-US" dirty="0">
                <a:effectLst/>
              </a:rPr>
              <a:t>replay</a:t>
            </a:r>
            <a:r>
              <a:rPr lang="zh-CN" altLang="en-US" dirty="0">
                <a:effectLst/>
              </a:rPr>
              <a:t>整个图</a:t>
            </a:r>
            <a:r>
              <a:rPr lang="en-US" altLang="zh-CN" dirty="0">
                <a:effectLst/>
              </a:rPr>
              <a:t>——</a:t>
            </a:r>
            <a:r>
              <a:rPr lang="zh-CN" altLang="en-US" dirty="0">
                <a:effectLst/>
              </a:rPr>
              <a:t>一次</a:t>
            </a:r>
            <a:r>
              <a:rPr lang="en-US" dirty="0">
                <a:effectLst/>
              </a:rPr>
              <a:t>CPU</a:t>
            </a:r>
            <a:r>
              <a:rPr lang="zh-CN" altLang="en-US" dirty="0">
                <a:effectLst/>
              </a:rPr>
              <a:t>调用触发整个</a:t>
            </a:r>
            <a:r>
              <a:rPr lang="en-US" dirty="0">
                <a:effectLst/>
              </a:rPr>
              <a:t>forward pass</a:t>
            </a:r>
            <a:r>
              <a:rPr lang="zh-CN" altLang="en-US" dirty="0">
                <a:effectLst/>
              </a:rPr>
              <a:t>的所有</a:t>
            </a:r>
            <a:r>
              <a:rPr lang="en-US" dirty="0" err="1">
                <a:effectLst/>
              </a:rPr>
              <a:t>kernel，GPU</a:t>
            </a:r>
            <a:r>
              <a:rPr lang="zh-CN" altLang="en-US" dirty="0">
                <a:effectLst/>
              </a:rPr>
              <a:t>端连续执行无停顿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CUDA Graph Capture</a:t>
            </a:r>
            <a:r>
              <a:rPr lang="zh-CN" altLang="en-US" dirty="0"/>
              <a:t>的本质：用</a:t>
            </a:r>
            <a:r>
              <a:rPr lang="en-US" altLang="zh-CN" dirty="0"/>
              <a:t>"</a:t>
            </a:r>
            <a:r>
              <a:rPr lang="zh-CN" altLang="en-US" dirty="0"/>
              <a:t>预录制</a:t>
            </a:r>
            <a:r>
              <a:rPr lang="en-US" altLang="zh-CN" dirty="0"/>
              <a:t>+</a:t>
            </a:r>
            <a:r>
              <a:rPr lang="zh-CN" altLang="en-US" dirty="0"/>
              <a:t>一键回放</a:t>
            </a:r>
            <a:r>
              <a:rPr lang="en-US" altLang="zh-CN" dirty="0"/>
              <a:t>"</a:t>
            </a:r>
            <a:r>
              <a:rPr lang="zh-CN" altLang="en-US" dirty="0"/>
              <a:t>替代</a:t>
            </a:r>
            <a:r>
              <a:rPr lang="en-US" altLang="zh-CN" dirty="0"/>
              <a:t>"</a:t>
            </a:r>
            <a:r>
              <a:rPr lang="zh-CN" altLang="en-US" dirty="0"/>
              <a:t>逐个</a:t>
            </a:r>
            <a:r>
              <a:rPr lang="en-US" dirty="0"/>
              <a:t>launch"，</a:t>
            </a:r>
            <a:r>
              <a:rPr lang="zh-CN" altLang="en-US" b="1" dirty="0"/>
              <a:t>以额外的显存换取低延迟</a:t>
            </a:r>
            <a:r>
              <a:rPr lang="zh-CN" altLang="en-US" dirty="0"/>
              <a:t>。</a:t>
            </a:r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5E3C63-A0D3-44A4-8EDA-6267A2E945F9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273709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zh-CN" altLang="en-US" dirty="0"/>
            </a:b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对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DeepSeek-V3/V4 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来说，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non-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"dense"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部分包括：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- Embedding 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层 →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Vocab Parallel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（按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attention TP group 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切分词表维度）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- Layer 0 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MLP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（仅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V3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）→ 受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--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-dense-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tp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-size 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控制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- 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每层的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Attention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MLA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） → 按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attention TP group 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切分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- LM Head 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→ 和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Embedding 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共享或独立的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Vocab Parallel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-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RMSNorm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层 → 不切分（每个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rank 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完整副本）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这些都不属于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dense"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的范畴，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--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-dense-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tp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-size 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只管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_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is_layer_sparse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=False 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的那些层的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MLP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，不控制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shared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moe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endParaRPr lang="en-US" altLang="zh-C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CN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根据模型配置和 </a:t>
            </a:r>
            <a:r>
              <a:rPr lang="en-US" altLang="zh-CN" sz="1200" b="1" kern="1200" dirty="0">
                <a:solidFill>
                  <a:srgbClr val="FF0000"/>
                </a:solidFill>
                <a:effectLst/>
                <a:latin typeface="+mn-lt"/>
                <a:ea typeface="+mn-ea"/>
                <a:cs typeface="+mn-cs"/>
              </a:rPr>
              <a:t>_</a:t>
            </a:r>
            <a:r>
              <a:rPr lang="en-US" sz="1200" b="1" kern="1200" dirty="0" err="1">
                <a:solidFill>
                  <a:srgbClr val="FF0000"/>
                </a:solidFill>
                <a:effectLst/>
                <a:latin typeface="+mn-lt"/>
                <a:ea typeface="+mn-ea"/>
                <a:cs typeface="+mn-cs"/>
              </a:rPr>
              <a:t>is_layer_sparse</a:t>
            </a:r>
            <a:r>
              <a:rPr lang="en-US" sz="1200" b="1" kern="1200" dirty="0">
                <a:solidFill>
                  <a:srgbClr val="FF0000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的判断逻辑：</a:t>
            </a:r>
          </a:p>
          <a:p>
            <a:endParaRPr lang="zh-CN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is_sparse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layer_id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&gt;=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first_k_dense_replace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layer_id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%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moe_layer_freq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== 0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DeepSeek-V3（first_k_dense_replace=1,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moe_layer_freq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num_hidden_layers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=61）：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- Dense 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层：只有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layer 0（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第一层）</a:t>
            </a:r>
            <a:r>
              <a:rPr lang="en-US" altLang="zh-CN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—— 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使用普通的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DeepseekV2MLP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- Sparse/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层：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layer 1~60（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共 </a:t>
            </a:r>
            <a:r>
              <a:rPr lang="en-US" altLang="zh-CN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60 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层）</a:t>
            </a:r>
            <a:r>
              <a:rPr lang="en-US" altLang="zh-CN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—— 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使用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DeepseekV2MoE（routed experts + shared expert）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DeepSeek-V4（first_k_dense_replace=0,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moe_layer_freq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=1,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num_hidden_layers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=43）：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- Dense 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层：</a:t>
            </a:r>
            <a:r>
              <a:rPr lang="en-US" altLang="zh-CN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0 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个 </a:t>
            </a:r>
            <a:r>
              <a:rPr lang="en-US" altLang="zh-CN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—— 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所有层都是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MoE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- Sparse/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层：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layer 0~42（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全部 </a:t>
            </a:r>
            <a:r>
              <a:rPr lang="en-US" altLang="zh-CN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43 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层）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5E3C63-A0D3-44A4-8EDA-6267A2E945F9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01112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更多详细</a:t>
            </a:r>
            <a:r>
              <a:rPr lang="en-US" altLang="zh-CN" dirty="0"/>
              <a:t>benchmark</a:t>
            </a:r>
            <a:r>
              <a:rPr lang="zh-CN" altLang="en-US" dirty="0"/>
              <a:t>结果参考：</a:t>
            </a:r>
            <a:r>
              <a:rPr lang="en-US" altLang="zh-CN" dirty="0"/>
              <a:t>https://amzn-chn.feishu.cn/wiki/WwliwHRZniQLynkMj6ecF1RCnjf?from=from_copylink</a:t>
            </a:r>
            <a:r>
              <a:rPr lang="zh-CN" altLang="en-US" dirty="0"/>
              <a:t>， </a:t>
            </a:r>
            <a:r>
              <a:rPr lang="en-US" altLang="zh-CN" dirty="0"/>
              <a:t>https://quip-amazon.com/vVdNAUtgvFQU/GPU-Infra-As-Claude-Code-Skills</a:t>
            </a:r>
          </a:p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5E3C63-A0D3-44A4-8EDA-6267A2E945F9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992101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更多内容请参考：</a:t>
            </a:r>
            <a:r>
              <a:rPr lang="en-US" altLang="zh-CN" dirty="0"/>
              <a:t>https://amzn-chn.feishu.cn/wiki/RAA6wH5c7iY2M8kfmVccc4JknDd?from=from_copylink</a:t>
            </a:r>
          </a:p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5E3C63-A0D3-44A4-8EDA-6267A2E945F9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089783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5E3C63-A0D3-44A4-8EDA-6267A2E945F9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809146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环境：</a:t>
            </a:r>
          </a:p>
          <a:p>
            <a:pPr lvl="1"/>
            <a:r>
              <a:rPr lang="zh-CN" altLang="en-US" dirty="0">
                <a:effectLst/>
              </a:rPr>
              <a:t>硬件</a:t>
            </a:r>
            <a:r>
              <a:rPr lang="en-US" altLang="zh-CN" dirty="0">
                <a:effectLst/>
              </a:rPr>
              <a:t>: </a:t>
            </a:r>
            <a:r>
              <a:rPr lang="en-US" dirty="0">
                <a:effectLst/>
              </a:rPr>
              <a:t>P6-b200.48xlarge </a:t>
            </a:r>
            <a:r>
              <a:rPr lang="zh-CN" altLang="en-US" dirty="0">
                <a:effectLst/>
              </a:rPr>
              <a:t>实例</a:t>
            </a:r>
          </a:p>
          <a:p>
            <a:pPr lvl="1"/>
            <a:r>
              <a:rPr lang="zh-CN" altLang="en-US" dirty="0">
                <a:effectLst/>
              </a:rPr>
              <a:t>模型</a:t>
            </a:r>
            <a:r>
              <a:rPr lang="en-US" altLang="zh-CN" dirty="0">
                <a:effectLst/>
              </a:rPr>
              <a:t>: </a:t>
            </a:r>
            <a:r>
              <a:rPr lang="en-US" dirty="0">
                <a:effectLst/>
              </a:rPr>
              <a:t>Deepseek-v3 FP8</a:t>
            </a:r>
          </a:p>
          <a:p>
            <a:pPr lvl="1"/>
            <a:r>
              <a:rPr lang="en-US" dirty="0">
                <a:effectLst/>
              </a:rPr>
              <a:t>GPU</a:t>
            </a:r>
            <a:r>
              <a:rPr lang="zh-CN" altLang="en-US" dirty="0">
                <a:effectLst/>
              </a:rPr>
              <a:t>平台：</a:t>
            </a:r>
            <a:r>
              <a:rPr lang="en-US" dirty="0">
                <a:effectLst/>
              </a:rPr>
              <a:t>AWS EKS</a:t>
            </a:r>
          </a:p>
          <a:p>
            <a:pPr lvl="1"/>
            <a:r>
              <a:rPr lang="zh-CN" altLang="en-US" dirty="0">
                <a:effectLst/>
              </a:rPr>
              <a:t>推理框架： </a:t>
            </a:r>
            <a:r>
              <a:rPr lang="en-US" dirty="0" err="1">
                <a:effectLst/>
              </a:rPr>
              <a:t>SGLang</a:t>
            </a:r>
            <a:r>
              <a:rPr lang="en-US" dirty="0">
                <a:effectLst/>
              </a:rPr>
              <a:t>-dev（</a:t>
            </a:r>
            <a:r>
              <a:rPr lang="zh-CN" altLang="en-US" dirty="0">
                <a:effectLst/>
              </a:rPr>
              <a:t>最新的</a:t>
            </a:r>
            <a:r>
              <a:rPr lang="en-US" dirty="0">
                <a:effectLst/>
              </a:rPr>
              <a:t>dev</a:t>
            </a:r>
            <a:r>
              <a:rPr lang="zh-CN" altLang="en-US" dirty="0">
                <a:effectLst/>
              </a:rPr>
              <a:t>分支） </a:t>
            </a:r>
            <a:r>
              <a:rPr lang="en-US" altLang="zh-CN" dirty="0">
                <a:effectLst/>
              </a:rPr>
              <a:t>+ </a:t>
            </a:r>
            <a:r>
              <a:rPr lang="en-US" dirty="0">
                <a:effectLst/>
              </a:rPr>
              <a:t>Cuda 130 + NIXL 1.0.0 </a:t>
            </a:r>
            <a:r>
              <a:rPr lang="en-US" dirty="0" err="1">
                <a:effectLst/>
              </a:rPr>
              <a:t>libfabric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backend（KV</a:t>
            </a:r>
            <a:r>
              <a:rPr lang="en-US" dirty="0">
                <a:effectLst/>
              </a:rPr>
              <a:t> transfer engine）</a:t>
            </a:r>
          </a:p>
          <a:p>
            <a:pPr lvl="1"/>
            <a:r>
              <a:rPr lang="zh-CN" altLang="en-US" dirty="0">
                <a:effectLst/>
              </a:rPr>
              <a:t>测试框架：</a:t>
            </a:r>
            <a:r>
              <a:rPr lang="en-US" dirty="0" err="1">
                <a:effectLst/>
              </a:rPr>
              <a:t>SGLang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bench_serving</a:t>
            </a:r>
            <a:endParaRPr lang="en-US" dirty="0">
              <a:effectLst/>
            </a:endParaRPr>
          </a:p>
          <a:p>
            <a:pPr lvl="1"/>
            <a:r>
              <a:rPr lang="en-US" dirty="0"/>
              <a:t>EFA installer：1.47.0</a:t>
            </a:r>
          </a:p>
          <a:p>
            <a:pPr lvl="1"/>
            <a:r>
              <a:rPr lang="en-US" dirty="0"/>
              <a:t>PD</a:t>
            </a:r>
            <a:r>
              <a:rPr lang="zh-CN" altLang="en-US" dirty="0"/>
              <a:t>分离：</a:t>
            </a:r>
            <a:r>
              <a:rPr lang="en-US" dirty="0"/>
              <a:t>prefill</a:t>
            </a:r>
            <a:r>
              <a:rPr lang="zh-CN" altLang="en-US" dirty="0"/>
              <a:t>节点之间独立（</a:t>
            </a:r>
            <a:r>
              <a:rPr lang="en-US" dirty="0"/>
              <a:t>TP 8 ，EP 1），decode</a:t>
            </a:r>
            <a:r>
              <a:rPr lang="zh-CN" altLang="en-US" dirty="0"/>
              <a:t>节点之间是独立（</a:t>
            </a:r>
            <a:r>
              <a:rPr lang="en-US" dirty="0"/>
              <a:t>TP 8 ，EP 1）。</a:t>
            </a:r>
          </a:p>
          <a:p>
            <a:pPr lvl="2"/>
            <a:r>
              <a:rPr lang="zh-CN" altLang="en-US" b="1" dirty="0"/>
              <a:t>资源和时间的原因，只是测试了在</a:t>
            </a:r>
            <a:r>
              <a:rPr lang="en-US" b="1" dirty="0"/>
              <a:t>TP8</a:t>
            </a:r>
            <a:r>
              <a:rPr lang="zh-CN" altLang="en-US" b="1" dirty="0"/>
              <a:t>且</a:t>
            </a:r>
            <a:r>
              <a:rPr lang="en-US" b="1" dirty="0"/>
              <a:t>EP1</a:t>
            </a:r>
            <a:r>
              <a:rPr lang="zh-CN" altLang="en-US" b="1" dirty="0"/>
              <a:t>部署的情况</a:t>
            </a:r>
            <a:r>
              <a:rPr lang="zh-CN" altLang="en-US" dirty="0"/>
              <a:t>。</a:t>
            </a:r>
          </a:p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5E3C63-A0D3-44A4-8EDA-6267A2E945F9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771036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5E3C63-A0D3-44A4-8EDA-6267A2E945F9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50433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5E3C63-A0D3-44A4-8EDA-6267A2E945F9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055187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5E3C63-A0D3-44A4-8EDA-6267A2E945F9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803760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5E3C63-A0D3-44A4-8EDA-6267A2E945F9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454190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图中的</a:t>
            </a:r>
            <a:r>
              <a:rPr lang="en-US" altLang="zh-CN" dirty="0"/>
              <a:t>D: UCCL-EP</a:t>
            </a:r>
            <a:r>
              <a:rPr lang="zh-CN" altLang="en-US" dirty="0"/>
              <a:t>指的是两节点</a:t>
            </a:r>
            <a:r>
              <a:rPr lang="en-US" altLang="zh-CN" dirty="0"/>
              <a:t>Non-PD</a:t>
            </a:r>
            <a:r>
              <a:rPr lang="zh-CN" altLang="en-US" dirty="0"/>
              <a:t>部署且</a:t>
            </a:r>
            <a:r>
              <a:rPr lang="en-US" altLang="zh-CN" dirty="0"/>
              <a:t>EP</a:t>
            </a:r>
            <a:r>
              <a:rPr lang="zh-CN" altLang="en-US" dirty="0"/>
              <a:t>并行使用了</a:t>
            </a:r>
            <a:r>
              <a:rPr lang="en-US" altLang="zh-CN" dirty="0"/>
              <a:t>UCCL-EP</a:t>
            </a:r>
            <a:r>
              <a:rPr lang="zh-CN" altLang="en-US" dirty="0"/>
              <a:t>。</a:t>
            </a:r>
            <a:endParaRPr lang="en-US" altLang="zh-CN" dirty="0"/>
          </a:p>
          <a:p>
            <a:r>
              <a:rPr lang="zh-CN" altLang="en-US" dirty="0"/>
              <a:t>图中的</a:t>
            </a:r>
            <a:r>
              <a:rPr lang="en-US" altLang="zh-CN" dirty="0"/>
              <a:t>2P2D-DLC</a:t>
            </a:r>
            <a:r>
              <a:rPr lang="zh-CN" altLang="en-US" dirty="0"/>
              <a:t>指的是</a:t>
            </a:r>
            <a:r>
              <a:rPr lang="en-US" altLang="zh-CN" dirty="0"/>
              <a:t>prefill node</a:t>
            </a:r>
            <a:r>
              <a:rPr lang="zh-CN" altLang="en-US" dirty="0"/>
              <a:t>之间用了</a:t>
            </a:r>
            <a:r>
              <a:rPr lang="en-US" altLang="zh-CN" dirty="0" err="1"/>
              <a:t>ucclep</a:t>
            </a:r>
            <a:r>
              <a:rPr lang="zh-CN" altLang="en-US" dirty="0"/>
              <a:t>，</a:t>
            </a:r>
            <a:r>
              <a:rPr lang="en-US" altLang="zh-CN" dirty="0"/>
              <a:t>decode node</a:t>
            </a:r>
            <a:r>
              <a:rPr lang="zh-CN" altLang="en-US" dirty="0"/>
              <a:t>之间也用了</a:t>
            </a:r>
            <a:r>
              <a:rPr lang="en-US" altLang="zh-CN" dirty="0" err="1"/>
              <a:t>ucclep</a:t>
            </a:r>
            <a:endParaRPr lang="en-US" altLang="zh-CN" dirty="0"/>
          </a:p>
          <a:p>
            <a:r>
              <a:rPr lang="zh-CN" altLang="en-US" dirty="0"/>
              <a:t>图中的</a:t>
            </a:r>
            <a:r>
              <a:rPr lang="en-US" altLang="zh-CN" dirty="0"/>
              <a:t>2P2D simple</a:t>
            </a:r>
            <a:r>
              <a:rPr lang="zh-CN" altLang="en-US" dirty="0"/>
              <a:t>指的是</a:t>
            </a:r>
            <a:r>
              <a:rPr lang="en-US" altLang="zh-CN" dirty="0"/>
              <a:t>prefill node</a:t>
            </a:r>
            <a:r>
              <a:rPr lang="zh-CN" altLang="en-US" dirty="0"/>
              <a:t>是独立的，</a:t>
            </a:r>
            <a:r>
              <a:rPr lang="en-US" altLang="zh-CN" dirty="0"/>
              <a:t>decode node</a:t>
            </a:r>
            <a:r>
              <a:rPr lang="zh-CN" altLang="en-US" dirty="0"/>
              <a:t>之间用了</a:t>
            </a:r>
            <a:r>
              <a:rPr lang="en-US" altLang="zh-CN" dirty="0" err="1"/>
              <a:t>ucclep</a:t>
            </a:r>
            <a:r>
              <a:rPr lang="zh-CN" altLang="en-US" dirty="0"/>
              <a:t>。</a:t>
            </a:r>
            <a:endParaRPr lang="en-US" altLang="zh-CN" dirty="0"/>
          </a:p>
          <a:p>
            <a:r>
              <a:rPr lang="zh-CN" altLang="en-US" dirty="0"/>
              <a:t>图中的</a:t>
            </a:r>
            <a:r>
              <a:rPr lang="en-US" altLang="zh-CN" dirty="0"/>
              <a:t>1P1D-LF</a:t>
            </a:r>
            <a:r>
              <a:rPr lang="zh-CN" altLang="en-US" dirty="0"/>
              <a:t>指的是</a:t>
            </a:r>
            <a:r>
              <a:rPr lang="en-US" altLang="zh-CN" dirty="0" err="1"/>
              <a:t>nixl</a:t>
            </a:r>
            <a:r>
              <a:rPr lang="en-US" altLang="zh-CN" dirty="0"/>
              <a:t> </a:t>
            </a:r>
            <a:r>
              <a:rPr lang="zh-CN" altLang="en-US" dirty="0"/>
              <a:t>用的</a:t>
            </a:r>
            <a:r>
              <a:rPr lang="en-US" altLang="zh-CN" dirty="0" err="1"/>
              <a:t>libfabric</a:t>
            </a:r>
            <a:r>
              <a:rPr lang="en-US" altLang="zh-CN" dirty="0"/>
              <a:t> backend</a:t>
            </a:r>
            <a:r>
              <a:rPr lang="zh-CN" altLang="en-US" dirty="0"/>
              <a:t>。</a:t>
            </a:r>
            <a:endParaRPr lang="en-US" altLang="zh-CN" dirty="0"/>
          </a:p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5E3C63-A0D3-44A4-8EDA-6267A2E945F9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753905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/>
              <a:t>对于</a:t>
            </a:r>
            <a:r>
              <a:rPr lang="en-US" altLang="zh-CN" dirty="0"/>
              <a:t>4</a:t>
            </a:r>
            <a:r>
              <a:rPr lang="zh-CN" altLang="en-US" dirty="0"/>
              <a:t>节点部署的</a:t>
            </a:r>
            <a:r>
              <a:rPr lang="en-US" altLang="zh-CN" dirty="0"/>
              <a:t>2</a:t>
            </a:r>
            <a:r>
              <a:rPr lang="en-US" dirty="0"/>
              <a:t>P2D</a:t>
            </a:r>
            <a:r>
              <a:rPr lang="zh-CN" altLang="en-US" dirty="0"/>
              <a:t>方案，方案（</a:t>
            </a:r>
            <a:r>
              <a:rPr lang="en-US" altLang="zh-CN" dirty="0"/>
              <a:t>2</a:t>
            </a:r>
            <a:r>
              <a:rPr lang="en-US" dirty="0"/>
              <a:t>P</a:t>
            </a:r>
            <a:r>
              <a:rPr lang="zh-CN" altLang="en-US" dirty="0"/>
              <a:t>是单独的，</a:t>
            </a:r>
            <a:r>
              <a:rPr lang="en-US" altLang="zh-CN" dirty="0"/>
              <a:t>2</a:t>
            </a:r>
            <a:r>
              <a:rPr lang="en-US" dirty="0"/>
              <a:t>D</a:t>
            </a:r>
            <a:r>
              <a:rPr lang="zh-CN" altLang="en-US" dirty="0"/>
              <a:t>之间使用</a:t>
            </a:r>
            <a:r>
              <a:rPr lang="en-US" dirty="0"/>
              <a:t>UCCL-EP low latency mode ）</a:t>
            </a:r>
            <a:r>
              <a:rPr lang="zh-CN" altLang="en-US" dirty="0"/>
              <a:t>比方案（</a:t>
            </a:r>
            <a:r>
              <a:rPr lang="en-US" altLang="zh-CN" dirty="0"/>
              <a:t>2</a:t>
            </a:r>
            <a:r>
              <a:rPr lang="en-US" dirty="0"/>
              <a:t>P</a:t>
            </a:r>
            <a:r>
              <a:rPr lang="zh-CN" altLang="en-US" dirty="0"/>
              <a:t>之间使用</a:t>
            </a:r>
            <a:r>
              <a:rPr lang="en-US" dirty="0"/>
              <a:t>UCCL-EP normal mode，2D</a:t>
            </a:r>
            <a:r>
              <a:rPr lang="zh-CN" altLang="en-US" dirty="0"/>
              <a:t>之间使用</a:t>
            </a:r>
            <a:r>
              <a:rPr lang="en-US" dirty="0"/>
              <a:t>UCCL-EP low latency mode）</a:t>
            </a:r>
            <a:r>
              <a:rPr lang="zh-CN" altLang="en-US" dirty="0"/>
              <a:t>更好。</a:t>
            </a:r>
          </a:p>
          <a:p>
            <a:pPr lvl="0"/>
            <a:r>
              <a:rPr lang="zh-CN" altLang="en-US" dirty="0"/>
              <a:t>这个也和蚂蚁金服针对</a:t>
            </a:r>
            <a:r>
              <a:rPr lang="en-US" dirty="0"/>
              <a:t>deepseek-v3</a:t>
            </a:r>
            <a:r>
              <a:rPr lang="zh-CN" altLang="en-US" dirty="0"/>
              <a:t>使用</a:t>
            </a:r>
            <a:r>
              <a:rPr lang="en-US" altLang="zh-CN" dirty="0"/>
              <a:t>4</a:t>
            </a:r>
            <a:r>
              <a:rPr lang="zh-CN" altLang="en-US" dirty="0"/>
              <a:t>台</a:t>
            </a:r>
            <a:r>
              <a:rPr lang="en-US" dirty="0"/>
              <a:t>H20</a:t>
            </a:r>
            <a:r>
              <a:rPr lang="zh-CN" altLang="en-US" dirty="0"/>
              <a:t>建议的部署方案是一致的结论。</a:t>
            </a:r>
          </a:p>
          <a:p>
            <a:pPr lvl="1"/>
            <a:r>
              <a:rPr lang="zh-CN" altLang="en-US" dirty="0"/>
              <a:t>独立 </a:t>
            </a:r>
            <a:r>
              <a:rPr lang="en-US" dirty="0" err="1"/>
              <a:t>prefill（TP</a:t>
            </a:r>
            <a:r>
              <a:rPr lang="en-US" dirty="0"/>
              <a:t>=8 </a:t>
            </a:r>
            <a:r>
              <a:rPr lang="zh-CN" altLang="en-US" dirty="0"/>
              <a:t>单节点）</a:t>
            </a:r>
            <a:r>
              <a:rPr lang="en-US" altLang="zh-CN" dirty="0"/>
              <a:t>+ </a:t>
            </a:r>
            <a:r>
              <a:rPr lang="en-US" dirty="0" err="1"/>
              <a:t>flashmla</a:t>
            </a:r>
            <a:r>
              <a:rPr lang="en-US" dirty="0"/>
              <a:t> decode </a:t>
            </a:r>
            <a:r>
              <a:rPr lang="zh-CN" altLang="en-US" dirty="0"/>
              <a:t>是 </a:t>
            </a:r>
            <a:r>
              <a:rPr lang="en-US" altLang="zh-CN" dirty="0"/>
              <a:t>2</a:t>
            </a:r>
            <a:r>
              <a:rPr lang="en-US" dirty="0"/>
              <a:t>P2D </a:t>
            </a:r>
            <a:r>
              <a:rPr lang="zh-CN" altLang="en-US" dirty="0"/>
              <a:t>的最优架构，避免 </a:t>
            </a:r>
            <a:r>
              <a:rPr lang="en-US" dirty="0"/>
              <a:t>prefill </a:t>
            </a:r>
            <a:r>
              <a:rPr lang="zh-CN" altLang="en-US" dirty="0"/>
              <a:t>跨节点通信开销，并利用 </a:t>
            </a:r>
            <a:r>
              <a:rPr lang="en-US" dirty="0" err="1"/>
              <a:t>flashmla</a:t>
            </a:r>
            <a:r>
              <a:rPr lang="en-US" dirty="0"/>
              <a:t> </a:t>
            </a:r>
            <a:r>
              <a:rPr lang="zh-CN" altLang="en-US" dirty="0"/>
              <a:t>优化 </a:t>
            </a:r>
            <a:r>
              <a:rPr lang="en-US" dirty="0"/>
              <a:t>MLA decode。</a:t>
            </a:r>
          </a:p>
          <a:p>
            <a:pPr lvl="0"/>
            <a:r>
              <a:rPr lang="en-US" dirty="0"/>
              <a:t>2P2D，P</a:t>
            </a:r>
            <a:r>
              <a:rPr lang="zh-CN" altLang="en-US" dirty="0"/>
              <a:t>之间单独部署，</a:t>
            </a:r>
            <a:r>
              <a:rPr lang="en-US" dirty="0"/>
              <a:t>D</a:t>
            </a:r>
            <a:r>
              <a:rPr lang="zh-CN" altLang="en-US" dirty="0"/>
              <a:t>之间使用</a:t>
            </a:r>
            <a:r>
              <a:rPr lang="en-US" dirty="0"/>
              <a:t>UCCL-EP，</a:t>
            </a:r>
            <a:r>
              <a:rPr lang="zh-CN" altLang="en-US" dirty="0"/>
              <a:t>参数配置基本和蚂蚁</a:t>
            </a:r>
            <a:r>
              <a:rPr lang="en-US" altLang="zh-CN" dirty="0"/>
              <a:t>(</a:t>
            </a:r>
            <a:r>
              <a:rPr lang="en-US" dirty="0">
                <a:hlinkClick r:id="rId3"/>
              </a:rPr>
              <a:t>https://github.com/antgroup/sglang/pull/4</a:t>
            </a:r>
            <a:r>
              <a:rPr lang="en-US" dirty="0"/>
              <a:t>)</a:t>
            </a:r>
            <a:r>
              <a:rPr lang="zh-CN" altLang="en-US" dirty="0"/>
              <a:t>的一个建议类似：</a:t>
            </a:r>
          </a:p>
          <a:p>
            <a:pPr lvl="1"/>
            <a:r>
              <a:rPr lang="zh-CN" altLang="en-US" dirty="0"/>
              <a:t>区别：</a:t>
            </a:r>
            <a:r>
              <a:rPr lang="en-US" dirty="0"/>
              <a:t>disable prefix cache，</a:t>
            </a:r>
            <a:r>
              <a:rPr lang="zh-CN" altLang="en-US" dirty="0"/>
              <a:t>没有使用</a:t>
            </a:r>
            <a:r>
              <a:rPr lang="en-US" dirty="0"/>
              <a:t>speculative</a:t>
            </a:r>
            <a:r>
              <a:rPr lang="zh-CN" altLang="en-US" dirty="0"/>
              <a:t>相关参数，使用的是</a:t>
            </a:r>
            <a:r>
              <a:rPr lang="en-US" dirty="0"/>
              <a:t>H200 GPU，</a:t>
            </a:r>
            <a:r>
              <a:rPr lang="zh-CN" altLang="en-US" dirty="0"/>
              <a:t>使用的</a:t>
            </a:r>
            <a:r>
              <a:rPr lang="en-US" dirty="0"/>
              <a:t>EFA</a:t>
            </a:r>
            <a:r>
              <a:rPr lang="zh-CN" altLang="en-US" dirty="0"/>
              <a:t>和</a:t>
            </a:r>
            <a:r>
              <a:rPr lang="en-US" dirty="0"/>
              <a:t>UCCL-EP</a:t>
            </a:r>
            <a:r>
              <a:rPr lang="zh-CN" altLang="en-US" dirty="0"/>
              <a:t>。</a:t>
            </a:r>
            <a:endParaRPr lang="en-US" altLang="zh-CN" dirty="0"/>
          </a:p>
          <a:p>
            <a:pPr lvl="1"/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5E3C63-A0D3-44A4-8EDA-6267A2E945F9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099664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5E3C63-A0D3-44A4-8EDA-6267A2E945F9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179946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5E3C63-A0D3-44A4-8EDA-6267A2E945F9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616087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5E3C63-A0D3-44A4-8EDA-6267A2E945F9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634012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5E3C63-A0D3-44A4-8EDA-6267A2E945F9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225609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5E3C63-A0D3-44A4-8EDA-6267A2E945F9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519708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5E3C63-A0D3-44A4-8EDA-6267A2E945F9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077410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 err="1"/>
              <a:t>DeepGemm</a:t>
            </a:r>
            <a:r>
              <a:rPr lang="zh-CN" altLang="en-US" dirty="0"/>
              <a:t>最初是为 </a:t>
            </a:r>
            <a:r>
              <a:rPr lang="en-US" dirty="0"/>
              <a:t>Hopper（sm_90）</a:t>
            </a:r>
            <a:r>
              <a:rPr lang="zh-CN" altLang="en-US" dirty="0"/>
              <a:t>设计和优化的，它的 </a:t>
            </a:r>
            <a:r>
              <a:rPr lang="en-US" dirty="0"/>
              <a:t>JIT </a:t>
            </a:r>
            <a:r>
              <a:rPr lang="zh-CN" altLang="en-US" dirty="0"/>
              <a:t>编译器内置了针对特定架构的 </a:t>
            </a:r>
            <a:r>
              <a:rPr lang="en-US" altLang="zh-CN" dirty="0"/>
              <a:t>"</a:t>
            </a:r>
            <a:r>
              <a:rPr lang="en-US" dirty="0"/>
              <a:t>recipe"。</a:t>
            </a:r>
            <a:r>
              <a:rPr lang="zh-CN" altLang="en-US" dirty="0"/>
              <a:t>在 </a:t>
            </a:r>
            <a:r>
              <a:rPr lang="en-US" dirty="0"/>
              <a:t>RTX PRO 6000 </a:t>
            </a:r>
            <a:r>
              <a:rPr lang="zh-CN" altLang="en-US" dirty="0"/>
              <a:t>上会触发 </a:t>
            </a:r>
            <a:r>
              <a:rPr lang="en-US" altLang="zh-CN" dirty="0"/>
              <a:t>"</a:t>
            </a:r>
            <a:r>
              <a:rPr lang="en-US" dirty="0"/>
              <a:t>Unknown recipe" ，</a:t>
            </a:r>
            <a:r>
              <a:rPr lang="zh-CN" altLang="en-US" dirty="0"/>
              <a:t>因为它没有</a:t>
            </a:r>
            <a:r>
              <a:rPr lang="en-US" dirty="0"/>
              <a:t>sm_120 </a:t>
            </a:r>
            <a:r>
              <a:rPr lang="zh-CN" altLang="en-US" dirty="0"/>
              <a:t>对应的内核配方。</a:t>
            </a:r>
          </a:p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5E3C63-A0D3-44A4-8EDA-6267A2E945F9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832237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5E3C63-A0D3-44A4-8EDA-6267A2E945F9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499242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11772D-BDA4-7523-287A-F86633605B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70DB584-A5B6-F9D5-8E8F-559A553EB9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665EE06-FA5F-F71F-5E80-B5F9234C9D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102C319-13B1-78FA-405E-DECA5BF7AD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5E3C63-A0D3-44A4-8EDA-6267A2E945F9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343067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NCCL </a:t>
            </a:r>
            <a:r>
              <a:rPr lang="zh-CN" altLang="en-US" dirty="0"/>
              <a:t>的集合通信（</a:t>
            </a:r>
            <a:r>
              <a:rPr lang="en-US" dirty="0" err="1"/>
              <a:t>AllReduce</a:t>
            </a:r>
            <a:r>
              <a:rPr lang="en-US" dirty="0"/>
              <a:t> </a:t>
            </a:r>
            <a:r>
              <a:rPr lang="zh-CN" altLang="en-US" dirty="0"/>
              <a:t>等）内部已经通过 </a:t>
            </a:r>
            <a:r>
              <a:rPr lang="en-US" dirty="0"/>
              <a:t>barrier / dependency  </a:t>
            </a:r>
            <a:r>
              <a:rPr lang="zh-CN" altLang="en-US" dirty="0"/>
              <a:t>保证语义正确性，不依赖传输层排序。</a:t>
            </a:r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5E3C63-A0D3-44A4-8EDA-6267A2E945F9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622891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核心要点：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1. 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两条路径最终都走同一个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kernel driver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和硬件 </a:t>
            </a:r>
            <a:r>
              <a:rPr lang="en-US" altLang="zh-CN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— 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所以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ibverbs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和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libfabric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本质上是共享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EFA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设备资源的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2. libefa.so 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是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rdma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-core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的一个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provider plugin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，只实现了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ibverbs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API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的子集 </a:t>
            </a:r>
            <a:r>
              <a:rPr lang="en-US" altLang="zh-CN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—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EFA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不支持标准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InfiniBand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的所有功能（比如早期版本不支持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RDMA atomic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）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3. SRD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协议（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Scalable Reliable Datagram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）是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EFA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特有的，不同于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InfiniBand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RC/UD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，提供了可靠传输但允许多路径和乱序到达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4.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ibv_reg_mr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EFA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上实际是注册内存页到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EFA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设备的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IOMMU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映射，底层通过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efa.ko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ioctl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完成</a:t>
            </a:r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5E3C63-A0D3-44A4-8EDA-6267A2E945F9}" type="slidenum">
              <a:rPr lang="en-US" smtClean="0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267085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 err="1"/>
              <a:t>Nixl</a:t>
            </a:r>
            <a:r>
              <a:rPr lang="en-US" b="1" dirty="0"/>
              <a:t> LIBFABRIC backend </a:t>
            </a:r>
            <a:r>
              <a:rPr lang="zh-CN" altLang="en-US" b="1" dirty="0"/>
              <a:t>也会收到 </a:t>
            </a:r>
            <a:r>
              <a:rPr lang="en-US" b="1" dirty="0"/>
              <a:t>FI_EFA_IFACE </a:t>
            </a:r>
            <a:r>
              <a:rPr lang="zh-CN" altLang="en-US" b="1" dirty="0"/>
              <a:t>环境变量影响</a:t>
            </a:r>
            <a:r>
              <a:rPr lang="zh-CN" altLang="en-US" dirty="0"/>
              <a:t>。</a:t>
            </a:r>
            <a:r>
              <a:rPr lang="en-US" b="1" dirty="0"/>
              <a:t>Mooncake TE</a:t>
            </a:r>
            <a:r>
              <a:rPr lang="zh-CN" altLang="en-US" b="1" dirty="0"/>
              <a:t>收到</a:t>
            </a:r>
            <a:r>
              <a:rPr lang="en-US" b="1" dirty="0"/>
              <a:t>FI_EFA_IFACE </a:t>
            </a:r>
            <a:r>
              <a:rPr lang="zh-CN" altLang="en-US" b="1" dirty="0"/>
              <a:t>和</a:t>
            </a:r>
            <a:r>
              <a:rPr lang="en-US" b="1" dirty="0"/>
              <a:t>disaggregation-</a:t>
            </a:r>
            <a:r>
              <a:rPr lang="en-US" b="1" dirty="0" err="1"/>
              <a:t>ib</a:t>
            </a:r>
            <a:r>
              <a:rPr lang="en-US" b="1" dirty="0"/>
              <a:t>-device</a:t>
            </a:r>
            <a:r>
              <a:rPr lang="zh-CN" altLang="en-US" b="1" dirty="0"/>
              <a:t>的共同作用</a:t>
            </a:r>
            <a:r>
              <a:rPr lang="zh-CN" altLang="en-US" dirty="0"/>
              <a:t>（如果两个都设定了</a:t>
            </a:r>
            <a:r>
              <a:rPr lang="en-US" dirty="0"/>
              <a:t>EFA</a:t>
            </a:r>
            <a:r>
              <a:rPr lang="zh-CN" altLang="en-US" dirty="0"/>
              <a:t>设备，最终的效果是它们的交集）。</a:t>
            </a:r>
          </a:p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5E3C63-A0D3-44A4-8EDA-6267A2E945F9}" type="slidenum">
              <a:rPr lang="en-US" smtClean="0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602045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5E3C63-A0D3-44A4-8EDA-6267A2E945F9}" type="slidenum">
              <a:rPr lang="en-US" smtClean="0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91855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- Linux 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内核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5.12+ 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原生支持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dma-buf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- NVIDIA driver 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导出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GPU memory 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为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dma-buf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fd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- EFA driver 2.x+ 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可以直接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import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dma-buf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进行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RDMA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-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libfabric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检测到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cuda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dmabuf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support status: 1</a:t>
            </a:r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5E3C63-A0D3-44A4-8EDA-6267A2E945F9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352616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5E3C63-A0D3-44A4-8EDA-6267A2E945F9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511520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5E3C63-A0D3-44A4-8EDA-6267A2E945F9}" type="slidenum">
              <a:rPr lang="en-US" smtClean="0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9923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A1D9502-83A3-95F8-E27C-7E9874FBB7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23951B43-E459-174D-82AF-A24F7A2BBC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US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2AEFC35-FE8D-18BD-A83B-39CA97C149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E9892-DBD7-480E-8550-15D3A6AD5331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2B619F9-4C18-F904-5B25-FD2F69DA6F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754D412-8E8A-1D64-38D4-307F01ACE2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3AB1D0-FC64-4323-9936-9E36C78DBC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38396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1524E9F-58B7-26BE-A9E0-FD7CAFA3D0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A666A13-307B-2783-6B3D-ED890683CD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F05EABC-5BE2-9BDF-B7A1-D5C36F5A6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E9892-DBD7-480E-8550-15D3A6AD5331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7E92722-1651-0D8F-98DE-03AEB8519B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9F81F03-028B-3E73-E28C-864DF22A3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3AB1D0-FC64-4323-9936-9E36C78DBC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02280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B4A2DC6-0E82-60B4-447F-3B3C8F6483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F6C69FD-D38F-E509-3BB5-8791EE1A27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070A9AA-C99A-F8FB-007C-680DFDDFEF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E9892-DBD7-480E-8550-15D3A6AD5331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4EE1B8D-AC49-7451-8617-CB747B098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AE18607-8333-7927-E27F-0626214BD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3AB1D0-FC64-4323-9936-9E36C78DBC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61153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3B84237-9F3C-9CB6-095B-174027702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B68E5CA-5BD7-7552-C902-3EDB2C6E81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30006DE-33D6-3552-48CE-F0093CE01B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ECD6D5A-0939-F255-97D1-77E6128862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E9892-DBD7-480E-8550-15D3A6AD5331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A7D363C-4268-19E7-A66D-2B090F13F4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AD8B8D4-1EAE-113B-A219-BFBA5E071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3AB1D0-FC64-4323-9936-9E36C78DBC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93091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390A60A-737F-FE67-D3C0-9884670F6D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ABA31A8-BC18-7A6A-3BAC-A0837AE96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CE3E0B2-FE00-6B5E-AE5A-B7B00014FA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2680F452-8DC5-AAB2-B2BA-08CB28E8AB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7B0CF47A-F6E5-58E0-25A1-C86EF7C91A8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0B91F124-DD44-F36B-E0EC-0F7D5FAFE8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E9892-DBD7-480E-8550-15D3A6AD5331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DD089E5F-1468-5727-8D2F-507ACA23FD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70ACDF2E-5DCE-E874-3D60-A93BC1BBAA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3AB1D0-FC64-4323-9936-9E36C78DBC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14840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56965A2-16AF-6A05-A82A-548500AF1F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3E5E67D8-DFC3-DDCB-2EB5-8725ACDAF8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E9892-DBD7-480E-8550-15D3A6AD5331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D36496F2-3414-957F-96C0-3DA243197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5DDF3527-9BDD-7756-DA27-9E2749E4F7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3AB1D0-FC64-4323-9936-9E36C78DBC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9573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9B4D7523-9ED4-5F4D-E71E-C5CE975BE2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E9892-DBD7-480E-8550-15D3A6AD5331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5FFE0BEE-86B2-D65F-B1E3-3442CB8479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B6721BE-2B13-EF26-9ECE-11D68AC347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3AB1D0-FC64-4323-9936-9E36C78DBC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43539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80C41BE-C0D9-EAF7-37DD-CC7AC7A389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B0764CF-22C2-8266-6118-50A0A9EE57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8196CAAE-16DA-891F-09C6-1E96C326AF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2F6C0EC-73EE-5F7A-3592-BCBF7B487F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E9892-DBD7-480E-8550-15D3A6AD5331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7F5E5B9-8597-8AFD-C0C8-F63221BBD8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7C52488-9C9C-4F0F-390E-615DF1D34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3AB1D0-FC64-4323-9936-9E36C78DBC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17546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623BE27-8B48-208B-C835-2EDF6E6437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8BCFED76-5FFF-7352-C625-D1535CCE4CF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7470695-B6F8-51B2-7B20-47BA34BAE3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1D0B0F4-2DB6-0918-C87B-A4B26BCEF7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E9892-DBD7-480E-8550-15D3A6AD5331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9C91B85-6C3B-B69D-77AA-86257BAF23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983F64A-324A-2131-9DC0-7CEBF09860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3AB1D0-FC64-4323-9936-9E36C78DBC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21270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DA2870C-A0C1-C406-B972-D44E9762C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16562937-7D27-8027-7939-CD1EC9EBA2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09DFD2E-EAEB-5F18-DB48-5B72AC1AD1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E9892-DBD7-480E-8550-15D3A6AD5331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0930CCE-1F36-B3D7-3BE5-EB578BBBA2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4C5A23E-A364-C9BC-AEF2-3FF8263E34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3AB1D0-FC64-4323-9936-9E36C78DBC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29495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C61BED37-B9A1-2121-A0AA-6D7DF95070D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924B596-B9C3-5B74-21EA-A0727DCCF95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A8D747E-0BD3-FBFC-1C34-1795B4A06D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E9892-DBD7-480E-8550-15D3A6AD5331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A62F095-511C-048A-88FC-B05C5D322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829D287-8C78-6831-70E0-3BB852181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3AB1D0-FC64-4323-9936-9E36C78DBC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20981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BA86DE8E-AE38-48D3-D65D-F40A374949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13D0208-6E73-74B2-A746-FCA36B9A82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E4E38C8-1A91-2C66-6AD2-1BA7DFCF16A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1E9892-DBD7-480E-8550-15D3A6AD5331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6CC3B08-A919-A7D3-9B5D-A711666151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8D3E93F-D4D5-8BDE-0293-B6F80551E6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3AB1D0-FC64-4323-9936-9E36C78DBC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87707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pytorch.org/blog/triton-kernel-compilation-stages/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hyperlink" Target="https://github.com/haozhx23/HyperPod-InstantStart/blob/main/ui-panel/templates/_samples/pd-glm/dockerfile" TargetMode="Externa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gl-project/sglang/issues/17970&#65288;&#38024;&#23545;" TargetMode="Externa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gl-project/sglang/pull/25404" TargetMode="External"/><Relationship Id="rId2" Type="http://schemas.openxmlformats.org/officeDocument/2006/relationships/hyperlink" Target="https://github.com/sgl-project/sglang/pull/25397" TargetMode="Externa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kvcache-ai/Mooncake/pull/2113" TargetMode="Externa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hyperlink" Target="https://gist.github.com/trevor-m/e0833a26586cb032f0c359253ae78c91" TargetMode="Externa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yuhuiaws/ML-study/blob/main/%E7%94%9F%E6%88%90%E5%BC%8FAI/Claude-code-Skills" TargetMode="External"/><Relationship Id="rId5" Type="http://schemas.openxmlformats.org/officeDocument/2006/relationships/hyperlink" Target="https://github.com/aws/aws-ofi-nccl/wiki/Environment-Variables" TargetMode="External"/><Relationship Id="rId4" Type="http://schemas.openxmlformats.org/officeDocument/2006/relationships/hyperlink" Target="https://ofiwg.github.io/libfabric/main/man/fi_efa.7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048C1C9-2FCD-DCCD-D79F-3DD379EA9A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399164"/>
          </a:xfrm>
        </p:spPr>
        <p:txBody>
          <a:bodyPr/>
          <a:lstStyle/>
          <a:p>
            <a:r>
              <a:rPr lang="zh-CN" altLang="en-US" dirty="0"/>
              <a:t>大模型推理的项目实践</a:t>
            </a:r>
            <a:endParaRPr lang="en-US" dirty="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74DD3987-040E-76A5-B0CA-2A1D8F53C4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827555"/>
            <a:ext cx="9144000" cy="1005536"/>
          </a:xfrm>
        </p:spPr>
        <p:txBody>
          <a:bodyPr/>
          <a:lstStyle/>
          <a:p>
            <a:r>
              <a:rPr lang="en-US" dirty="0"/>
              <a:t>GCR ML SSA</a:t>
            </a:r>
          </a:p>
          <a:p>
            <a:r>
              <a:rPr lang="zh-CN" altLang="en-US" dirty="0"/>
              <a:t>梁宇辉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38844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8A73ED-1E36-39C4-20DE-228B3820B5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</a:t>
            </a:r>
            <a:r>
              <a:rPr lang="en-US" altLang="zh-CN" dirty="0"/>
              <a:t>genda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706629C-0EAF-4367-1BC9-4996950C17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zh-CN" altLang="en-US" dirty="0"/>
              <a:t>背景与挑战</a:t>
            </a:r>
            <a:endParaRPr lang="en-US" altLang="zh-CN" dirty="0"/>
          </a:p>
          <a:p>
            <a:r>
              <a:rPr lang="zh-CN" altLang="en-US" dirty="0"/>
              <a:t>测试先行 </a:t>
            </a:r>
            <a:r>
              <a:rPr lang="en-US" altLang="zh-CN" dirty="0"/>
              <a:t>----- </a:t>
            </a:r>
            <a:r>
              <a:rPr lang="zh-CN" altLang="en-US" dirty="0"/>
              <a:t>大模型</a:t>
            </a:r>
            <a:r>
              <a:rPr lang="en-US" altLang="zh-CN" dirty="0"/>
              <a:t>Benchmark</a:t>
            </a:r>
            <a:r>
              <a:rPr lang="zh-CN" altLang="en-US" dirty="0"/>
              <a:t>方法论</a:t>
            </a:r>
            <a:endParaRPr lang="en-US" altLang="zh-CN" dirty="0"/>
          </a:p>
          <a:p>
            <a:r>
              <a:rPr lang="zh-CN" altLang="en-US" dirty="0"/>
              <a:t>部署方案</a:t>
            </a:r>
            <a:r>
              <a:rPr lang="en-US" altLang="zh-CN" dirty="0"/>
              <a:t>1</a:t>
            </a:r>
            <a:r>
              <a:rPr lang="zh-CN" altLang="en-US" dirty="0"/>
              <a:t>：单机部署</a:t>
            </a:r>
            <a:endParaRPr lang="en-US" altLang="zh-CN" dirty="0"/>
          </a:p>
          <a:p>
            <a:r>
              <a:rPr lang="zh-CN" altLang="en-US" dirty="0"/>
              <a:t>部署方案</a:t>
            </a:r>
            <a:r>
              <a:rPr lang="en-US" altLang="zh-CN" dirty="0"/>
              <a:t>2</a:t>
            </a:r>
            <a:r>
              <a:rPr lang="zh-CN" altLang="en-US" dirty="0"/>
              <a:t>：多机</a:t>
            </a:r>
            <a:r>
              <a:rPr lang="en-US" altLang="zh-CN" dirty="0"/>
              <a:t>Non-PD </a:t>
            </a:r>
            <a:r>
              <a:rPr lang="zh-CN" altLang="en-US" dirty="0"/>
              <a:t>分离</a:t>
            </a:r>
            <a:endParaRPr lang="en-US" altLang="zh-CN" dirty="0"/>
          </a:p>
          <a:p>
            <a:r>
              <a:rPr lang="zh-CN" altLang="en-US" dirty="0"/>
              <a:t>部署方案</a:t>
            </a:r>
            <a:r>
              <a:rPr lang="en-US" altLang="zh-CN" dirty="0"/>
              <a:t>3</a:t>
            </a:r>
            <a:r>
              <a:rPr lang="zh-CN" altLang="en-US" dirty="0"/>
              <a:t>：</a:t>
            </a:r>
            <a:r>
              <a:rPr lang="en-US" altLang="zh-CN" dirty="0"/>
              <a:t>PD </a:t>
            </a:r>
            <a:r>
              <a:rPr lang="zh-CN" altLang="en-US" dirty="0"/>
              <a:t>分离</a:t>
            </a:r>
            <a:endParaRPr lang="en-US" altLang="zh-CN" dirty="0"/>
          </a:p>
          <a:p>
            <a:r>
              <a:rPr lang="zh-CN" altLang="en-US" dirty="0"/>
              <a:t>大模型部署方案选型建议</a:t>
            </a:r>
            <a:endParaRPr lang="en-US" altLang="zh-CN" dirty="0"/>
          </a:p>
          <a:p>
            <a:r>
              <a:rPr lang="zh-CN" altLang="en-US" dirty="0"/>
              <a:t>一个完整的模型不同部署方案的</a:t>
            </a:r>
            <a:r>
              <a:rPr lang="en-US" altLang="zh-CN" dirty="0"/>
              <a:t>benchmark</a:t>
            </a:r>
            <a:r>
              <a:rPr lang="zh-CN" altLang="en-US" dirty="0"/>
              <a:t>性能对比</a:t>
            </a:r>
            <a:endParaRPr lang="en-US" altLang="zh-CN" dirty="0"/>
          </a:p>
          <a:p>
            <a:r>
              <a:rPr lang="en-US" altLang="zh-CN" dirty="0"/>
              <a:t>Debug </a:t>
            </a:r>
            <a:r>
              <a:rPr lang="zh-CN" altLang="en-US" dirty="0"/>
              <a:t>与调优</a:t>
            </a:r>
            <a:endParaRPr lang="en-US" altLang="zh-CN" dirty="0"/>
          </a:p>
          <a:p>
            <a:r>
              <a:rPr lang="zh-CN" altLang="en-US" dirty="0"/>
              <a:t>项目过程中常见的坑</a:t>
            </a:r>
            <a:endParaRPr lang="en-US" altLang="zh-CN" dirty="0"/>
          </a:p>
          <a:p>
            <a:r>
              <a:rPr lang="zh-CN" altLang="en-US" dirty="0"/>
              <a:t>客户常见的问题</a:t>
            </a:r>
            <a:endParaRPr lang="en-US" altLang="zh-CN" dirty="0"/>
          </a:p>
          <a:p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5979290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CB898F6-C46B-618A-6CD4-36BD63995C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27670"/>
            <a:ext cx="10515600" cy="1325563"/>
          </a:xfrm>
        </p:spPr>
        <p:txBody>
          <a:bodyPr/>
          <a:lstStyle/>
          <a:p>
            <a:pPr algn="ctr"/>
            <a:r>
              <a:rPr lang="zh-CN" altLang="en-US" dirty="0"/>
              <a:t>背景与挑战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79956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1993B28-A029-5210-A539-3021BE5BB7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94434"/>
            <a:ext cx="10515600" cy="970061"/>
          </a:xfrm>
        </p:spPr>
        <p:txBody>
          <a:bodyPr/>
          <a:lstStyle/>
          <a:p>
            <a:r>
              <a:rPr lang="zh-CN" altLang="en-US" dirty="0"/>
              <a:t>背景</a:t>
            </a:r>
            <a:endParaRPr lang="en-US" altLang="zh-CN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6FD5BF6-AB79-9817-4E7E-093352E896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42087"/>
            <a:ext cx="10515600" cy="4280688"/>
          </a:xfrm>
        </p:spPr>
        <p:txBody>
          <a:bodyPr>
            <a:normAutofit lnSpcReduction="10000"/>
          </a:bodyPr>
          <a:lstStyle/>
          <a:p>
            <a:r>
              <a:rPr lang="zh-CN" altLang="en-US" dirty="0"/>
              <a:t>模型越来越</a:t>
            </a:r>
            <a:r>
              <a:rPr lang="zh-CN" altLang="en-US" b="1" dirty="0">
                <a:solidFill>
                  <a:srgbClr val="FF0000"/>
                </a:solidFill>
              </a:rPr>
              <a:t>大</a:t>
            </a:r>
            <a:endParaRPr lang="en-US" altLang="zh-CN" b="1" dirty="0">
              <a:solidFill>
                <a:srgbClr val="FF0000"/>
              </a:solidFill>
            </a:endParaRPr>
          </a:p>
          <a:p>
            <a:r>
              <a:rPr lang="zh-CN" altLang="en-US" dirty="0"/>
              <a:t>模型支持的</a:t>
            </a:r>
            <a:r>
              <a:rPr lang="en-US" altLang="zh-CN" dirty="0"/>
              <a:t>max token length</a:t>
            </a:r>
            <a:r>
              <a:rPr lang="zh-CN" altLang="en-US" dirty="0"/>
              <a:t>越来越</a:t>
            </a:r>
            <a:r>
              <a:rPr lang="zh-CN" altLang="en-US" b="1" dirty="0">
                <a:solidFill>
                  <a:srgbClr val="FF0000"/>
                </a:solidFill>
              </a:rPr>
              <a:t>长</a:t>
            </a:r>
            <a:endParaRPr lang="en-US" altLang="zh-CN" b="1" dirty="0">
              <a:solidFill>
                <a:srgbClr val="FF0000"/>
              </a:solidFill>
            </a:endParaRPr>
          </a:p>
          <a:p>
            <a:r>
              <a:rPr lang="zh-CN" altLang="en-US" dirty="0"/>
              <a:t>开源模型迭代速度越来越</a:t>
            </a:r>
            <a:r>
              <a:rPr lang="zh-CN" altLang="en-US" b="1" dirty="0">
                <a:solidFill>
                  <a:srgbClr val="FF0000"/>
                </a:solidFill>
              </a:rPr>
              <a:t>快</a:t>
            </a:r>
            <a:endParaRPr lang="en-US" altLang="zh-CN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GPU</a:t>
            </a:r>
            <a:r>
              <a:rPr lang="zh-CN" altLang="en-US" b="1" dirty="0">
                <a:solidFill>
                  <a:srgbClr val="FF0000"/>
                </a:solidFill>
              </a:rPr>
              <a:t>资源</a:t>
            </a:r>
            <a:r>
              <a:rPr lang="zh-CN" altLang="en-US" dirty="0"/>
              <a:t>紧张</a:t>
            </a:r>
            <a:endParaRPr lang="en-US" altLang="zh-CN" dirty="0"/>
          </a:p>
          <a:p>
            <a:r>
              <a:rPr lang="zh-CN" altLang="en-US" b="1" dirty="0">
                <a:solidFill>
                  <a:srgbClr val="FF0000"/>
                </a:solidFill>
              </a:rPr>
              <a:t>推理框架</a:t>
            </a:r>
            <a:r>
              <a:rPr lang="zh-CN" altLang="en-US" dirty="0"/>
              <a:t>迭代越来越快</a:t>
            </a:r>
            <a:endParaRPr lang="en-US" altLang="zh-CN" dirty="0"/>
          </a:p>
          <a:p>
            <a:r>
              <a:rPr lang="zh-CN" altLang="en-US" b="1" dirty="0">
                <a:solidFill>
                  <a:srgbClr val="FF0000"/>
                </a:solidFill>
              </a:rPr>
              <a:t>项目时间</a:t>
            </a:r>
            <a:r>
              <a:rPr lang="zh-CN" altLang="en-US" dirty="0"/>
              <a:t>越来越紧</a:t>
            </a:r>
            <a:endParaRPr lang="en-US" altLang="zh-CN" dirty="0"/>
          </a:p>
          <a:p>
            <a:r>
              <a:rPr lang="zh-CN" altLang="en-US" b="1" dirty="0">
                <a:solidFill>
                  <a:srgbClr val="FF0000"/>
                </a:solidFill>
              </a:rPr>
              <a:t>国内客户</a:t>
            </a:r>
            <a:r>
              <a:rPr lang="zh-CN" altLang="en-US" dirty="0"/>
              <a:t>越来越走在前面</a:t>
            </a:r>
            <a:endParaRPr lang="en-US" altLang="zh-CN" dirty="0"/>
          </a:p>
          <a:p>
            <a:pPr marL="0" indent="0">
              <a:buNone/>
            </a:pPr>
            <a:br>
              <a:rPr lang="en-US" altLang="zh-CN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94000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BA02653-B7A9-AC40-6737-CA9A33475A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459915"/>
          </a:xfrm>
        </p:spPr>
        <p:txBody>
          <a:bodyPr/>
          <a:lstStyle/>
          <a:p>
            <a:r>
              <a:rPr lang="zh-CN" altLang="en-US" dirty="0"/>
              <a:t>挑战</a:t>
            </a:r>
            <a:endParaRPr lang="en-US" altLang="zh-CN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3D0CF65-0FC6-15B1-8563-74FA37F024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65186"/>
            <a:ext cx="10515600" cy="4086233"/>
          </a:xfrm>
        </p:spPr>
        <p:txBody>
          <a:bodyPr>
            <a:normAutofit/>
          </a:bodyPr>
          <a:lstStyle/>
          <a:p>
            <a:r>
              <a:rPr lang="zh-CN" altLang="en-US" b="1" dirty="0">
                <a:solidFill>
                  <a:srgbClr val="FF0000"/>
                </a:solidFill>
              </a:rPr>
              <a:t>如何获取</a:t>
            </a:r>
            <a:r>
              <a:rPr lang="en-US" altLang="zh-CN" b="1" dirty="0">
                <a:solidFill>
                  <a:srgbClr val="FF0000"/>
                </a:solidFill>
              </a:rPr>
              <a:t>GPU</a:t>
            </a:r>
            <a:r>
              <a:rPr lang="zh-CN" altLang="en-US" b="1" dirty="0">
                <a:solidFill>
                  <a:srgbClr val="FF0000"/>
                </a:solidFill>
              </a:rPr>
              <a:t>实验资源？</a:t>
            </a:r>
            <a:r>
              <a:rPr lang="zh-CN" altLang="en-US" dirty="0"/>
              <a:t>（</a:t>
            </a:r>
            <a:r>
              <a:rPr lang="en-US" altLang="zh-CN" b="1" dirty="0"/>
              <a:t>For</a:t>
            </a:r>
            <a:r>
              <a:rPr lang="zh-CN" altLang="en-US" b="1" dirty="0"/>
              <a:t>内部员工</a:t>
            </a:r>
            <a:r>
              <a:rPr lang="zh-CN" altLang="en-US" dirty="0"/>
              <a:t>）</a:t>
            </a:r>
            <a:endParaRPr lang="en-US" altLang="zh-CN" dirty="0"/>
          </a:p>
          <a:p>
            <a:pPr lvl="1"/>
            <a:r>
              <a:rPr lang="zh-CN" altLang="en-US" dirty="0"/>
              <a:t>有</a:t>
            </a:r>
            <a:r>
              <a:rPr lang="en-US" altLang="zh-CN" dirty="0"/>
              <a:t>Spot</a:t>
            </a:r>
            <a:r>
              <a:rPr lang="zh-CN" altLang="en-US" dirty="0"/>
              <a:t>用</a:t>
            </a:r>
            <a:r>
              <a:rPr lang="en-US" altLang="zh-CN" dirty="0"/>
              <a:t>Spot</a:t>
            </a:r>
            <a:r>
              <a:rPr lang="zh-CN" altLang="en-US" dirty="0"/>
              <a:t>，没有就用</a:t>
            </a:r>
            <a:r>
              <a:rPr lang="en-US" altLang="zh-CN" dirty="0"/>
              <a:t>CB</a:t>
            </a:r>
            <a:r>
              <a:rPr lang="zh-CN" altLang="en-US" dirty="0"/>
              <a:t>或者</a:t>
            </a:r>
            <a:r>
              <a:rPr lang="en-US" altLang="zh-CN" dirty="0"/>
              <a:t>FTP</a:t>
            </a:r>
            <a:r>
              <a:rPr lang="zh-CN" altLang="en-US" dirty="0"/>
              <a:t>。</a:t>
            </a:r>
            <a:endParaRPr lang="en-US" altLang="zh-CN" dirty="0"/>
          </a:p>
          <a:p>
            <a:r>
              <a:rPr lang="zh-CN" altLang="en-US" dirty="0"/>
              <a:t>推理框架如何选择？（</a:t>
            </a:r>
            <a:r>
              <a:rPr lang="en-US" altLang="zh-CN" b="1" dirty="0" err="1"/>
              <a:t>SGLang</a:t>
            </a:r>
            <a:r>
              <a:rPr lang="en-US" altLang="zh-CN" b="1" dirty="0"/>
              <a:t> or VLLM</a:t>
            </a:r>
            <a:r>
              <a:rPr lang="zh-CN" altLang="en-US" dirty="0"/>
              <a:t>）</a:t>
            </a:r>
            <a:endParaRPr lang="en-US" altLang="zh-CN" dirty="0"/>
          </a:p>
          <a:p>
            <a:r>
              <a:rPr lang="zh-CN" altLang="en-US" dirty="0"/>
              <a:t>新模型（比如</a:t>
            </a:r>
            <a:r>
              <a:rPr lang="en-US" altLang="zh-CN" dirty="0"/>
              <a:t>Deepseek-V4-Pro</a:t>
            </a:r>
            <a:r>
              <a:rPr lang="zh-CN" altLang="en-US" dirty="0"/>
              <a:t>）在推理框架的支持如何？</a:t>
            </a:r>
            <a:endParaRPr lang="en-US" altLang="zh-CN" dirty="0"/>
          </a:p>
          <a:p>
            <a:r>
              <a:rPr lang="zh-CN" altLang="en-US" dirty="0"/>
              <a:t>部署方案在</a:t>
            </a:r>
            <a:r>
              <a:rPr lang="en-US" altLang="zh-CN" dirty="0"/>
              <a:t>AWS</a:t>
            </a:r>
            <a:r>
              <a:rPr lang="zh-CN" altLang="en-US" dirty="0"/>
              <a:t>环境（</a:t>
            </a:r>
            <a:r>
              <a:rPr lang="zh-CN" altLang="en-US" b="1" dirty="0"/>
              <a:t>尤其是</a:t>
            </a:r>
            <a:r>
              <a:rPr lang="en-US" altLang="zh-CN" b="1" dirty="0"/>
              <a:t>EFA</a:t>
            </a:r>
            <a:r>
              <a:rPr lang="zh-CN" altLang="en-US" dirty="0"/>
              <a:t>）的适配？</a:t>
            </a:r>
            <a:endParaRPr lang="en-US" altLang="zh-CN" dirty="0"/>
          </a:p>
          <a:p>
            <a:pPr lvl="1"/>
            <a:r>
              <a:rPr lang="zh-CN" altLang="en-US" b="1" dirty="0">
                <a:solidFill>
                  <a:srgbClr val="FF0000"/>
                </a:solidFill>
              </a:rPr>
              <a:t>有没有</a:t>
            </a:r>
            <a:r>
              <a:rPr lang="en-US" altLang="zh-CN" b="1" dirty="0">
                <a:solidFill>
                  <a:srgbClr val="FF0000"/>
                </a:solidFill>
              </a:rPr>
              <a:t>Golden container Image</a:t>
            </a:r>
            <a:r>
              <a:rPr lang="zh-CN" altLang="en-US" dirty="0"/>
              <a:t>？</a:t>
            </a:r>
            <a:endParaRPr lang="en-US" altLang="zh-CN" dirty="0"/>
          </a:p>
          <a:p>
            <a:r>
              <a:rPr lang="zh-CN" altLang="en-US" dirty="0"/>
              <a:t>不同部署方案（</a:t>
            </a:r>
            <a:r>
              <a:rPr lang="zh-CN" altLang="en-US" b="1" dirty="0"/>
              <a:t>尤其是</a:t>
            </a:r>
            <a:r>
              <a:rPr lang="en-US" altLang="zh-CN" b="1" dirty="0"/>
              <a:t>Non-PD</a:t>
            </a:r>
            <a:r>
              <a:rPr lang="zh-CN" altLang="en-US" b="1" dirty="0"/>
              <a:t>和</a:t>
            </a:r>
            <a:r>
              <a:rPr lang="en-US" altLang="zh-CN" b="1" dirty="0"/>
              <a:t>PD</a:t>
            </a:r>
            <a:r>
              <a:rPr lang="zh-CN" altLang="en-US" b="1" dirty="0"/>
              <a:t>分离方案</a:t>
            </a:r>
            <a:r>
              <a:rPr lang="zh-CN" altLang="en-US" dirty="0"/>
              <a:t>）的对比？</a:t>
            </a:r>
            <a:endParaRPr lang="en-US" altLang="zh-CN" dirty="0"/>
          </a:p>
          <a:p>
            <a:r>
              <a:rPr lang="zh-CN" altLang="en-US" dirty="0"/>
              <a:t>不同</a:t>
            </a:r>
            <a:r>
              <a:rPr lang="en-US" altLang="zh-CN" dirty="0"/>
              <a:t>GPU</a:t>
            </a:r>
            <a:r>
              <a:rPr lang="zh-CN" altLang="en-US" dirty="0"/>
              <a:t>机型 </a:t>
            </a:r>
            <a:r>
              <a:rPr lang="en-US" altLang="zh-CN" dirty="0"/>
              <a:t>* </a:t>
            </a:r>
            <a:r>
              <a:rPr lang="zh-CN" altLang="en-US" dirty="0"/>
              <a:t>不同部署方案的</a:t>
            </a:r>
            <a:r>
              <a:rPr lang="en-US" altLang="zh-CN" b="1" dirty="0">
                <a:solidFill>
                  <a:srgbClr val="FF0000"/>
                </a:solidFill>
              </a:rPr>
              <a:t>benchmark</a:t>
            </a:r>
            <a:r>
              <a:rPr lang="zh-CN" altLang="en-US" b="1" dirty="0">
                <a:solidFill>
                  <a:srgbClr val="FF0000"/>
                </a:solidFill>
              </a:rPr>
              <a:t>矩阵</a:t>
            </a:r>
            <a:r>
              <a:rPr lang="zh-CN" altLang="en-US" dirty="0"/>
              <a:t>？</a:t>
            </a:r>
            <a:endParaRPr lang="en-US" altLang="zh-CN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80540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E681462-260E-48AC-816E-9C55E1D1C9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</a:t>
            </a:r>
            <a:r>
              <a:rPr lang="en-US" altLang="zh-CN" dirty="0"/>
              <a:t>ontinue…..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65C49B9-88CE-59E8-133E-B37938E393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05891"/>
            <a:ext cx="10515600" cy="4071072"/>
          </a:xfrm>
        </p:spPr>
        <p:txBody>
          <a:bodyPr/>
          <a:lstStyle/>
          <a:p>
            <a:r>
              <a:rPr lang="zh-CN" altLang="en-US" dirty="0"/>
              <a:t>推理方案</a:t>
            </a:r>
            <a:r>
              <a:rPr lang="zh-CN" altLang="en-US" b="1" dirty="0"/>
              <a:t>验收的标准</a:t>
            </a:r>
            <a:r>
              <a:rPr lang="zh-CN" altLang="en-US" dirty="0"/>
              <a:t>如何制定？</a:t>
            </a:r>
            <a:endParaRPr lang="en-US" altLang="zh-CN" dirty="0"/>
          </a:p>
          <a:p>
            <a:r>
              <a:rPr lang="zh-CN" altLang="en-US" dirty="0"/>
              <a:t>推理方案的优化，</a:t>
            </a:r>
            <a:r>
              <a:rPr lang="zh-CN" altLang="en-US" b="1" dirty="0">
                <a:solidFill>
                  <a:srgbClr val="FF0000"/>
                </a:solidFill>
              </a:rPr>
              <a:t>路在何方</a:t>
            </a:r>
            <a:r>
              <a:rPr lang="zh-CN" altLang="en-US" dirty="0"/>
              <a:t>？</a:t>
            </a:r>
            <a:endParaRPr lang="en-US" altLang="zh-CN" dirty="0"/>
          </a:p>
          <a:p>
            <a:pPr lvl="1"/>
            <a:r>
              <a:rPr lang="zh-CN" altLang="en-US" b="1" dirty="0">
                <a:solidFill>
                  <a:srgbClr val="FF0000"/>
                </a:solidFill>
              </a:rPr>
              <a:t>跑通和优化是完全两回事。在优化的过程中，你会遇到更多的惊喜</a:t>
            </a:r>
            <a:r>
              <a:rPr lang="zh-CN" altLang="en-US" dirty="0"/>
              <a:t>。</a:t>
            </a:r>
            <a:endParaRPr lang="en-US" altLang="zh-CN" dirty="0"/>
          </a:p>
          <a:p>
            <a:r>
              <a:rPr lang="zh-CN" altLang="en-US" dirty="0"/>
              <a:t>实践结果的</a:t>
            </a:r>
            <a:r>
              <a:rPr lang="zh-CN" altLang="en-US" b="1" dirty="0">
                <a:solidFill>
                  <a:srgbClr val="FF0000"/>
                </a:solidFill>
              </a:rPr>
              <a:t>正确性谁来保证</a:t>
            </a:r>
            <a:r>
              <a:rPr lang="zh-CN" altLang="en-US" dirty="0"/>
              <a:t>？（</a:t>
            </a:r>
            <a:r>
              <a:rPr lang="en-US" altLang="zh-CN" b="1" dirty="0"/>
              <a:t>GenAI</a:t>
            </a:r>
            <a:r>
              <a:rPr lang="zh-CN" altLang="en-US" b="1" dirty="0"/>
              <a:t>工具给出的结果靠谱嘛</a:t>
            </a:r>
            <a:r>
              <a:rPr lang="en-US" altLang="zh-CN" b="1" dirty="0"/>
              <a:t>?</a:t>
            </a:r>
            <a:r>
              <a:rPr lang="zh-CN" altLang="en-US" dirty="0"/>
              <a:t>）</a:t>
            </a:r>
            <a:endParaRPr lang="en-US" altLang="zh-CN" dirty="0"/>
          </a:p>
          <a:p>
            <a:r>
              <a:rPr lang="zh-CN" altLang="en-US" dirty="0"/>
              <a:t>如何更好的把沉淀的技术实践</a:t>
            </a:r>
            <a:r>
              <a:rPr lang="en-US" altLang="zh-CN" dirty="0"/>
              <a:t>scaling</a:t>
            </a:r>
            <a:r>
              <a:rPr lang="zh-CN" altLang="en-US" dirty="0"/>
              <a:t>到不同的</a:t>
            </a:r>
            <a:r>
              <a:rPr lang="en-US" altLang="zh-CN" dirty="0"/>
              <a:t>GPU</a:t>
            </a:r>
            <a:r>
              <a:rPr lang="zh-CN" altLang="en-US" dirty="0"/>
              <a:t>机型或者更多的</a:t>
            </a:r>
            <a:r>
              <a:rPr lang="en-US" altLang="zh-CN" dirty="0"/>
              <a:t>Tech role</a:t>
            </a:r>
            <a:r>
              <a:rPr lang="zh-CN" altLang="en-US" dirty="0"/>
              <a:t>？（比如</a:t>
            </a:r>
            <a:r>
              <a:rPr lang="en-US" altLang="zh-CN" dirty="0"/>
              <a:t>H</a:t>
            </a:r>
            <a:r>
              <a:rPr lang="zh-CN" altLang="en-US" dirty="0"/>
              <a:t>系列，</a:t>
            </a:r>
            <a:r>
              <a:rPr lang="en-US" altLang="zh-CN" dirty="0"/>
              <a:t>B</a:t>
            </a:r>
            <a:r>
              <a:rPr lang="zh-CN" altLang="en-US" dirty="0"/>
              <a:t>系列，</a:t>
            </a:r>
            <a:r>
              <a:rPr lang="en-US" altLang="zh-CN" dirty="0"/>
              <a:t>G</a:t>
            </a:r>
            <a:r>
              <a:rPr lang="zh-CN" altLang="en-US" dirty="0"/>
              <a:t>系列？？）</a:t>
            </a:r>
            <a:endParaRPr lang="en-US" altLang="zh-CN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76633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03A2C7C-1F2D-B3E9-6004-4A98A444A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61779"/>
            <a:ext cx="10515600" cy="1325563"/>
          </a:xfrm>
        </p:spPr>
        <p:txBody>
          <a:bodyPr/>
          <a:lstStyle/>
          <a:p>
            <a:pPr algn="ctr"/>
            <a:r>
              <a:rPr lang="zh-CN" altLang="en-US" dirty="0"/>
              <a:t>测试先行 </a:t>
            </a:r>
            <a:r>
              <a:rPr lang="en-US" altLang="zh-CN" dirty="0"/>
              <a:t>----- </a:t>
            </a:r>
            <a:r>
              <a:rPr lang="zh-CN" altLang="en-US" dirty="0"/>
              <a:t>大模型</a:t>
            </a:r>
            <a:r>
              <a:rPr lang="en-US" altLang="zh-CN" dirty="0"/>
              <a:t>Benchmark</a:t>
            </a:r>
            <a:r>
              <a:rPr lang="zh-CN" altLang="en-US" dirty="0"/>
              <a:t>方法论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58370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31F8384-64E5-5A4A-63CD-D55C5B4F8C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大模型</a:t>
            </a:r>
            <a:r>
              <a:rPr lang="en-US" altLang="zh-CN" dirty="0"/>
              <a:t>Benchmark</a:t>
            </a:r>
            <a:r>
              <a:rPr lang="zh-CN" altLang="en-US" dirty="0"/>
              <a:t>方法论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1BF18A3-5127-AE0B-CDF0-D6CF9605B5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17811"/>
            <a:ext cx="10515600" cy="4259151"/>
          </a:xfrm>
        </p:spPr>
        <p:txBody>
          <a:bodyPr>
            <a:normAutofit fontScale="92500" lnSpcReduction="10000"/>
          </a:bodyPr>
          <a:lstStyle/>
          <a:p>
            <a:r>
              <a:rPr lang="zh-CN" altLang="en-US" b="1" dirty="0"/>
              <a:t>测试什么</a:t>
            </a:r>
            <a:r>
              <a:rPr lang="zh-CN" altLang="en-US" dirty="0"/>
              <a:t>？</a:t>
            </a:r>
            <a:r>
              <a:rPr lang="en-US" altLang="zh-CN" dirty="0"/>
              <a:t>----- </a:t>
            </a:r>
            <a:r>
              <a:rPr lang="zh-CN" altLang="en-US" b="1" dirty="0"/>
              <a:t>敲定具体</a:t>
            </a:r>
            <a:r>
              <a:rPr lang="en-US" altLang="zh-CN" b="1" dirty="0"/>
              <a:t>workload</a:t>
            </a:r>
          </a:p>
          <a:p>
            <a:pPr lvl="1"/>
            <a:r>
              <a:rPr lang="zh-CN" altLang="en-US" dirty="0"/>
              <a:t>模型以及模型具体版本</a:t>
            </a:r>
            <a:endParaRPr lang="en-US" altLang="zh-CN" dirty="0"/>
          </a:p>
          <a:p>
            <a:pPr lvl="1"/>
            <a:r>
              <a:rPr lang="zh-CN" altLang="en-US" dirty="0"/>
              <a:t>具体测试条件：</a:t>
            </a:r>
            <a:endParaRPr lang="en-US" altLang="zh-CN" dirty="0"/>
          </a:p>
          <a:p>
            <a:pPr lvl="2"/>
            <a:r>
              <a:rPr lang="en-US" altLang="zh-CN" b="1" dirty="0">
                <a:solidFill>
                  <a:srgbClr val="FF0000"/>
                </a:solidFill>
              </a:rPr>
              <a:t>Must</a:t>
            </a:r>
            <a:r>
              <a:rPr lang="zh-CN" altLang="en-US" dirty="0"/>
              <a:t>：</a:t>
            </a:r>
            <a:r>
              <a:rPr lang="en-US" altLang="zh-CN" dirty="0"/>
              <a:t>input/output token</a:t>
            </a:r>
            <a:r>
              <a:rPr lang="zh-CN" altLang="en-US" dirty="0"/>
              <a:t>长度，固定长度还是动态长度，请求数</a:t>
            </a:r>
            <a:endParaRPr lang="en-US" altLang="zh-CN" dirty="0"/>
          </a:p>
          <a:p>
            <a:pPr lvl="2"/>
            <a:r>
              <a:rPr lang="en-US" altLang="zh-CN" dirty="0"/>
              <a:t>Optional</a:t>
            </a:r>
            <a:r>
              <a:rPr lang="zh-CN" altLang="en-US" dirty="0"/>
              <a:t>：</a:t>
            </a:r>
            <a:endParaRPr lang="en-US" altLang="zh-CN" dirty="0"/>
          </a:p>
          <a:p>
            <a:pPr lvl="3"/>
            <a:r>
              <a:rPr lang="en-US" altLang="zh-CN" dirty="0"/>
              <a:t>request rate</a:t>
            </a:r>
            <a:r>
              <a:rPr lang="zh-CN" altLang="en-US" dirty="0"/>
              <a:t>，</a:t>
            </a:r>
            <a:r>
              <a:rPr lang="en-US" altLang="zh-CN" dirty="0"/>
              <a:t>max concurrency</a:t>
            </a:r>
          </a:p>
          <a:p>
            <a:pPr lvl="3"/>
            <a:r>
              <a:rPr lang="zh-CN" altLang="en-US" dirty="0"/>
              <a:t>是否需要多轮对话测试</a:t>
            </a:r>
          </a:p>
          <a:p>
            <a:r>
              <a:rPr lang="zh-CN" altLang="en-US" b="1" dirty="0"/>
              <a:t>测试目标</a:t>
            </a:r>
            <a:r>
              <a:rPr lang="zh-CN" altLang="en-US" dirty="0"/>
              <a:t>？ </a:t>
            </a:r>
            <a:endParaRPr lang="en-US" altLang="zh-CN" dirty="0"/>
          </a:p>
          <a:p>
            <a:pPr lvl="1"/>
            <a:r>
              <a:rPr lang="zh-CN" altLang="en-US" dirty="0"/>
              <a:t>和客户已有的指定的部署方案的性能对比？</a:t>
            </a:r>
            <a:endParaRPr lang="en-US" altLang="zh-CN" dirty="0"/>
          </a:p>
          <a:p>
            <a:pPr lvl="1"/>
            <a:r>
              <a:rPr lang="zh-CN" altLang="en-US" dirty="0"/>
              <a:t>客户只是给出具体</a:t>
            </a:r>
            <a:r>
              <a:rPr lang="en-US" altLang="zh-CN" dirty="0"/>
              <a:t>workload</a:t>
            </a:r>
            <a:r>
              <a:rPr lang="zh-CN" altLang="en-US" dirty="0"/>
              <a:t>的测试指标需求，部署方案不限定。</a:t>
            </a:r>
            <a:endParaRPr lang="en-US" altLang="zh-CN" dirty="0"/>
          </a:p>
          <a:p>
            <a:pPr lvl="2"/>
            <a:r>
              <a:rPr lang="zh-CN" altLang="en-US" b="1" dirty="0">
                <a:solidFill>
                  <a:srgbClr val="FF0000"/>
                </a:solidFill>
              </a:rPr>
              <a:t>更进一步，客户要求给出最佳部署方案和参数设定？</a:t>
            </a:r>
            <a:endParaRPr lang="en-US" altLang="zh-CN" b="1" dirty="0">
              <a:solidFill>
                <a:srgbClr val="FF0000"/>
              </a:solidFill>
            </a:endParaRPr>
          </a:p>
          <a:p>
            <a:pPr lvl="1"/>
            <a:r>
              <a:rPr lang="zh-CN" altLang="en-US" dirty="0"/>
              <a:t>没有客户明确需求，提前预研某模型在某</a:t>
            </a:r>
            <a:r>
              <a:rPr lang="en-US" altLang="zh-CN" dirty="0"/>
              <a:t>/</a:t>
            </a:r>
            <a:r>
              <a:rPr lang="zh-CN" altLang="en-US" dirty="0"/>
              <a:t>某些</a:t>
            </a:r>
            <a:r>
              <a:rPr lang="en-US" altLang="zh-CN" dirty="0"/>
              <a:t>GPU</a:t>
            </a:r>
            <a:r>
              <a:rPr lang="zh-CN" altLang="en-US" dirty="0"/>
              <a:t>机型上的表现？</a:t>
            </a:r>
            <a:endParaRPr lang="en-US" altLang="zh-CN" dirty="0"/>
          </a:p>
          <a:p>
            <a:endParaRPr lang="en-US" altLang="zh-CN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764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3A35A43-7DA1-F1E6-ED4B-B855EC87B6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144079"/>
          </a:xfrm>
        </p:spPr>
        <p:txBody>
          <a:bodyPr/>
          <a:lstStyle/>
          <a:p>
            <a:r>
              <a:rPr lang="en-US" dirty="0"/>
              <a:t>C</a:t>
            </a:r>
            <a:r>
              <a:rPr lang="en-US" altLang="zh-CN" dirty="0"/>
              <a:t>ontinue…..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17198BC-1478-3A1C-66BA-22BB674400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33490"/>
            <a:ext cx="10515600" cy="5024761"/>
          </a:xfrm>
        </p:spPr>
        <p:txBody>
          <a:bodyPr>
            <a:normAutofit lnSpcReduction="10000"/>
          </a:bodyPr>
          <a:lstStyle/>
          <a:p>
            <a:r>
              <a:rPr lang="zh-CN" altLang="en-US" b="1" dirty="0"/>
              <a:t>测试范围</a:t>
            </a:r>
            <a:r>
              <a:rPr lang="zh-CN" altLang="en-US" dirty="0"/>
              <a:t>？ </a:t>
            </a:r>
            <a:endParaRPr lang="en-US" altLang="zh-CN" dirty="0"/>
          </a:p>
          <a:p>
            <a:pPr lvl="1"/>
            <a:r>
              <a:rPr lang="zh-CN" altLang="en-US" dirty="0"/>
              <a:t>圈定测试的</a:t>
            </a:r>
            <a:r>
              <a:rPr lang="en-US" altLang="zh-CN" dirty="0"/>
              <a:t>GPU</a:t>
            </a:r>
            <a:r>
              <a:rPr lang="zh-CN" altLang="en-US" dirty="0"/>
              <a:t>机型。</a:t>
            </a:r>
            <a:endParaRPr lang="en-US" altLang="zh-CN" dirty="0"/>
          </a:p>
          <a:p>
            <a:pPr lvl="1"/>
            <a:r>
              <a:rPr lang="zh-CN" altLang="en-US" dirty="0"/>
              <a:t>圈定测试的推理框架。</a:t>
            </a:r>
            <a:endParaRPr lang="en-US" altLang="zh-CN" dirty="0"/>
          </a:p>
          <a:p>
            <a:pPr lvl="1"/>
            <a:r>
              <a:rPr lang="zh-CN" altLang="en-US" dirty="0"/>
              <a:t>圈定测试的</a:t>
            </a:r>
            <a:r>
              <a:rPr lang="zh-CN" altLang="en-US" b="1" dirty="0">
                <a:solidFill>
                  <a:srgbClr val="FF0000"/>
                </a:solidFill>
              </a:rPr>
              <a:t>有限几种部署方案</a:t>
            </a:r>
            <a:r>
              <a:rPr lang="zh-CN" altLang="en-US" dirty="0"/>
              <a:t>。</a:t>
            </a:r>
            <a:endParaRPr lang="en-US" altLang="zh-CN" dirty="0"/>
          </a:p>
          <a:p>
            <a:pPr lvl="2"/>
            <a:r>
              <a:rPr lang="zh-CN" altLang="en-US" dirty="0"/>
              <a:t>由客户指定？</a:t>
            </a:r>
            <a:endParaRPr lang="en-US" altLang="zh-CN" dirty="0"/>
          </a:p>
          <a:p>
            <a:pPr lvl="2"/>
            <a:r>
              <a:rPr lang="zh-CN" altLang="en-US" dirty="0"/>
              <a:t>客户不指定的话：</a:t>
            </a:r>
            <a:endParaRPr lang="en-US" altLang="zh-CN" dirty="0"/>
          </a:p>
          <a:p>
            <a:pPr lvl="3"/>
            <a:r>
              <a:rPr lang="zh-CN" altLang="en-US" dirty="0"/>
              <a:t>单机和多级部署是否都要考虑？</a:t>
            </a:r>
            <a:endParaRPr lang="en-US" altLang="zh-CN" dirty="0"/>
          </a:p>
          <a:p>
            <a:pPr lvl="3"/>
            <a:r>
              <a:rPr lang="en-US" altLang="zh-CN" dirty="0"/>
              <a:t>PD</a:t>
            </a:r>
            <a:r>
              <a:rPr lang="zh-CN" altLang="en-US" dirty="0"/>
              <a:t>分离和</a:t>
            </a:r>
            <a:r>
              <a:rPr lang="en-US" altLang="zh-CN" dirty="0"/>
              <a:t>Non-PD</a:t>
            </a:r>
            <a:r>
              <a:rPr lang="zh-CN" altLang="en-US" dirty="0"/>
              <a:t>分离是否都要考虑？</a:t>
            </a:r>
            <a:endParaRPr lang="en-US" altLang="zh-CN" dirty="0"/>
          </a:p>
          <a:p>
            <a:pPr lvl="3"/>
            <a:r>
              <a:rPr lang="en-US" altLang="zh-CN" dirty="0"/>
              <a:t>PD</a:t>
            </a:r>
            <a:r>
              <a:rPr lang="zh-CN" altLang="en-US" dirty="0"/>
              <a:t>分离的话，</a:t>
            </a:r>
            <a:r>
              <a:rPr lang="en-US" altLang="zh-CN" dirty="0" err="1"/>
              <a:t>xPxD</a:t>
            </a:r>
            <a:r>
              <a:rPr lang="zh-CN" altLang="en-US" dirty="0"/>
              <a:t>的选择？</a:t>
            </a:r>
            <a:endParaRPr lang="en-US" altLang="zh-CN" dirty="0"/>
          </a:p>
          <a:p>
            <a:pPr lvl="3"/>
            <a:r>
              <a:rPr lang="zh-CN" altLang="en-US" dirty="0"/>
              <a:t>并行策略组合的设定呢？</a:t>
            </a:r>
            <a:endParaRPr lang="en-US" altLang="zh-CN" dirty="0"/>
          </a:p>
          <a:p>
            <a:pPr lvl="3"/>
            <a:r>
              <a:rPr lang="zh-CN" altLang="en-US" dirty="0"/>
              <a:t>要不要在压测时使用投机解码？</a:t>
            </a:r>
            <a:endParaRPr lang="en-US" altLang="zh-CN" dirty="0"/>
          </a:p>
          <a:p>
            <a:pPr lvl="3"/>
            <a:r>
              <a:rPr lang="en-US" altLang="zh-CN" dirty="0"/>
              <a:t>PD</a:t>
            </a:r>
            <a:r>
              <a:rPr lang="zh-CN" altLang="en-US" dirty="0"/>
              <a:t>分离的</a:t>
            </a:r>
            <a:r>
              <a:rPr lang="en-US" altLang="zh-CN" dirty="0"/>
              <a:t>KV transfer engine</a:t>
            </a:r>
            <a:r>
              <a:rPr lang="zh-CN" altLang="en-US" dirty="0"/>
              <a:t>有要求吗？</a:t>
            </a:r>
            <a:endParaRPr lang="en-US" altLang="zh-CN" dirty="0"/>
          </a:p>
          <a:p>
            <a:pPr lvl="3"/>
            <a:r>
              <a:rPr lang="en-US" altLang="zh-CN" dirty="0"/>
              <a:t>Router</a:t>
            </a:r>
            <a:r>
              <a:rPr lang="zh-CN" altLang="en-US" dirty="0"/>
              <a:t>的</a:t>
            </a:r>
            <a:r>
              <a:rPr lang="en-US" altLang="zh-CN" dirty="0"/>
              <a:t>LB</a:t>
            </a:r>
            <a:r>
              <a:rPr lang="zh-CN" altLang="en-US" dirty="0"/>
              <a:t>策略如何配置？</a:t>
            </a:r>
            <a:endParaRPr lang="en-US" altLang="zh-CN" dirty="0"/>
          </a:p>
          <a:p>
            <a:pPr lvl="3"/>
            <a:r>
              <a:rPr lang="en-US" altLang="zh-CN" dirty="0"/>
              <a:t>Prefix cache</a:t>
            </a:r>
            <a:r>
              <a:rPr lang="zh-CN" altLang="en-US" dirty="0"/>
              <a:t>要开启吗？需要使用多层次</a:t>
            </a:r>
            <a:r>
              <a:rPr lang="en-US" altLang="zh-CN" dirty="0"/>
              <a:t>KV cache/</a:t>
            </a:r>
            <a:r>
              <a:rPr lang="en-US" altLang="zh-CN" dirty="0" err="1"/>
              <a:t>HiCache</a:t>
            </a:r>
            <a:r>
              <a:rPr lang="zh-CN" altLang="en-US" dirty="0"/>
              <a:t>吗？</a:t>
            </a:r>
            <a:r>
              <a:rPr lang="en-US" altLang="zh-CN" dirty="0" err="1"/>
              <a:t>HiCache</a:t>
            </a:r>
            <a:r>
              <a:rPr lang="zh-CN" altLang="en-US" dirty="0"/>
              <a:t>使用多少层次呢？</a:t>
            </a:r>
            <a:br>
              <a:rPr lang="en-US" altLang="zh-CN" dirty="0"/>
            </a:br>
            <a:endParaRPr lang="en-US" altLang="zh-CN" dirty="0"/>
          </a:p>
          <a:p>
            <a:pPr lvl="3"/>
            <a:endParaRPr lang="en-US" altLang="zh-CN" dirty="0"/>
          </a:p>
          <a:p>
            <a:pPr lvl="2"/>
            <a:endParaRPr lang="en-US" altLang="zh-CN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87875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F2A8FCF-D3C8-41CD-D455-46D25FF262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</a:t>
            </a:r>
            <a:r>
              <a:rPr lang="en-US" altLang="zh-CN" dirty="0"/>
              <a:t>ontinue…..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BDED1FA-63A0-6357-C884-B023E8C4D5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06353"/>
            <a:ext cx="10515600" cy="4170610"/>
          </a:xfrm>
        </p:spPr>
        <p:txBody>
          <a:bodyPr/>
          <a:lstStyle/>
          <a:p>
            <a:r>
              <a:rPr lang="zh-CN" altLang="en-US" b="1" dirty="0"/>
              <a:t>测试指标需求</a:t>
            </a:r>
            <a:r>
              <a:rPr lang="zh-CN" altLang="en-US" dirty="0"/>
              <a:t>：</a:t>
            </a:r>
            <a:endParaRPr lang="en-US" altLang="zh-CN" dirty="0"/>
          </a:p>
          <a:p>
            <a:pPr lvl="1"/>
            <a:r>
              <a:rPr lang="zh-CN" altLang="en-US" dirty="0"/>
              <a:t>敲定具体的测试指标需求：</a:t>
            </a:r>
            <a:endParaRPr lang="en-US" altLang="zh-CN" dirty="0"/>
          </a:p>
          <a:p>
            <a:pPr lvl="2"/>
            <a:r>
              <a:rPr lang="zh-CN" altLang="en-US" b="1" dirty="0">
                <a:solidFill>
                  <a:srgbClr val="FF0000"/>
                </a:solidFill>
              </a:rPr>
              <a:t>典型需求</a:t>
            </a:r>
            <a:r>
              <a:rPr lang="zh-CN" altLang="en-US" dirty="0"/>
              <a:t>：针对具体</a:t>
            </a:r>
            <a:r>
              <a:rPr lang="en-US" altLang="zh-CN" dirty="0"/>
              <a:t>workload</a:t>
            </a:r>
            <a:r>
              <a:rPr lang="zh-CN" altLang="en-US" dirty="0"/>
              <a:t>（甚至具体部署方案），满足</a:t>
            </a:r>
            <a:r>
              <a:rPr lang="en-US" altLang="zh-CN" dirty="0"/>
              <a:t>TTFT mean/P90</a:t>
            </a:r>
            <a:r>
              <a:rPr lang="zh-CN" altLang="en-US" dirty="0"/>
              <a:t>不大于</a:t>
            </a:r>
            <a:r>
              <a:rPr lang="en-US" altLang="zh-CN" dirty="0"/>
              <a:t>xxx</a:t>
            </a:r>
            <a:r>
              <a:rPr lang="zh-CN" altLang="en-US" dirty="0"/>
              <a:t>秒，</a:t>
            </a:r>
            <a:r>
              <a:rPr lang="en-US" altLang="zh-CN" dirty="0"/>
              <a:t>TPOT mean/P90/P99</a:t>
            </a:r>
            <a:r>
              <a:rPr lang="zh-CN" altLang="en-US" dirty="0"/>
              <a:t>不大于</a:t>
            </a:r>
            <a:r>
              <a:rPr lang="en-US" altLang="zh-CN" dirty="0"/>
              <a:t>xxx </a:t>
            </a:r>
            <a:r>
              <a:rPr lang="en-US" altLang="zh-CN" dirty="0" err="1"/>
              <a:t>ms</a:t>
            </a:r>
            <a:r>
              <a:rPr lang="zh-CN" altLang="en-US" dirty="0"/>
              <a:t>。</a:t>
            </a:r>
            <a:endParaRPr lang="en-US" altLang="zh-CN" dirty="0"/>
          </a:p>
          <a:p>
            <a:pPr lvl="1"/>
            <a:r>
              <a:rPr lang="en-US" altLang="zh-CN" dirty="0"/>
              <a:t>Tips</a:t>
            </a:r>
            <a:r>
              <a:rPr lang="zh-CN" altLang="en-US" dirty="0"/>
              <a:t>：</a:t>
            </a:r>
            <a:endParaRPr lang="en-US" altLang="zh-CN" dirty="0"/>
          </a:p>
          <a:p>
            <a:pPr lvl="2"/>
            <a:r>
              <a:rPr lang="en-US" altLang="zh-CN" dirty="0"/>
              <a:t>request rate</a:t>
            </a:r>
            <a:r>
              <a:rPr lang="zh-CN" altLang="en-US" dirty="0"/>
              <a:t>和</a:t>
            </a:r>
            <a:r>
              <a:rPr lang="en-US" altLang="zh-CN" dirty="0"/>
              <a:t>max concurrency</a:t>
            </a:r>
            <a:r>
              <a:rPr lang="zh-CN" altLang="en-US" dirty="0"/>
              <a:t>如果没有明确给定，可以根据</a:t>
            </a:r>
            <a:r>
              <a:rPr lang="en-US" altLang="zh-CN" dirty="0"/>
              <a:t>TTFT</a:t>
            </a:r>
            <a:r>
              <a:rPr lang="zh-CN" altLang="en-US" dirty="0"/>
              <a:t>和</a:t>
            </a:r>
            <a:r>
              <a:rPr lang="en-US" altLang="zh-CN" dirty="0"/>
              <a:t>TPOT</a:t>
            </a:r>
            <a:r>
              <a:rPr lang="zh-CN" altLang="en-US" dirty="0"/>
              <a:t>的要求来</a:t>
            </a:r>
            <a:r>
              <a:rPr lang="zh-CN" altLang="en-US" b="1" dirty="0"/>
              <a:t>动态调整</a:t>
            </a:r>
            <a:r>
              <a:rPr lang="zh-CN" altLang="en-US" dirty="0"/>
              <a:t>。</a:t>
            </a:r>
            <a:endParaRPr lang="en-US" altLang="zh-CN" dirty="0"/>
          </a:p>
          <a:p>
            <a:pPr lvl="2"/>
            <a:r>
              <a:rPr lang="en-US" altLang="zh-CN" dirty="0" err="1"/>
              <a:t>SGLang</a:t>
            </a:r>
            <a:r>
              <a:rPr lang="en-US" altLang="zh-CN" dirty="0"/>
              <a:t> </a:t>
            </a:r>
            <a:r>
              <a:rPr lang="en-US" altLang="zh-CN" dirty="0" err="1"/>
              <a:t>benchserving</a:t>
            </a:r>
            <a:r>
              <a:rPr lang="zh-CN" altLang="en-US" dirty="0"/>
              <a:t>的输出结果的</a:t>
            </a:r>
            <a:r>
              <a:rPr lang="en-US" altLang="zh-CN" dirty="0"/>
              <a:t>request throughput</a:t>
            </a:r>
            <a:r>
              <a:rPr lang="zh-CN" altLang="en-US" dirty="0"/>
              <a:t>是一个</a:t>
            </a:r>
            <a:r>
              <a:rPr lang="zh-CN" altLang="en-US" b="1" dirty="0">
                <a:solidFill>
                  <a:srgbClr val="FF0000"/>
                </a:solidFill>
              </a:rPr>
              <a:t>指导信号</a:t>
            </a:r>
            <a:r>
              <a:rPr lang="zh-CN" altLang="en-US" dirty="0"/>
              <a:t>来调整对应的</a:t>
            </a:r>
            <a:r>
              <a:rPr lang="en-US" altLang="zh-CN" dirty="0"/>
              <a:t>request rate</a:t>
            </a:r>
            <a:r>
              <a:rPr lang="zh-CN" altLang="en-US" dirty="0"/>
              <a:t>。</a:t>
            </a:r>
            <a:endParaRPr lang="en-US" altLang="zh-CN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257289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F4E1575-7F1A-DE04-0DBA-F0032C17B8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02356"/>
          </a:xfrm>
        </p:spPr>
        <p:txBody>
          <a:bodyPr/>
          <a:lstStyle/>
          <a:p>
            <a:r>
              <a:rPr lang="en-US" dirty="0"/>
              <a:t>Benchmark</a:t>
            </a:r>
            <a:r>
              <a:rPr lang="zh-CN" altLang="en-US" dirty="0"/>
              <a:t>实践</a:t>
            </a:r>
            <a:r>
              <a:rPr lang="en-US" altLang="zh-CN" dirty="0"/>
              <a:t>Tips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46DEFB1-15AB-F442-AD54-9A72EC7CD7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9902"/>
            <a:ext cx="10515600" cy="5008605"/>
          </a:xfrm>
        </p:spPr>
        <p:txBody>
          <a:bodyPr>
            <a:normAutofit/>
          </a:bodyPr>
          <a:lstStyle/>
          <a:p>
            <a:r>
              <a:rPr lang="zh-CN" altLang="en-US" b="1" dirty="0"/>
              <a:t>尽量消除变量干扰：</a:t>
            </a:r>
            <a:endParaRPr lang="zh-CN" altLang="en-US" dirty="0"/>
          </a:p>
          <a:p>
            <a:pPr lvl="1"/>
            <a:r>
              <a:rPr lang="zh-CN" altLang="en-US" b="1" dirty="0">
                <a:solidFill>
                  <a:srgbClr val="FF0000"/>
                </a:solidFill>
              </a:rPr>
              <a:t>明确的 </a:t>
            </a:r>
            <a:r>
              <a:rPr lang="en-US" altLang="zh-CN" b="1" dirty="0">
                <a:solidFill>
                  <a:srgbClr val="FF0000"/>
                </a:solidFill>
              </a:rPr>
              <a:t>warmup </a:t>
            </a:r>
            <a:r>
              <a:rPr lang="zh-CN" altLang="en-US" b="1" dirty="0">
                <a:solidFill>
                  <a:srgbClr val="FF0000"/>
                </a:solidFill>
              </a:rPr>
              <a:t>策略：</a:t>
            </a:r>
            <a:endParaRPr lang="en-US" altLang="zh-CN" b="1" dirty="0">
              <a:solidFill>
                <a:srgbClr val="FF0000"/>
              </a:solidFill>
            </a:endParaRPr>
          </a:p>
          <a:p>
            <a:pPr lvl="2"/>
            <a:r>
              <a:rPr lang="en-US" altLang="zh-CN" dirty="0"/>
              <a:t>benchmark </a:t>
            </a:r>
            <a:r>
              <a:rPr lang="zh-CN" altLang="en-US" dirty="0"/>
              <a:t>在正式测量前发送 </a:t>
            </a:r>
            <a:r>
              <a:rPr lang="en-US" altLang="zh-CN" dirty="0"/>
              <a:t>warmup </a:t>
            </a:r>
            <a:r>
              <a:rPr lang="zh-CN" altLang="en-US" dirty="0"/>
              <a:t>请求的核心原因是：触发</a:t>
            </a:r>
            <a:r>
              <a:rPr lang="en-US" dirty="0"/>
              <a:t>Prefill</a:t>
            </a:r>
            <a:r>
              <a:rPr lang="zh-CN" altLang="en-US" dirty="0"/>
              <a:t>路径上的</a:t>
            </a:r>
            <a:r>
              <a:rPr lang="en-US" u="sng" dirty="0">
                <a:hlinkClick r:id="rId3"/>
              </a:rPr>
              <a:t>Triton kernel JIT</a:t>
            </a:r>
            <a:r>
              <a:rPr lang="zh-CN" altLang="en-US" dirty="0"/>
              <a:t>编译。</a:t>
            </a:r>
            <a:endParaRPr lang="en-US" altLang="zh-CN" dirty="0"/>
          </a:p>
          <a:p>
            <a:pPr lvl="3"/>
            <a:r>
              <a:rPr lang="en-US" dirty="0"/>
              <a:t>Triton kernel</a:t>
            </a:r>
            <a:r>
              <a:rPr lang="zh-CN" altLang="en-US" dirty="0"/>
              <a:t>按实际输入形状编译，尽管</a:t>
            </a:r>
            <a:r>
              <a:rPr lang="en-US" dirty="0" err="1"/>
              <a:t>SGLang</a:t>
            </a:r>
            <a:r>
              <a:rPr lang="en-US" dirty="0"/>
              <a:t> server</a:t>
            </a:r>
            <a:r>
              <a:rPr lang="zh-CN" altLang="en-US" dirty="0"/>
              <a:t>启动时会有一个默认的</a:t>
            </a:r>
            <a:r>
              <a:rPr lang="en-US" dirty="0"/>
              <a:t>warmup</a:t>
            </a:r>
            <a:r>
              <a:rPr lang="zh-CN" altLang="en-US" dirty="0"/>
              <a:t>请求，单是这一个</a:t>
            </a:r>
            <a:r>
              <a:rPr lang="en-US" dirty="0"/>
              <a:t>warmup</a:t>
            </a:r>
            <a:r>
              <a:rPr lang="zh-CN" altLang="en-US" dirty="0"/>
              <a:t>请求不够充分，仍然需要发送充分合理的</a:t>
            </a:r>
            <a:r>
              <a:rPr lang="en-US" dirty="0"/>
              <a:t>warmup</a:t>
            </a:r>
            <a:r>
              <a:rPr lang="zh-CN" altLang="en-US" dirty="0"/>
              <a:t>请求来触发</a:t>
            </a:r>
            <a:r>
              <a:rPr lang="en-US" dirty="0"/>
              <a:t>Triton kernel JIT</a:t>
            </a:r>
            <a:r>
              <a:rPr lang="zh-CN" altLang="en-US" dirty="0"/>
              <a:t>编译。</a:t>
            </a:r>
            <a:endParaRPr lang="en-US" dirty="0"/>
          </a:p>
          <a:p>
            <a:pPr lvl="1"/>
            <a:r>
              <a:rPr lang="zh-CN" altLang="en-US" b="1" dirty="0"/>
              <a:t>可复现的脚本化流程</a:t>
            </a:r>
            <a:r>
              <a:rPr lang="zh-CN" altLang="en-US" dirty="0"/>
              <a:t>：比如直接提供</a:t>
            </a:r>
            <a:r>
              <a:rPr lang="en-US" altLang="zh-CN" dirty="0" err="1"/>
              <a:t>sglang</a:t>
            </a:r>
            <a:r>
              <a:rPr lang="en-US" altLang="zh-CN" dirty="0"/>
              <a:t> bench serving</a:t>
            </a:r>
            <a:r>
              <a:rPr lang="zh-CN" altLang="en-US" dirty="0"/>
              <a:t>的完整命令。</a:t>
            </a:r>
            <a:endParaRPr lang="en-US" altLang="zh-CN" dirty="0"/>
          </a:p>
          <a:p>
            <a:pPr lvl="1"/>
            <a:endParaRPr lang="zh-CN" altLang="en-US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2589B15A-9784-F292-DE44-AC1CEDDB66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51589" y="4290561"/>
            <a:ext cx="5251508" cy="2202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73478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3229DDB-4727-312B-F7CC-AFB29C853C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12672"/>
          </a:xfrm>
        </p:spPr>
        <p:txBody>
          <a:bodyPr/>
          <a:lstStyle/>
          <a:p>
            <a:r>
              <a:rPr lang="en-US" dirty="0"/>
              <a:t>C</a:t>
            </a:r>
            <a:r>
              <a:rPr lang="en-US" altLang="zh-CN" dirty="0"/>
              <a:t>ontinue…..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D9BFC2E-EE2C-948A-76A8-4BF51F2234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78465"/>
            <a:ext cx="10515600" cy="4647501"/>
          </a:xfrm>
        </p:spPr>
        <p:txBody>
          <a:bodyPr>
            <a:normAutofit/>
          </a:bodyPr>
          <a:lstStyle/>
          <a:p>
            <a:pPr lvl="2"/>
            <a:endParaRPr lang="en-US" altLang="zh-CN" dirty="0"/>
          </a:p>
          <a:p>
            <a:r>
              <a:rPr lang="zh-CN" altLang="en-US" dirty="0"/>
              <a:t> </a:t>
            </a:r>
            <a:r>
              <a:rPr lang="zh-CN" altLang="en-US" b="1" dirty="0"/>
              <a:t>反面案例</a:t>
            </a:r>
            <a:r>
              <a:rPr lang="zh-CN" altLang="en-US" dirty="0"/>
              <a:t>：</a:t>
            </a:r>
          </a:p>
          <a:p>
            <a:pPr lvl="1"/>
            <a:r>
              <a:rPr lang="zh-CN" altLang="en-US" dirty="0"/>
              <a:t>  一组实验开了 </a:t>
            </a:r>
            <a:r>
              <a:rPr lang="en-US" altLang="zh-CN" dirty="0"/>
              <a:t>prompt/prefix cache</a:t>
            </a:r>
            <a:r>
              <a:rPr lang="zh-CN" altLang="en-US" dirty="0"/>
              <a:t>，另一组实验没开。</a:t>
            </a:r>
          </a:p>
          <a:p>
            <a:pPr lvl="1"/>
            <a:r>
              <a:rPr lang="zh-CN" altLang="en-US" dirty="0"/>
              <a:t>  不同 </a:t>
            </a:r>
            <a:r>
              <a:rPr lang="en-US" altLang="zh-CN" dirty="0"/>
              <a:t>input </a:t>
            </a:r>
            <a:r>
              <a:rPr lang="zh-CN" altLang="en-US" dirty="0"/>
              <a:t> </a:t>
            </a:r>
            <a:r>
              <a:rPr lang="en-US" altLang="zh-CN" dirty="0"/>
              <a:t>token</a:t>
            </a:r>
            <a:r>
              <a:rPr lang="zh-CN" altLang="en-US" dirty="0"/>
              <a:t>长度（</a:t>
            </a:r>
            <a:r>
              <a:rPr lang="zh-CN" altLang="en-US" b="1" dirty="0"/>
              <a:t>由于</a:t>
            </a:r>
            <a:r>
              <a:rPr lang="en-US" altLang="zh-CN" b="1" dirty="0"/>
              <a:t>random range ratio</a:t>
            </a:r>
            <a:r>
              <a:rPr lang="zh-CN" altLang="en-US" b="1" dirty="0"/>
              <a:t>不为</a:t>
            </a:r>
            <a:r>
              <a:rPr lang="en-US" altLang="zh-CN" b="1" dirty="0"/>
              <a:t>1</a:t>
            </a:r>
            <a:r>
              <a:rPr lang="zh-CN" altLang="en-US" b="1" dirty="0"/>
              <a:t>带入的</a:t>
            </a:r>
            <a:r>
              <a:rPr lang="zh-CN" altLang="en-US" dirty="0"/>
              <a:t>问题）的两个对比实验。</a:t>
            </a:r>
          </a:p>
          <a:p>
            <a:pPr lvl="1"/>
            <a:r>
              <a:rPr lang="zh-CN" altLang="en-US" dirty="0"/>
              <a:t>  没有 </a:t>
            </a:r>
            <a:r>
              <a:rPr lang="en-US" altLang="zh-CN" dirty="0"/>
              <a:t>warmup </a:t>
            </a:r>
            <a:r>
              <a:rPr lang="zh-CN" altLang="en-US" dirty="0"/>
              <a:t>或者</a:t>
            </a:r>
            <a:r>
              <a:rPr lang="en-US" altLang="zh-CN" dirty="0"/>
              <a:t>warmup</a:t>
            </a:r>
            <a:r>
              <a:rPr lang="zh-CN" altLang="en-US" dirty="0"/>
              <a:t>请求的分布和后面</a:t>
            </a:r>
            <a:r>
              <a:rPr lang="en-US" altLang="zh-CN" dirty="0"/>
              <a:t>benchmark</a:t>
            </a:r>
            <a:r>
              <a:rPr lang="zh-CN" altLang="en-US" dirty="0"/>
              <a:t>请求不同。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84435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3770D9F-95E6-B13B-9B09-1B3C2420BC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</a:t>
            </a:r>
            <a:r>
              <a:rPr lang="en-US" altLang="zh-CN" dirty="0"/>
              <a:t>ontinue….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F0C72FF-00DB-BBEA-765F-4297742AB7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zh-CN" altLang="en-US" b="1" dirty="0"/>
              <a:t>需要</a:t>
            </a:r>
            <a:r>
              <a:rPr lang="zh-CN" altLang="en-US" b="1" dirty="0">
                <a:solidFill>
                  <a:srgbClr val="FF0000"/>
                </a:solidFill>
              </a:rPr>
              <a:t>重点关注</a:t>
            </a:r>
            <a:r>
              <a:rPr lang="zh-CN" altLang="en-US" b="1" dirty="0"/>
              <a:t>的性能指标</a:t>
            </a:r>
            <a:r>
              <a:rPr lang="zh-CN" altLang="en-US" dirty="0"/>
              <a:t>：</a:t>
            </a:r>
            <a:endParaRPr lang="en-US" altLang="zh-CN" dirty="0"/>
          </a:p>
          <a:p>
            <a:pPr lvl="1"/>
            <a:r>
              <a:rPr lang="en-US" dirty="0"/>
              <a:t>TTFT (Time To First Token) </a:t>
            </a:r>
          </a:p>
          <a:p>
            <a:pPr lvl="1"/>
            <a:r>
              <a:rPr lang="en-US" dirty="0"/>
              <a:t>TPOT (Time Per Output Token) </a:t>
            </a:r>
          </a:p>
          <a:p>
            <a:pPr lvl="1"/>
            <a:r>
              <a:rPr lang="en-US" dirty="0"/>
              <a:t>Output Throughput (tok</a:t>
            </a:r>
            <a:r>
              <a:rPr lang="en-US" altLang="zh-CN" dirty="0"/>
              <a:t>en</a:t>
            </a:r>
            <a:r>
              <a:rPr lang="en-US" dirty="0"/>
              <a:t>/s) </a:t>
            </a:r>
          </a:p>
          <a:p>
            <a:pPr lvl="1"/>
            <a:r>
              <a:rPr lang="en-US" altLang="zh-CN" dirty="0"/>
              <a:t>Request throughput</a:t>
            </a:r>
            <a:r>
              <a:rPr lang="zh-CN" altLang="en-US" dirty="0"/>
              <a:t>（</a:t>
            </a:r>
            <a:r>
              <a:rPr lang="en-US" altLang="zh-CN" dirty="0"/>
              <a:t>completed requests per second</a:t>
            </a:r>
            <a:r>
              <a:rPr lang="zh-CN" altLang="en-US" dirty="0"/>
              <a:t>）</a:t>
            </a:r>
            <a:endParaRPr lang="en-US" dirty="0"/>
          </a:p>
          <a:p>
            <a:pPr lvl="1"/>
            <a:r>
              <a:rPr lang="en-US" dirty="0"/>
              <a:t>Total Throughput (tok</a:t>
            </a:r>
            <a:r>
              <a:rPr lang="en-US" altLang="zh-CN" dirty="0"/>
              <a:t>en</a:t>
            </a:r>
            <a:r>
              <a:rPr lang="en-US" dirty="0"/>
              <a:t>/s) </a:t>
            </a:r>
          </a:p>
          <a:p>
            <a:pPr lvl="1"/>
            <a:r>
              <a:rPr lang="en-US" dirty="0"/>
              <a:t>KV </a:t>
            </a:r>
            <a:r>
              <a:rPr lang="en-US" altLang="zh-CN" dirty="0"/>
              <a:t>transfer avg latency</a:t>
            </a:r>
          </a:p>
          <a:p>
            <a:r>
              <a:rPr lang="en-US" altLang="zh-CN" dirty="0"/>
              <a:t>Tips</a:t>
            </a:r>
            <a:r>
              <a:rPr lang="zh-CN" altLang="en-US" dirty="0"/>
              <a:t>：</a:t>
            </a:r>
          </a:p>
          <a:p>
            <a:pPr lvl="1"/>
            <a:r>
              <a:rPr lang="zh-CN" altLang="en-US" dirty="0"/>
              <a:t>  </a:t>
            </a:r>
            <a:r>
              <a:rPr lang="en-US" b="1" dirty="0"/>
              <a:t>TTFT </a:t>
            </a:r>
            <a:r>
              <a:rPr lang="zh-CN" altLang="en-US" b="1" dirty="0"/>
              <a:t>和 </a:t>
            </a:r>
            <a:r>
              <a:rPr lang="en-US" b="1" dirty="0"/>
              <a:t>Throughput </a:t>
            </a:r>
            <a:r>
              <a:rPr lang="zh-CN" altLang="en-US" b="1" dirty="0"/>
              <a:t>往往矛盾 </a:t>
            </a:r>
            <a:r>
              <a:rPr lang="en-US" altLang="zh-CN" dirty="0"/>
              <a:t>— </a:t>
            </a:r>
            <a:r>
              <a:rPr lang="zh-CN" altLang="en-US" dirty="0"/>
              <a:t>高并发提升吞吐但恶化 </a:t>
            </a:r>
            <a:r>
              <a:rPr lang="en-US" dirty="0"/>
              <a:t>TTFT</a:t>
            </a:r>
          </a:p>
          <a:p>
            <a:pPr lvl="1"/>
            <a:r>
              <a:rPr lang="en-US" dirty="0"/>
              <a:t>  </a:t>
            </a:r>
            <a:r>
              <a:rPr lang="en-US" b="1" dirty="0"/>
              <a:t>PD </a:t>
            </a:r>
            <a:r>
              <a:rPr lang="zh-CN" altLang="en-US" b="1" dirty="0"/>
              <a:t>分离的核心收益在 </a:t>
            </a:r>
            <a:r>
              <a:rPr lang="en-US" b="1" dirty="0"/>
              <a:t>TPOT </a:t>
            </a:r>
            <a:r>
              <a:rPr lang="en-US" dirty="0"/>
              <a:t>— </a:t>
            </a:r>
            <a:r>
              <a:rPr lang="zh-CN" altLang="en-US" dirty="0"/>
              <a:t>隔离后 </a:t>
            </a:r>
            <a:r>
              <a:rPr lang="en-US" dirty="0"/>
              <a:t>decode </a:t>
            </a:r>
            <a:r>
              <a:rPr lang="zh-CN" altLang="en-US" dirty="0"/>
              <a:t>不被 </a:t>
            </a:r>
            <a:r>
              <a:rPr lang="en-US" dirty="0"/>
              <a:t>prefill </a:t>
            </a:r>
            <a:r>
              <a:rPr lang="zh-CN" altLang="en-US" dirty="0"/>
              <a:t>抢占</a:t>
            </a:r>
          </a:p>
          <a:p>
            <a:pPr lvl="1"/>
            <a:r>
              <a:rPr lang="zh-CN" altLang="en-US" dirty="0"/>
              <a:t>  </a:t>
            </a:r>
            <a:r>
              <a:rPr lang="en-US" b="1" dirty="0"/>
              <a:t>P99 TPOT </a:t>
            </a:r>
            <a:r>
              <a:rPr lang="zh-CN" altLang="en-US" b="1" dirty="0"/>
              <a:t>比 </a:t>
            </a:r>
            <a:r>
              <a:rPr lang="en-US" b="1" dirty="0"/>
              <a:t>mean </a:t>
            </a:r>
            <a:r>
              <a:rPr lang="zh-CN" altLang="en-US" b="1" dirty="0"/>
              <a:t>更能反映用户体验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518917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8B1B3C5-66CF-EE46-4736-4539EE3ECC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144893"/>
          </a:xfrm>
        </p:spPr>
        <p:txBody>
          <a:bodyPr/>
          <a:lstStyle/>
          <a:p>
            <a:r>
              <a:rPr lang="en-US" dirty="0"/>
              <a:t>C</a:t>
            </a:r>
            <a:r>
              <a:rPr lang="en-US" altLang="zh-CN" dirty="0"/>
              <a:t>ontinue…..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28ED921-09D1-18BD-BB46-D6D71B20E4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22453"/>
            <a:ext cx="10515600" cy="4870422"/>
          </a:xfrm>
        </p:spPr>
        <p:txBody>
          <a:bodyPr>
            <a:normAutofit lnSpcReduction="10000"/>
          </a:bodyPr>
          <a:lstStyle/>
          <a:p>
            <a:r>
              <a:rPr lang="en-US" b="1" dirty="0" err="1">
                <a:solidFill>
                  <a:srgbClr val="FF0000"/>
                </a:solidFill>
              </a:rPr>
              <a:t>SGL</a:t>
            </a:r>
            <a:r>
              <a:rPr lang="en-US" altLang="zh-CN" b="1" dirty="0" err="1">
                <a:solidFill>
                  <a:srgbClr val="FF0000"/>
                </a:solidFill>
              </a:rPr>
              <a:t>ang</a:t>
            </a:r>
            <a:r>
              <a:rPr lang="en-US" altLang="zh-CN" b="1" dirty="0">
                <a:solidFill>
                  <a:srgbClr val="FF0000"/>
                </a:solidFill>
              </a:rPr>
              <a:t> bench serving</a:t>
            </a:r>
            <a:r>
              <a:rPr lang="zh-CN" altLang="en-US" b="1" dirty="0">
                <a:solidFill>
                  <a:srgbClr val="FF0000"/>
                </a:solidFill>
              </a:rPr>
              <a:t>的统计结果是否可信</a:t>
            </a:r>
            <a:r>
              <a:rPr lang="zh-CN" altLang="en-US" dirty="0"/>
              <a:t>？</a:t>
            </a:r>
            <a:endParaRPr lang="en-US" altLang="zh-CN" dirty="0"/>
          </a:p>
          <a:p>
            <a:pPr lvl="1"/>
            <a:r>
              <a:rPr lang="zh-CN" altLang="en-US" b="1" dirty="0"/>
              <a:t>一定要人肉关注</a:t>
            </a:r>
            <a:r>
              <a:rPr lang="en-US" altLang="zh-CN" b="1" dirty="0" err="1"/>
              <a:t>sglang</a:t>
            </a:r>
            <a:r>
              <a:rPr lang="zh-CN" altLang="en-US" b="1" dirty="0"/>
              <a:t>的日志</a:t>
            </a:r>
            <a:r>
              <a:rPr lang="zh-CN" altLang="en-US" dirty="0"/>
              <a:t>！！！</a:t>
            </a:r>
            <a:endParaRPr lang="en-US" altLang="zh-CN" dirty="0"/>
          </a:p>
          <a:p>
            <a:pPr lvl="1"/>
            <a:r>
              <a:rPr lang="en-US" altLang="zh-CN" dirty="0"/>
              <a:t>Bench serving</a:t>
            </a:r>
            <a:r>
              <a:rPr lang="zh-CN" altLang="en-US" dirty="0"/>
              <a:t>统计的请求成功是</a:t>
            </a:r>
            <a:r>
              <a:rPr lang="zh-CN" altLang="en-US" b="1" dirty="0"/>
              <a:t>真的成功了嘛</a:t>
            </a:r>
            <a:r>
              <a:rPr lang="zh-CN" altLang="en-US" dirty="0"/>
              <a:t>？</a:t>
            </a:r>
            <a:endParaRPr lang="en-US" dirty="0"/>
          </a:p>
          <a:p>
            <a:pPr lvl="2"/>
            <a:r>
              <a:rPr lang="en-US" dirty="0" err="1"/>
              <a:t>sglang</a:t>
            </a:r>
            <a:r>
              <a:rPr lang="zh-CN" altLang="en-US" dirty="0"/>
              <a:t>的</a:t>
            </a:r>
            <a:r>
              <a:rPr lang="en-US" dirty="0"/>
              <a:t>bench serving</a:t>
            </a:r>
            <a:r>
              <a:rPr lang="zh-CN" altLang="en-US" dirty="0"/>
              <a:t>统计的请求成功的原则是什么？</a:t>
            </a:r>
            <a:endParaRPr lang="en-US" altLang="zh-CN" dirty="0"/>
          </a:p>
          <a:p>
            <a:pPr lvl="2"/>
            <a:endParaRPr lang="en-US" altLang="zh-CN" dirty="0"/>
          </a:p>
          <a:p>
            <a:pPr lvl="2"/>
            <a:endParaRPr lang="en-US" altLang="zh-CN" dirty="0"/>
          </a:p>
          <a:p>
            <a:pPr lvl="2"/>
            <a:endParaRPr lang="en-US" altLang="zh-CN" dirty="0"/>
          </a:p>
          <a:p>
            <a:pPr lvl="2"/>
            <a:endParaRPr lang="en-US" altLang="zh-CN" dirty="0"/>
          </a:p>
          <a:p>
            <a:pPr lvl="2"/>
            <a:endParaRPr lang="en-US" altLang="zh-CN" dirty="0"/>
          </a:p>
          <a:p>
            <a:pPr lvl="3"/>
            <a:endParaRPr lang="en-US" altLang="zh-CN" dirty="0"/>
          </a:p>
          <a:p>
            <a:pPr lvl="3"/>
            <a:endParaRPr lang="en-US" altLang="zh-CN" dirty="0"/>
          </a:p>
          <a:p>
            <a:pPr lvl="3"/>
            <a:endParaRPr lang="en-US" altLang="zh-CN" dirty="0"/>
          </a:p>
          <a:p>
            <a:pPr lvl="3"/>
            <a:r>
              <a:rPr lang="zh-CN" altLang="en-US" dirty="0"/>
              <a:t>逻辑很清晰：</a:t>
            </a:r>
            <a:r>
              <a:rPr lang="en-US" dirty="0"/>
              <a:t>HTTP 200 </a:t>
            </a:r>
            <a:r>
              <a:rPr lang="zh-CN" altLang="en-US" dirty="0"/>
              <a:t>意味着</a:t>
            </a:r>
            <a:r>
              <a:rPr lang="en-US" dirty="0"/>
              <a:t> prefill </a:t>
            </a:r>
            <a:r>
              <a:rPr lang="zh-CN" altLang="en-US" dirty="0"/>
              <a:t>成功</a:t>
            </a:r>
            <a:r>
              <a:rPr lang="en-US" dirty="0"/>
              <a:t> + </a:t>
            </a:r>
            <a:r>
              <a:rPr lang="zh-CN" altLang="en-US" dirty="0"/>
              <a:t>至少产出了第一个</a:t>
            </a:r>
            <a:r>
              <a:rPr lang="en-US" dirty="0"/>
              <a:t> token</a:t>
            </a:r>
            <a:r>
              <a:rPr lang="zh-CN" altLang="en-US" dirty="0"/>
              <a:t>，所以</a:t>
            </a:r>
            <a:r>
              <a:rPr lang="en-US" dirty="0"/>
              <a:t> </a:t>
            </a:r>
            <a:r>
              <a:rPr lang="en-US" dirty="0" err="1"/>
              <a:t>output_len</a:t>
            </a:r>
            <a:r>
              <a:rPr lang="en-US" dirty="0"/>
              <a:t> </a:t>
            </a:r>
            <a:r>
              <a:rPr lang="zh-CN" altLang="en-US" dirty="0"/>
              <a:t>≥</a:t>
            </a:r>
            <a:r>
              <a:rPr lang="en-US" dirty="0"/>
              <a:t> 1 </a:t>
            </a:r>
            <a:r>
              <a:rPr lang="zh-CN" altLang="en-US" dirty="0"/>
              <a:t>是必然的。问题只在于</a:t>
            </a:r>
            <a:r>
              <a:rPr lang="en-US" dirty="0"/>
              <a:t> </a:t>
            </a:r>
            <a:r>
              <a:rPr lang="en-US" dirty="0" err="1"/>
              <a:t>bench_serving</a:t>
            </a:r>
            <a:r>
              <a:rPr lang="en-US" dirty="0"/>
              <a:t> </a:t>
            </a:r>
            <a:r>
              <a:rPr lang="zh-CN" altLang="en-US" dirty="0"/>
              <a:t>不校验</a:t>
            </a:r>
            <a:r>
              <a:rPr lang="en-US" dirty="0"/>
              <a:t> </a:t>
            </a:r>
            <a:r>
              <a:rPr lang="en-US" dirty="0" err="1"/>
              <a:t>output_len</a:t>
            </a:r>
            <a:r>
              <a:rPr lang="en-US" dirty="0"/>
              <a:t> </a:t>
            </a:r>
            <a:r>
              <a:rPr lang="zh-CN" altLang="en-US" dirty="0"/>
              <a:t>是否达到了请求的</a:t>
            </a:r>
            <a:r>
              <a:rPr lang="en-US" dirty="0"/>
              <a:t>output tokens</a:t>
            </a:r>
            <a:r>
              <a:rPr lang="zh-CN" altLang="en-US" dirty="0"/>
              <a:t>，导致</a:t>
            </a:r>
            <a:r>
              <a:rPr lang="zh-CN" altLang="en-US" b="1" dirty="0">
                <a:solidFill>
                  <a:srgbClr val="FF0000"/>
                </a:solidFill>
              </a:rPr>
              <a:t>截断请求被误判为成功</a:t>
            </a:r>
            <a:r>
              <a:rPr lang="zh-CN" altLang="en-US" dirty="0"/>
              <a:t>。</a:t>
            </a:r>
            <a:endParaRPr lang="en-US" altLang="zh-CN" dirty="0"/>
          </a:p>
          <a:p>
            <a:pPr lvl="2"/>
            <a:endParaRPr lang="en-US" dirty="0"/>
          </a:p>
          <a:p>
            <a:endParaRPr lang="en-US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D01967A5-31E2-50E3-59FF-8D8A1C6D6E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3327" y="3097468"/>
            <a:ext cx="8411945" cy="2237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93331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6CC487B-6EB4-634A-5FFF-B65F82F141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03437"/>
            <a:ext cx="10515600" cy="1325563"/>
          </a:xfrm>
        </p:spPr>
        <p:txBody>
          <a:bodyPr/>
          <a:lstStyle/>
          <a:p>
            <a:pPr algn="ctr"/>
            <a:r>
              <a:rPr lang="zh-CN" altLang="en-US" dirty="0"/>
              <a:t>部署方案</a:t>
            </a:r>
            <a:r>
              <a:rPr lang="en-US" altLang="zh-CN" dirty="0"/>
              <a:t>1</a:t>
            </a:r>
            <a:r>
              <a:rPr lang="zh-CN" altLang="en-US" dirty="0"/>
              <a:t>：单机部署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38112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6FD07D7-FE83-ECF0-D036-41E652D37E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b="1" dirty="0"/>
              <a:t>核心决策</a:t>
            </a:r>
            <a:r>
              <a:rPr lang="zh-CN" altLang="en-US" dirty="0"/>
              <a:t>：</a:t>
            </a:r>
            <a:r>
              <a:rPr lang="zh-CN" altLang="en-US" b="1" dirty="0"/>
              <a:t>模型能否放进单机</a:t>
            </a:r>
            <a:r>
              <a:rPr lang="zh-CN" altLang="en-US" dirty="0"/>
              <a:t>？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D76987C-274C-E2F7-A9F4-A95B8367DA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46245"/>
            <a:ext cx="10515600" cy="4311941"/>
          </a:xfrm>
        </p:spPr>
        <p:txBody>
          <a:bodyPr/>
          <a:lstStyle/>
          <a:p>
            <a:r>
              <a:rPr lang="zh-CN" altLang="en-US" dirty="0"/>
              <a:t>显存估算（以</a:t>
            </a:r>
            <a:r>
              <a:rPr lang="en-US" altLang="zh-CN" dirty="0" err="1"/>
              <a:t>SGLang</a:t>
            </a:r>
            <a:r>
              <a:rPr lang="zh-CN" altLang="en-US" dirty="0"/>
              <a:t>为例子）：</a:t>
            </a:r>
            <a:endParaRPr lang="en-US" altLang="zh-CN" dirty="0"/>
          </a:p>
          <a:p>
            <a:pPr lvl="1"/>
            <a:r>
              <a:rPr lang="zh-CN" altLang="en-US" dirty="0"/>
              <a:t>模型参数本身 </a:t>
            </a:r>
            <a:r>
              <a:rPr lang="en-US" altLang="zh-CN" dirty="0"/>
              <a:t>+ KV cache pool </a:t>
            </a:r>
            <a:r>
              <a:rPr lang="zh-CN" altLang="en-US" dirty="0"/>
              <a:t>（总的显存 </a:t>
            </a:r>
            <a:r>
              <a:rPr lang="en-US" altLang="zh-CN" dirty="0"/>
              <a:t>* </a:t>
            </a:r>
            <a:r>
              <a:rPr lang="en-US" altLang="zh-CN" dirty="0" err="1"/>
              <a:t>mem_fraction_static</a:t>
            </a:r>
            <a:r>
              <a:rPr lang="zh-CN" altLang="en-US" dirty="0"/>
              <a:t>）</a:t>
            </a:r>
            <a:endParaRPr lang="en-US" altLang="zh-CN" dirty="0"/>
          </a:p>
          <a:p>
            <a:pPr lvl="1"/>
            <a:r>
              <a:rPr lang="en-US" altLang="zh-CN" dirty="0"/>
              <a:t>Cuda graph capture +  </a:t>
            </a:r>
            <a:r>
              <a:rPr lang="zh-CN" altLang="en-US" dirty="0"/>
              <a:t>临时需要的显存</a:t>
            </a:r>
            <a:endParaRPr lang="en-US" altLang="zh-CN" dirty="0"/>
          </a:p>
          <a:p>
            <a:r>
              <a:rPr lang="zh-CN" altLang="en-US" dirty="0"/>
              <a:t>举例：</a:t>
            </a:r>
            <a:endParaRPr lang="en-US" altLang="zh-CN" dirty="0"/>
          </a:p>
          <a:p>
            <a:pPr lvl="1"/>
            <a:r>
              <a:rPr lang="zh-CN" altLang="en-US" dirty="0"/>
              <a:t>比如对于</a:t>
            </a:r>
            <a:r>
              <a:rPr lang="en-US" dirty="0"/>
              <a:t>DeepSeek-V3 671B FP8</a:t>
            </a:r>
            <a:r>
              <a:rPr lang="zh-CN" altLang="en-US" dirty="0"/>
              <a:t>模型：</a:t>
            </a:r>
            <a:endParaRPr lang="en-US" altLang="zh-CN" dirty="0"/>
          </a:p>
          <a:p>
            <a:pPr lvl="2"/>
            <a:r>
              <a:rPr lang="en-US" dirty="0"/>
              <a:t> H200 </a:t>
            </a:r>
            <a:r>
              <a:rPr lang="zh-CN" altLang="en-US" dirty="0"/>
              <a:t>刚好够：</a:t>
            </a:r>
            <a:endParaRPr lang="en-US" altLang="zh-CN" dirty="0"/>
          </a:p>
          <a:p>
            <a:pPr lvl="3"/>
            <a:r>
              <a:rPr lang="zh-CN" altLang="en-US" dirty="0"/>
              <a:t>比如通过</a:t>
            </a:r>
            <a:r>
              <a:rPr lang="en-US" dirty="0"/>
              <a:t>mem-fraction-static 0.78 </a:t>
            </a:r>
            <a:r>
              <a:rPr lang="zh-CN" altLang="en-US" dirty="0"/>
              <a:t>精细调控</a:t>
            </a:r>
          </a:p>
          <a:p>
            <a:pPr lvl="2"/>
            <a:r>
              <a:rPr lang="zh-CN" altLang="en-US" dirty="0"/>
              <a:t> </a:t>
            </a:r>
            <a:r>
              <a:rPr lang="en-US" dirty="0"/>
              <a:t>B200/B300 </a:t>
            </a:r>
            <a:r>
              <a:rPr lang="zh-CN" altLang="en-US" dirty="0"/>
              <a:t>富余大：</a:t>
            </a:r>
            <a:endParaRPr lang="en-US" altLang="zh-CN" dirty="0"/>
          </a:p>
          <a:p>
            <a:pPr lvl="3"/>
            <a:r>
              <a:rPr lang="zh-CN" altLang="en-US" dirty="0"/>
              <a:t>可跑更长 </a:t>
            </a:r>
            <a:r>
              <a:rPr lang="en-US" dirty="0"/>
              <a:t>context </a:t>
            </a:r>
            <a:r>
              <a:rPr lang="zh-CN" altLang="en-US" dirty="0"/>
              <a:t>或更大 </a:t>
            </a:r>
            <a:r>
              <a:rPr lang="en-US" dirty="0"/>
              <a:t>batch</a:t>
            </a:r>
          </a:p>
          <a:p>
            <a:pPr lvl="2"/>
            <a:r>
              <a:rPr lang="en-US" dirty="0"/>
              <a:t> G7e.48</a:t>
            </a:r>
            <a:r>
              <a:rPr lang="en-US" altLang="zh-CN" dirty="0"/>
              <a:t>xlarge</a:t>
            </a:r>
            <a:r>
              <a:rPr lang="en-US" dirty="0"/>
              <a:t> </a:t>
            </a:r>
            <a:r>
              <a:rPr lang="zh-CN" altLang="en-US" dirty="0"/>
              <a:t>无法单机部署：</a:t>
            </a:r>
            <a:endParaRPr lang="en-US" dirty="0"/>
          </a:p>
          <a:p>
            <a:pPr lvl="3"/>
            <a:r>
              <a:rPr lang="zh-CN" altLang="en-US" dirty="0"/>
              <a:t>必须 </a:t>
            </a:r>
            <a:r>
              <a:rPr lang="en-US" altLang="zh-CN" dirty="0"/>
              <a:t>2+ </a:t>
            </a:r>
            <a:r>
              <a:rPr lang="zh-CN" altLang="en-US" dirty="0"/>
              <a:t>节点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58210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118CEE5-04EA-3539-0FAC-A8C747DF0E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88159"/>
          </a:xfrm>
        </p:spPr>
        <p:txBody>
          <a:bodyPr/>
          <a:lstStyle/>
          <a:p>
            <a:r>
              <a:rPr lang="zh-CN" altLang="en-US" dirty="0"/>
              <a:t>为什么单机也需要 </a:t>
            </a:r>
            <a:r>
              <a:rPr lang="en-US" dirty="0"/>
              <a:t>EP</a:t>
            </a:r>
            <a:r>
              <a:rPr lang="zh-CN" altLang="en-US" dirty="0"/>
              <a:t>？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6CFF8AB-54F7-D905-A3F7-BBBECDDA49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6769"/>
            <a:ext cx="10515600" cy="4770194"/>
          </a:xfrm>
        </p:spPr>
        <p:txBody>
          <a:bodyPr/>
          <a:lstStyle/>
          <a:p>
            <a:r>
              <a:rPr lang="zh-CN" altLang="en-US" dirty="0"/>
              <a:t>用</a:t>
            </a:r>
            <a:r>
              <a:rPr lang="en-US" altLang="zh-CN" dirty="0"/>
              <a:t>Deepseek-v3 on H200</a:t>
            </a:r>
            <a:r>
              <a:rPr lang="zh-CN" altLang="en-US" dirty="0"/>
              <a:t>来举例（它的每个</a:t>
            </a:r>
            <a:r>
              <a:rPr lang="en-US" altLang="zh-CN" dirty="0"/>
              <a:t>transformer block</a:t>
            </a:r>
            <a:r>
              <a:rPr lang="zh-CN" altLang="en-US" dirty="0"/>
              <a:t>有</a:t>
            </a:r>
            <a:r>
              <a:rPr lang="en-US" altLang="zh-CN" dirty="0"/>
              <a:t>256</a:t>
            </a:r>
            <a:r>
              <a:rPr lang="zh-CN" altLang="en-US" dirty="0"/>
              <a:t>个</a:t>
            </a:r>
            <a:r>
              <a:rPr lang="en-US" altLang="zh-CN" dirty="0"/>
              <a:t>routed Moe</a:t>
            </a:r>
            <a:r>
              <a:rPr lang="zh-CN" altLang="en-US" dirty="0"/>
              <a:t>专家和</a:t>
            </a:r>
            <a:r>
              <a:rPr lang="en-US" altLang="zh-CN" dirty="0"/>
              <a:t>1</a:t>
            </a:r>
            <a:r>
              <a:rPr lang="zh-CN" altLang="en-US" dirty="0"/>
              <a:t>个</a:t>
            </a:r>
            <a:r>
              <a:rPr lang="en-US" altLang="zh-CN" dirty="0"/>
              <a:t>shared Moe</a:t>
            </a:r>
            <a:r>
              <a:rPr lang="zh-CN" altLang="en-US" dirty="0"/>
              <a:t>），</a:t>
            </a:r>
            <a:r>
              <a:rPr lang="en-US" altLang="zh-CN" b="1" dirty="0"/>
              <a:t>EP 1 VS EP 8</a:t>
            </a:r>
            <a:r>
              <a:rPr lang="zh-CN" altLang="en-US" b="1" dirty="0"/>
              <a:t>的实验观察</a:t>
            </a:r>
            <a:r>
              <a:rPr lang="zh-CN" altLang="en-US" dirty="0"/>
              <a:t>：</a:t>
            </a:r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pPr lvl="1"/>
            <a:r>
              <a:rPr lang="zh-CN" altLang="en-US" dirty="0">
                <a:solidFill>
                  <a:srgbClr val="FF0000"/>
                </a:solidFill>
              </a:rPr>
              <a:t>为什么</a:t>
            </a:r>
            <a:r>
              <a:rPr lang="en-US" dirty="0">
                <a:solidFill>
                  <a:srgbClr val="FF0000"/>
                </a:solidFill>
              </a:rPr>
              <a:t>EP</a:t>
            </a:r>
            <a:r>
              <a:rPr lang="zh-CN" altLang="en-US" dirty="0">
                <a:solidFill>
                  <a:srgbClr val="FF0000"/>
                </a:solidFill>
              </a:rPr>
              <a:t> </a:t>
            </a:r>
            <a:r>
              <a:rPr lang="en-US" altLang="zh-CN" dirty="0">
                <a:solidFill>
                  <a:srgbClr val="FF0000"/>
                </a:solidFill>
              </a:rPr>
              <a:t>1</a:t>
            </a:r>
            <a:r>
              <a:rPr lang="zh-CN" altLang="en-US" dirty="0">
                <a:solidFill>
                  <a:srgbClr val="FF0000"/>
                </a:solidFill>
              </a:rPr>
              <a:t>的方案，剩余的可用</a:t>
            </a:r>
            <a:r>
              <a:rPr lang="en-US" dirty="0">
                <a:solidFill>
                  <a:srgbClr val="FF0000"/>
                </a:solidFill>
              </a:rPr>
              <a:t>GPU</a:t>
            </a:r>
            <a:r>
              <a:rPr lang="zh-CN" altLang="en-US" dirty="0">
                <a:solidFill>
                  <a:srgbClr val="FF0000"/>
                </a:solidFill>
              </a:rPr>
              <a:t>显存比</a:t>
            </a:r>
            <a:r>
              <a:rPr lang="en-US" dirty="0">
                <a:solidFill>
                  <a:srgbClr val="FF0000"/>
                </a:solidFill>
              </a:rPr>
              <a:t>EP</a:t>
            </a:r>
            <a:r>
              <a:rPr lang="zh-CN" altLang="en-US" dirty="0">
                <a:solidFill>
                  <a:srgbClr val="FF0000"/>
                </a:solidFill>
              </a:rPr>
              <a:t> </a:t>
            </a:r>
            <a:r>
              <a:rPr lang="en-US" altLang="zh-CN" dirty="0">
                <a:solidFill>
                  <a:srgbClr val="FF0000"/>
                </a:solidFill>
              </a:rPr>
              <a:t>8</a:t>
            </a:r>
            <a:r>
              <a:rPr lang="zh-CN" altLang="en-US" dirty="0">
                <a:solidFill>
                  <a:srgbClr val="FF0000"/>
                </a:solidFill>
              </a:rPr>
              <a:t>的少很多</a:t>
            </a:r>
            <a:r>
              <a:rPr lang="zh-CN" altLang="en-US" dirty="0"/>
              <a:t>？</a:t>
            </a:r>
            <a:endParaRPr lang="en-US" altLang="zh-CN" dirty="0"/>
          </a:p>
          <a:p>
            <a:pPr lvl="2"/>
            <a:r>
              <a:rPr lang="zh-CN" altLang="en-US" dirty="0"/>
              <a:t>真正的差异来源是：</a:t>
            </a:r>
            <a:r>
              <a:rPr lang="en-US" dirty="0" err="1"/>
              <a:t>DeepGEMM</a:t>
            </a:r>
            <a:r>
              <a:rPr lang="en-US" dirty="0"/>
              <a:t> </a:t>
            </a:r>
            <a:r>
              <a:rPr lang="en-US" dirty="0" err="1"/>
              <a:t>masked_gemm</a:t>
            </a:r>
            <a:r>
              <a:rPr lang="zh-CN" altLang="en-US" dirty="0"/>
              <a:t>运行时的中间</a:t>
            </a:r>
            <a:r>
              <a:rPr lang="en-US" dirty="0"/>
              <a:t>buffer</a:t>
            </a:r>
            <a:r>
              <a:rPr lang="zh-CN" altLang="en-US" dirty="0"/>
              <a:t>分配模式。</a:t>
            </a:r>
            <a:br>
              <a:rPr lang="zh-CN" altLang="en-US" dirty="0"/>
            </a:br>
            <a:endParaRPr lang="en-US" altLang="zh-CN" dirty="0"/>
          </a:p>
          <a:p>
            <a:pPr lvl="1"/>
            <a:endParaRPr lang="en-US" altLang="zh-CN" dirty="0"/>
          </a:p>
          <a:p>
            <a:pPr lvl="1"/>
            <a:endParaRPr lang="en-US" altLang="zh-CN" dirty="0"/>
          </a:p>
          <a:p>
            <a:pPr lvl="1"/>
            <a:endParaRPr lang="en-US" altLang="zh-CN" dirty="0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43ACA3B0-7538-F087-6DE0-15D6226945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6901" y="2217289"/>
            <a:ext cx="7518197" cy="1398534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BC4C50E4-2FC5-4A88-AB26-63D49390CAA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8643" y="4426343"/>
            <a:ext cx="7222920" cy="2234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27627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FB41FDC-E4EA-667D-E120-E24D9417FE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63081"/>
          </a:xfrm>
        </p:spPr>
        <p:txBody>
          <a:bodyPr/>
          <a:lstStyle/>
          <a:p>
            <a:r>
              <a:rPr lang="en-US" dirty="0"/>
              <a:t>C</a:t>
            </a:r>
            <a:r>
              <a:rPr lang="en-US" altLang="zh-CN" dirty="0"/>
              <a:t>ontinue…..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F92ABDC-45CB-24A2-E12C-C873827D29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22323"/>
            <a:ext cx="10515600" cy="5074568"/>
          </a:xfrm>
        </p:spPr>
        <p:txBody>
          <a:bodyPr>
            <a:normAutofit/>
          </a:bodyPr>
          <a:lstStyle/>
          <a:p>
            <a:pPr lvl="1"/>
            <a:r>
              <a:rPr lang="zh-CN" altLang="en-US" dirty="0"/>
              <a:t>对于单节点</a:t>
            </a:r>
            <a:r>
              <a:rPr lang="en-US" altLang="zh-CN" dirty="0"/>
              <a:t>H200 P5en.48xlarge</a:t>
            </a:r>
            <a:r>
              <a:rPr lang="zh-CN" altLang="en-US" dirty="0"/>
              <a:t>部署</a:t>
            </a:r>
            <a:r>
              <a:rPr lang="en-US" dirty="0"/>
              <a:t>Deepseek-v3 FP8</a:t>
            </a:r>
            <a:r>
              <a:rPr lang="zh-CN" altLang="en-US" dirty="0"/>
              <a:t>模型，如果使用</a:t>
            </a:r>
            <a:r>
              <a:rPr lang="en-US" dirty="0"/>
              <a:t>EP1 TP8</a:t>
            </a:r>
            <a:r>
              <a:rPr lang="zh-CN" altLang="en-US" dirty="0"/>
              <a:t>，需要</a:t>
            </a:r>
            <a:r>
              <a:rPr lang="en-US" dirty="0"/>
              <a:t>disable </a:t>
            </a:r>
            <a:r>
              <a:rPr lang="en-US" dirty="0" err="1"/>
              <a:t>cuda</a:t>
            </a:r>
            <a:r>
              <a:rPr lang="en-US" dirty="0"/>
              <a:t> graph，</a:t>
            </a:r>
            <a:r>
              <a:rPr lang="zh-CN" altLang="en-US" dirty="0"/>
              <a:t>否则在</a:t>
            </a:r>
            <a:r>
              <a:rPr lang="en-US" dirty="0" err="1"/>
              <a:t>cuda</a:t>
            </a:r>
            <a:r>
              <a:rPr lang="en-US" dirty="0"/>
              <a:t> graph capture</a:t>
            </a:r>
            <a:r>
              <a:rPr lang="zh-CN" altLang="en-US" dirty="0"/>
              <a:t>阶段就会因显存不足出问题。 </a:t>
            </a:r>
          </a:p>
          <a:p>
            <a:pPr lvl="2"/>
            <a:r>
              <a:rPr lang="zh-CN" altLang="en-US" dirty="0"/>
              <a:t>下面这个是</a:t>
            </a:r>
            <a:r>
              <a:rPr lang="en-US" dirty="0"/>
              <a:t>disable </a:t>
            </a:r>
            <a:r>
              <a:rPr lang="en-US" dirty="0" err="1"/>
              <a:t>cuda</a:t>
            </a:r>
            <a:r>
              <a:rPr lang="en-US" dirty="0"/>
              <a:t> graph</a:t>
            </a:r>
            <a:r>
              <a:rPr lang="zh-CN" altLang="en-US" dirty="0"/>
              <a:t>的</a:t>
            </a:r>
            <a:r>
              <a:rPr lang="en-US" dirty="0"/>
              <a:t>EP1 TP8</a:t>
            </a:r>
            <a:r>
              <a:rPr lang="zh-CN" altLang="en-US" dirty="0"/>
              <a:t>的性能对比</a:t>
            </a:r>
            <a:r>
              <a:rPr lang="en-US" dirty="0"/>
              <a:t>EP8 TP8</a:t>
            </a:r>
            <a:r>
              <a:rPr lang="zh-CN" altLang="en-US" dirty="0"/>
              <a:t>且</a:t>
            </a:r>
            <a:r>
              <a:rPr lang="en-US" dirty="0"/>
              <a:t>enable </a:t>
            </a:r>
            <a:r>
              <a:rPr lang="en-US" dirty="0" err="1"/>
              <a:t>cuda</a:t>
            </a:r>
            <a:r>
              <a:rPr lang="en-US" dirty="0"/>
              <a:t> graph</a:t>
            </a:r>
            <a:r>
              <a:rPr lang="zh-CN" altLang="en-US" dirty="0"/>
              <a:t>的性能。前者性能要差很多。</a:t>
            </a:r>
            <a:endParaRPr lang="en-US" altLang="zh-CN" dirty="0"/>
          </a:p>
          <a:p>
            <a:pPr lvl="2"/>
            <a:endParaRPr lang="en-US" altLang="zh-CN" dirty="0"/>
          </a:p>
          <a:p>
            <a:pPr lvl="2"/>
            <a:endParaRPr lang="en-US" altLang="zh-CN" dirty="0"/>
          </a:p>
          <a:p>
            <a:pPr lvl="2"/>
            <a:endParaRPr lang="en-US" altLang="zh-CN" dirty="0"/>
          </a:p>
          <a:p>
            <a:pPr lvl="2"/>
            <a:endParaRPr lang="en-US" altLang="zh-CN" dirty="0"/>
          </a:p>
          <a:p>
            <a:pPr lvl="2"/>
            <a:endParaRPr lang="en-US" altLang="zh-CN" dirty="0"/>
          </a:p>
          <a:p>
            <a:pPr lvl="2"/>
            <a:endParaRPr lang="en-US" altLang="zh-CN" dirty="0"/>
          </a:p>
          <a:p>
            <a:pPr lvl="2"/>
            <a:endParaRPr lang="en-US" altLang="zh-CN" dirty="0"/>
          </a:p>
          <a:p>
            <a:pPr lvl="1"/>
            <a:endParaRPr lang="en-US" altLang="zh-CN" dirty="0"/>
          </a:p>
          <a:p>
            <a:pPr lvl="1"/>
            <a:endParaRPr lang="en-US" altLang="zh-CN" dirty="0"/>
          </a:p>
          <a:p>
            <a:pPr lvl="1"/>
            <a:endParaRPr lang="en-US" altLang="zh-CN" dirty="0"/>
          </a:p>
          <a:p>
            <a:pPr lvl="1"/>
            <a:endParaRPr lang="en-US" altLang="zh-CN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29FC583D-E398-6141-46EF-84A8F2DBDC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4699" y="3429000"/>
            <a:ext cx="9220309" cy="3063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19742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21FB971-C13C-A84F-9293-AAB871E0D1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61340"/>
          </a:xfrm>
        </p:spPr>
        <p:txBody>
          <a:bodyPr/>
          <a:lstStyle/>
          <a:p>
            <a:r>
              <a:rPr lang="en-US" dirty="0"/>
              <a:t>C</a:t>
            </a:r>
            <a:r>
              <a:rPr lang="en-US" altLang="zh-CN" dirty="0"/>
              <a:t>ontinue…..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3EE4188-C190-88F2-59BC-2B06E459E2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4504" y="1636776"/>
            <a:ext cx="10515600" cy="5071110"/>
          </a:xfrm>
        </p:spPr>
        <p:txBody>
          <a:bodyPr>
            <a:normAutofit/>
          </a:bodyPr>
          <a:lstStyle/>
          <a:p>
            <a:pPr lvl="1"/>
            <a:r>
              <a:rPr lang="zh-CN" altLang="en-US" dirty="0"/>
              <a:t>但是对于单节点</a:t>
            </a:r>
            <a:r>
              <a:rPr lang="en-US" altLang="zh-CN" dirty="0"/>
              <a:t>H200 P5en.48xlarge</a:t>
            </a:r>
            <a:r>
              <a:rPr lang="zh-CN" altLang="en-US" dirty="0"/>
              <a:t>部署的</a:t>
            </a:r>
            <a:r>
              <a:rPr lang="en-US" dirty="0"/>
              <a:t>Kimi2.5 INT4</a:t>
            </a:r>
            <a:r>
              <a:rPr lang="zh-CN" altLang="en-US" dirty="0"/>
              <a:t>模型，使用</a:t>
            </a:r>
            <a:r>
              <a:rPr lang="en-US" dirty="0"/>
              <a:t>EP 1 TP 8</a:t>
            </a:r>
            <a:r>
              <a:rPr lang="zh-CN" altLang="en-US" dirty="0"/>
              <a:t>（</a:t>
            </a:r>
            <a:r>
              <a:rPr lang="en-US" altLang="zh-CN" b="1" dirty="0"/>
              <a:t>enable </a:t>
            </a:r>
            <a:r>
              <a:rPr lang="en-US" altLang="zh-CN" b="1" dirty="0" err="1"/>
              <a:t>cuda</a:t>
            </a:r>
            <a:r>
              <a:rPr lang="en-US" altLang="zh-CN" b="1" dirty="0"/>
              <a:t> graph</a:t>
            </a:r>
            <a:r>
              <a:rPr lang="zh-CN" altLang="en-US" dirty="0"/>
              <a:t>）部署方案的性能比</a:t>
            </a:r>
            <a:r>
              <a:rPr lang="en-US" dirty="0"/>
              <a:t>EP 8 TP 8，</a:t>
            </a:r>
            <a:r>
              <a:rPr lang="zh-CN" altLang="en-US" dirty="0"/>
              <a:t>以及</a:t>
            </a:r>
            <a:r>
              <a:rPr lang="en-US" dirty="0"/>
              <a:t>EP 8 TP 8 DP8(enable DP </a:t>
            </a:r>
            <a:r>
              <a:rPr lang="en-US" dirty="0" err="1"/>
              <a:t>attentioin</a:t>
            </a:r>
            <a:r>
              <a:rPr lang="en-US" dirty="0"/>
              <a:t>) </a:t>
            </a:r>
            <a:r>
              <a:rPr lang="zh-CN" altLang="en-US" dirty="0"/>
              <a:t>的性能都好。</a:t>
            </a:r>
          </a:p>
          <a:p>
            <a:pPr lvl="1"/>
            <a:endParaRPr lang="en-US" altLang="zh-CN" dirty="0"/>
          </a:p>
          <a:p>
            <a:pPr lvl="1"/>
            <a:endParaRPr lang="en-US" altLang="zh-CN" dirty="0"/>
          </a:p>
          <a:p>
            <a:pPr lvl="1"/>
            <a:endParaRPr lang="en-US" altLang="zh-CN" dirty="0"/>
          </a:p>
          <a:p>
            <a:pPr lvl="1"/>
            <a:endParaRPr lang="en-US" altLang="zh-CN" dirty="0"/>
          </a:p>
          <a:p>
            <a:pPr lvl="1"/>
            <a:endParaRPr lang="en-US" altLang="zh-CN" dirty="0"/>
          </a:p>
          <a:p>
            <a:pPr lvl="1"/>
            <a:endParaRPr lang="en-US" altLang="zh-CN" dirty="0"/>
          </a:p>
          <a:p>
            <a:pPr lvl="1"/>
            <a:endParaRPr lang="en-US" altLang="zh-CN" dirty="0"/>
          </a:p>
          <a:p>
            <a:pPr lvl="1"/>
            <a:r>
              <a:rPr lang="zh-CN" altLang="en-US" dirty="0"/>
              <a:t>测试条件：</a:t>
            </a:r>
            <a:r>
              <a:rPr lang="en-US" dirty="0"/>
              <a:t> random-input-</a:t>
            </a:r>
            <a:r>
              <a:rPr lang="en-US" dirty="0" err="1"/>
              <a:t>len</a:t>
            </a:r>
            <a:r>
              <a:rPr lang="en-US" dirty="0"/>
              <a:t>=2048, random-output-</a:t>
            </a:r>
            <a:r>
              <a:rPr lang="en-US" dirty="0" err="1"/>
              <a:t>len</a:t>
            </a:r>
            <a:r>
              <a:rPr lang="en-US" dirty="0"/>
              <a:t>=256</a:t>
            </a:r>
            <a:r>
              <a:rPr lang="zh-CN" altLang="en-US" dirty="0"/>
              <a:t>。</a:t>
            </a:r>
            <a:endParaRPr lang="en-US" altLang="zh-CN" dirty="0"/>
          </a:p>
          <a:p>
            <a:pPr lvl="1"/>
            <a:r>
              <a:rPr lang="en-US" b="1" dirty="0" err="1"/>
              <a:t>Tips：</a:t>
            </a:r>
            <a:r>
              <a:rPr lang="en-US" b="1" dirty="0" err="1">
                <a:solidFill>
                  <a:srgbClr val="FF0000"/>
                </a:solidFill>
              </a:rPr>
              <a:t>EP</a:t>
            </a:r>
            <a:r>
              <a:rPr lang="zh-CN" altLang="en-US" b="1" dirty="0">
                <a:solidFill>
                  <a:srgbClr val="FF0000"/>
                </a:solidFill>
              </a:rPr>
              <a:t>是否设定，如何设定，还是要</a:t>
            </a:r>
            <a:r>
              <a:rPr lang="en-US" b="1" dirty="0">
                <a:solidFill>
                  <a:srgbClr val="FF0000"/>
                </a:solidFill>
              </a:rPr>
              <a:t>case by case</a:t>
            </a:r>
            <a:r>
              <a:rPr lang="zh-CN" altLang="en-US" b="1" dirty="0">
                <a:solidFill>
                  <a:srgbClr val="FF0000"/>
                </a:solidFill>
              </a:rPr>
              <a:t>来看的</a:t>
            </a:r>
            <a:r>
              <a:rPr lang="zh-CN" altLang="en-US" dirty="0"/>
              <a:t>。</a:t>
            </a:r>
            <a:endParaRPr lang="en-US" dirty="0"/>
          </a:p>
          <a:p>
            <a:endParaRPr lang="en-US" dirty="0"/>
          </a:p>
        </p:txBody>
      </p:sp>
      <p:pic>
        <p:nvPicPr>
          <p:cNvPr id="2051" name="Picture 3">
            <a:extLst>
              <a:ext uri="{FF2B5EF4-FFF2-40B4-BE49-F238E27FC236}">
                <a16:creationId xmlns:a16="http://schemas.microsoft.com/office/drawing/2014/main" id="{2DAD45BA-2369-1C1C-C9F9-CEE0AFBC70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1560" y="2715768"/>
            <a:ext cx="5190744" cy="26060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B99FE986-0747-05FF-1C30-B0D142F435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6304" y="13335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pic>
        <p:nvPicPr>
          <p:cNvPr id="2053" name="Picture 5">
            <a:extLst>
              <a:ext uri="{FF2B5EF4-FFF2-40B4-BE49-F238E27FC236}">
                <a16:creationId xmlns:a16="http://schemas.microsoft.com/office/drawing/2014/main" id="{0884BE78-2896-557D-168D-0CE7918746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0632" y="2864739"/>
            <a:ext cx="4328160" cy="2308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6">
            <a:extLst>
              <a:ext uri="{FF2B5EF4-FFF2-40B4-BE49-F238E27FC236}">
                <a16:creationId xmlns:a16="http://schemas.microsoft.com/office/drawing/2014/main" id="{C2729B0B-956E-93A4-7899-CE38FB8CA5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5216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359884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DDDEC5C-BADE-2E58-5635-2DCC78A801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单机部署和多机部署的对比</a:t>
            </a:r>
            <a:endParaRPr lang="en-US" altLang="zh-CN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534B981-B22D-32E8-C957-815096AE4D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b="1" dirty="0"/>
          </a:p>
          <a:p>
            <a:endParaRPr lang="en-US" altLang="zh-CN" b="1" dirty="0"/>
          </a:p>
          <a:p>
            <a:r>
              <a:rPr lang="zh-CN" altLang="en-US" b="1" dirty="0"/>
              <a:t>是否多机部署一定比单机部署的性能好</a:t>
            </a:r>
            <a:r>
              <a:rPr lang="zh-CN" altLang="en-US" dirty="0"/>
              <a:t>？</a:t>
            </a:r>
            <a:endParaRPr lang="en-US" altLang="zh-CN" dirty="0"/>
          </a:p>
          <a:p>
            <a:pPr lvl="1"/>
            <a:r>
              <a:rPr lang="zh-CN" altLang="en-US" b="1" dirty="0">
                <a:solidFill>
                  <a:srgbClr val="FF0000"/>
                </a:solidFill>
              </a:rPr>
              <a:t>不一定。</a:t>
            </a:r>
            <a:r>
              <a:rPr lang="en-US" altLang="zh-CN" b="1" dirty="0">
                <a:solidFill>
                  <a:srgbClr val="FF0000"/>
                </a:solidFill>
              </a:rPr>
              <a:t>Case by case</a:t>
            </a:r>
            <a:r>
              <a:rPr lang="zh-CN" altLang="en-US" b="1" dirty="0">
                <a:solidFill>
                  <a:srgbClr val="FF0000"/>
                </a:solidFill>
              </a:rPr>
              <a:t>来测试。</a:t>
            </a:r>
            <a:endParaRPr lang="en-US" altLang="zh-CN" b="1" dirty="0">
              <a:solidFill>
                <a:srgbClr val="FF0000"/>
              </a:solidFill>
            </a:endParaRPr>
          </a:p>
          <a:p>
            <a:pPr lvl="1"/>
            <a:endParaRPr 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8E508B77-7A65-C4D9-3B01-EF7F11AC18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261" y="1889633"/>
            <a:ext cx="9881803" cy="2883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892160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A4BF680-ECB4-CA89-CB35-DD5321FD2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58517"/>
            <a:ext cx="10515600" cy="1325563"/>
          </a:xfrm>
        </p:spPr>
        <p:txBody>
          <a:bodyPr/>
          <a:lstStyle/>
          <a:p>
            <a:pPr algn="ctr"/>
            <a:r>
              <a:rPr lang="zh-CN" altLang="en-US" dirty="0"/>
              <a:t>部署方案</a:t>
            </a:r>
            <a:r>
              <a:rPr lang="en-US" altLang="zh-CN" dirty="0"/>
              <a:t>2</a:t>
            </a:r>
            <a:r>
              <a:rPr lang="zh-CN" altLang="en-US" dirty="0"/>
              <a:t>：多机</a:t>
            </a:r>
            <a:r>
              <a:rPr lang="en-US" altLang="zh-CN" dirty="0"/>
              <a:t>Non-PD </a:t>
            </a:r>
            <a:r>
              <a:rPr lang="zh-CN" altLang="en-US" dirty="0"/>
              <a:t>分离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593684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D2EC652-F481-85CE-ED0C-1021C602E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核心决策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FFEE355-99F2-1A45-4C2B-80EFF091B5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660775"/>
          </a:xfrm>
        </p:spPr>
        <p:txBody>
          <a:bodyPr/>
          <a:lstStyle/>
          <a:p>
            <a:r>
              <a:rPr lang="en-US" dirty="0"/>
              <a:t>EP</a:t>
            </a:r>
            <a:r>
              <a:rPr lang="zh-CN" altLang="en-US" dirty="0"/>
              <a:t>是否跨节点？</a:t>
            </a:r>
            <a:endParaRPr lang="en-US" altLang="zh-CN" dirty="0"/>
          </a:p>
          <a:p>
            <a:r>
              <a:rPr lang="zh-CN" altLang="en-US" dirty="0"/>
              <a:t>是否需要引入</a:t>
            </a:r>
            <a:r>
              <a:rPr lang="en-US" altLang="zh-CN" dirty="0"/>
              <a:t>PP</a:t>
            </a:r>
            <a:r>
              <a:rPr lang="zh-CN" altLang="en-US" dirty="0"/>
              <a:t>？</a:t>
            </a:r>
            <a:endParaRPr lang="en-US" altLang="zh-CN" dirty="0"/>
          </a:p>
          <a:p>
            <a:r>
              <a:rPr lang="zh-CN" altLang="en-US" dirty="0"/>
              <a:t>是否需要</a:t>
            </a:r>
            <a:r>
              <a:rPr lang="en-US" altLang="zh-CN" dirty="0"/>
              <a:t>enable DP attention</a:t>
            </a:r>
            <a:r>
              <a:rPr lang="zh-CN" altLang="en-US" dirty="0"/>
              <a:t>？</a:t>
            </a:r>
            <a:endParaRPr lang="en-US" altLang="zh-CN" dirty="0"/>
          </a:p>
          <a:p>
            <a:r>
              <a:rPr lang="zh-CN" altLang="en-US" dirty="0"/>
              <a:t>是否引入</a:t>
            </a:r>
            <a:r>
              <a:rPr lang="en-US" altLang="zh-CN" dirty="0" err="1"/>
              <a:t>DeepEP</a:t>
            </a:r>
            <a:r>
              <a:rPr lang="en-US" altLang="zh-CN" dirty="0"/>
              <a:t>/UCCL-EP</a:t>
            </a:r>
            <a:r>
              <a:rPr lang="zh-CN" altLang="en-US" dirty="0"/>
              <a:t>？</a:t>
            </a:r>
            <a:endParaRPr lang="en-US" altLang="zh-CN" dirty="0"/>
          </a:p>
          <a:p>
            <a:pPr lvl="1"/>
            <a:r>
              <a:rPr lang="zh-CN" altLang="en-US" dirty="0"/>
              <a:t>对于他们，</a:t>
            </a:r>
            <a:r>
              <a:rPr lang="en-US" altLang="zh-CN" dirty="0" err="1"/>
              <a:t>SGLang</a:t>
            </a:r>
            <a:r>
              <a:rPr lang="zh-CN" altLang="en-US" dirty="0"/>
              <a:t>实现是强制把</a:t>
            </a:r>
            <a:r>
              <a:rPr lang="en-US" altLang="zh-CN" dirty="0"/>
              <a:t>EP size</a:t>
            </a:r>
            <a:r>
              <a:rPr lang="zh-CN" altLang="en-US" dirty="0"/>
              <a:t>等于</a:t>
            </a:r>
            <a:r>
              <a:rPr lang="en-US" altLang="zh-CN" dirty="0"/>
              <a:t>TP size</a:t>
            </a:r>
            <a:r>
              <a:rPr lang="zh-CN" altLang="en-US" dirty="0"/>
              <a:t>。</a:t>
            </a:r>
            <a:endParaRPr lang="en-US" altLang="zh-CN" dirty="0"/>
          </a:p>
          <a:p>
            <a:pPr lvl="1"/>
            <a:r>
              <a:rPr lang="zh-CN" altLang="en-US" dirty="0"/>
              <a:t>如果不设定</a:t>
            </a:r>
            <a:r>
              <a:rPr lang="en-US" altLang="zh-CN" dirty="0"/>
              <a:t>moe_a2a_backend</a:t>
            </a:r>
            <a:r>
              <a:rPr lang="zh-CN" altLang="en-US" dirty="0"/>
              <a:t>或者使用</a:t>
            </a:r>
            <a:r>
              <a:rPr lang="en-US" altLang="zh-CN" dirty="0"/>
              <a:t>moe_a2a_backend</a:t>
            </a:r>
            <a:r>
              <a:rPr lang="zh-CN" altLang="en-US" dirty="0"/>
              <a:t>的默认值，</a:t>
            </a:r>
            <a:r>
              <a:rPr lang="en-US" altLang="zh-CN" dirty="0"/>
              <a:t> TP size</a:t>
            </a:r>
            <a:r>
              <a:rPr lang="zh-CN" altLang="en-US" dirty="0"/>
              <a:t>和</a:t>
            </a:r>
            <a:r>
              <a:rPr lang="en-US" altLang="zh-CN" dirty="0"/>
              <a:t>EP size</a:t>
            </a:r>
            <a:r>
              <a:rPr lang="zh-CN" altLang="en-US" dirty="0"/>
              <a:t>是可以不相等的。</a:t>
            </a:r>
            <a:endParaRPr lang="en-US" altLang="zh-CN" dirty="0"/>
          </a:p>
          <a:p>
            <a:r>
              <a:rPr lang="zh-CN" altLang="en-US" dirty="0"/>
              <a:t>不同并行策略的组合矩阵？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170373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052B2B0-1E4E-3A06-24D6-D872726E3B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15035"/>
          </a:xfrm>
        </p:spPr>
        <p:txBody>
          <a:bodyPr>
            <a:normAutofit/>
          </a:bodyPr>
          <a:lstStyle/>
          <a:p>
            <a:r>
              <a:rPr lang="en-US" dirty="0"/>
              <a:t>2</a:t>
            </a:r>
            <a:r>
              <a:rPr lang="zh-CN" altLang="en-US" dirty="0"/>
              <a:t>节点并行策略组合矩阵的配置举例</a:t>
            </a:r>
            <a:endParaRPr lang="en-US" altLang="zh-CN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A3ACCB7-171E-F0A5-47A8-30264C9E0F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55064"/>
            <a:ext cx="10515600" cy="4992624"/>
          </a:xfrm>
        </p:spPr>
        <p:txBody>
          <a:bodyPr>
            <a:normAutofit lnSpcReduction="10000"/>
          </a:bodyPr>
          <a:lstStyle/>
          <a:p>
            <a:r>
              <a:rPr lang="zh-CN" altLang="en-US" dirty="0"/>
              <a:t>思考：</a:t>
            </a:r>
            <a:r>
              <a:rPr lang="zh-CN" altLang="en-US" b="1" dirty="0"/>
              <a:t>对于</a:t>
            </a:r>
            <a:r>
              <a:rPr lang="en-US" altLang="zh-CN" b="1" dirty="0"/>
              <a:t>EP 8 TP 16</a:t>
            </a:r>
            <a:r>
              <a:rPr lang="zh-CN" altLang="en-US" b="1" dirty="0"/>
              <a:t>，每个节点是否有完整的</a:t>
            </a:r>
            <a:r>
              <a:rPr lang="en-US" altLang="zh-CN" b="1" dirty="0"/>
              <a:t>Moe</a:t>
            </a:r>
            <a:r>
              <a:rPr lang="zh-CN" altLang="en-US" b="1" dirty="0"/>
              <a:t>副本</a:t>
            </a:r>
            <a:r>
              <a:rPr lang="zh-CN" altLang="en-US" dirty="0"/>
              <a:t>？</a:t>
            </a:r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pPr lvl="1"/>
            <a:r>
              <a:rPr lang="zh-CN" altLang="en-US" dirty="0"/>
              <a:t>公式：</a:t>
            </a:r>
            <a:r>
              <a:rPr lang="en-US" altLang="zh-CN" b="1" dirty="0" err="1"/>
              <a:t>moe_tp_size</a:t>
            </a:r>
            <a:r>
              <a:rPr lang="en-US" altLang="zh-CN" b="1" dirty="0"/>
              <a:t> = </a:t>
            </a:r>
            <a:r>
              <a:rPr lang="en-US" altLang="zh-CN" b="1" dirty="0" err="1"/>
              <a:t>tp_size</a:t>
            </a:r>
            <a:r>
              <a:rPr lang="en-US" altLang="zh-CN" b="1" dirty="0"/>
              <a:t> // </a:t>
            </a:r>
            <a:r>
              <a:rPr lang="en-US" altLang="zh-CN" b="1" dirty="0" err="1"/>
              <a:t>ep_size</a:t>
            </a:r>
            <a:r>
              <a:rPr lang="en-US" altLang="zh-CN" b="1" dirty="0"/>
              <a:t> // </a:t>
            </a:r>
            <a:r>
              <a:rPr lang="en-US" altLang="zh-CN" b="1" dirty="0" err="1"/>
              <a:t>moe_dp_size</a:t>
            </a:r>
            <a:endParaRPr lang="en-US" altLang="zh-CN" b="1" dirty="0"/>
          </a:p>
          <a:p>
            <a:pPr lvl="2"/>
            <a:r>
              <a:rPr lang="en-US" altLang="zh-CN" dirty="0" err="1"/>
              <a:t>moe_dp_size</a:t>
            </a:r>
            <a:r>
              <a:rPr lang="en-US" altLang="zh-CN" dirty="0"/>
              <a:t> == 1 </a:t>
            </a:r>
            <a:r>
              <a:rPr lang="zh-CN" altLang="en-US" dirty="0"/>
              <a:t>时，</a:t>
            </a:r>
            <a:r>
              <a:rPr lang="en-US" altLang="zh-CN" dirty="0" err="1"/>
              <a:t>attn_cp_size</a:t>
            </a:r>
            <a:r>
              <a:rPr lang="en-US" altLang="zh-CN" dirty="0"/>
              <a:t> </a:t>
            </a:r>
            <a:r>
              <a:rPr lang="zh-CN" altLang="en-US" dirty="0"/>
              <a:t>可以独立设置为任意合法值</a:t>
            </a:r>
            <a:endParaRPr lang="en-US" altLang="zh-CN" dirty="0"/>
          </a:p>
          <a:p>
            <a:pPr lvl="2"/>
            <a:r>
              <a:rPr lang="en-US" altLang="zh-CN" dirty="0" err="1"/>
              <a:t>moe_dp_size</a:t>
            </a:r>
            <a:r>
              <a:rPr lang="en-US" altLang="zh-CN" dirty="0"/>
              <a:t> &gt; 1 </a:t>
            </a:r>
            <a:r>
              <a:rPr lang="zh-CN" altLang="en-US" dirty="0"/>
              <a:t>时，必须 </a:t>
            </a:r>
            <a:r>
              <a:rPr lang="en-US" altLang="zh-CN" dirty="0" err="1"/>
              <a:t>attn_cp_size</a:t>
            </a:r>
            <a:r>
              <a:rPr lang="en-US" altLang="zh-CN" dirty="0"/>
              <a:t> == </a:t>
            </a:r>
            <a:r>
              <a:rPr lang="en-US" altLang="zh-CN" dirty="0" err="1"/>
              <a:t>moe_dp_size</a:t>
            </a:r>
            <a:endParaRPr lang="zh-CN" altLang="en-US" dirty="0"/>
          </a:p>
          <a:p>
            <a:pPr lvl="3"/>
            <a:r>
              <a:rPr lang="zh-CN" altLang="en-US" dirty="0"/>
              <a:t>两者绑定的原因：</a:t>
            </a:r>
            <a:r>
              <a:rPr lang="en-US" altLang="zh-CN" dirty="0"/>
              <a:t>Attention CP </a:t>
            </a:r>
            <a:r>
              <a:rPr lang="zh-CN" altLang="en-US" dirty="0"/>
              <a:t>将 </a:t>
            </a:r>
            <a:r>
              <a:rPr lang="en-US" altLang="zh-CN" dirty="0"/>
              <a:t>tokens </a:t>
            </a:r>
            <a:r>
              <a:rPr lang="zh-CN" altLang="en-US" dirty="0"/>
              <a:t>切分成多份，每份由不同的 </a:t>
            </a:r>
            <a:r>
              <a:rPr lang="en-US" altLang="zh-CN" dirty="0"/>
              <a:t>CP rank </a:t>
            </a:r>
            <a:r>
              <a:rPr lang="zh-CN" altLang="en-US" dirty="0"/>
              <a:t>处理。</a:t>
            </a:r>
            <a:r>
              <a:rPr lang="en-US" altLang="zh-CN" dirty="0" err="1"/>
              <a:t>MoE</a:t>
            </a:r>
            <a:r>
              <a:rPr lang="en-US" altLang="zh-CN" dirty="0"/>
              <a:t> DP </a:t>
            </a:r>
            <a:r>
              <a:rPr lang="zh-CN" altLang="en-US" dirty="0"/>
              <a:t>的含义是</a:t>
            </a:r>
            <a:r>
              <a:rPr lang="en-US" altLang="zh-CN" dirty="0"/>
              <a:t>"</a:t>
            </a:r>
            <a:r>
              <a:rPr lang="zh-CN" altLang="en-US" dirty="0"/>
              <a:t>多个 </a:t>
            </a:r>
            <a:r>
              <a:rPr lang="en-US" altLang="zh-CN" dirty="0"/>
              <a:t>rank </a:t>
            </a:r>
            <a:r>
              <a:rPr lang="zh-CN" altLang="en-US" dirty="0"/>
              <a:t>持有相同 </a:t>
            </a:r>
            <a:r>
              <a:rPr lang="en-US" altLang="zh-CN" dirty="0"/>
              <a:t>experts</a:t>
            </a:r>
            <a:r>
              <a:rPr lang="zh-CN" altLang="en-US" dirty="0"/>
              <a:t>，各处理不同 </a:t>
            </a:r>
            <a:r>
              <a:rPr lang="en-US" altLang="zh-CN" dirty="0"/>
              <a:t>tokens"</a:t>
            </a:r>
            <a:r>
              <a:rPr lang="zh-CN" altLang="en-US" dirty="0"/>
              <a:t>。二者必须对齐，否则 </a:t>
            </a:r>
            <a:r>
              <a:rPr lang="en-US" altLang="zh-CN" dirty="0"/>
              <a:t>token </a:t>
            </a:r>
            <a:r>
              <a:rPr lang="zh-CN" altLang="en-US" dirty="0"/>
              <a:t>分片逻辑会不一致。</a:t>
            </a:r>
            <a:endParaRPr lang="en-US" altLang="zh-CN" dirty="0"/>
          </a:p>
          <a:p>
            <a:endParaRPr lang="en-US" altLang="zh-CN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0D59EF64-1381-BA39-64DE-A6250D7E60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6686" y="2157984"/>
            <a:ext cx="9998628" cy="2724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743621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EC0015D-501D-D2A8-A5F7-CB65A3F96E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127772"/>
          </a:xfrm>
        </p:spPr>
        <p:txBody>
          <a:bodyPr/>
          <a:lstStyle/>
          <a:p>
            <a:r>
              <a:rPr lang="en-US" dirty="0"/>
              <a:t>N</a:t>
            </a:r>
            <a:r>
              <a:rPr lang="en-US" altLang="zh-CN" dirty="0"/>
              <a:t>on-PD</a:t>
            </a:r>
            <a:r>
              <a:rPr lang="zh-CN" altLang="en-US" dirty="0"/>
              <a:t>方案 </a:t>
            </a:r>
            <a:r>
              <a:rPr lang="en-US" altLang="zh-CN" dirty="0"/>
              <a:t>vs PD</a:t>
            </a:r>
            <a:r>
              <a:rPr lang="zh-CN" altLang="en-US" dirty="0"/>
              <a:t>分离方案</a:t>
            </a:r>
            <a:endParaRPr lang="en-US" altLang="zh-CN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0AC1F75-0E9F-5D79-6B7D-C22208B60D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2898"/>
            <a:ext cx="10515600" cy="5136502"/>
          </a:xfrm>
        </p:spPr>
        <p:txBody>
          <a:bodyPr>
            <a:normAutofit fontScale="92500" lnSpcReduction="10000"/>
          </a:bodyPr>
          <a:lstStyle/>
          <a:p>
            <a:r>
              <a:rPr lang="en-US" altLang="zh-CN" b="1" dirty="0">
                <a:solidFill>
                  <a:srgbClr val="FF0000"/>
                </a:solidFill>
              </a:rPr>
              <a:t>PD</a:t>
            </a:r>
            <a:r>
              <a:rPr lang="zh-CN" altLang="en-US" b="1" dirty="0">
                <a:solidFill>
                  <a:srgbClr val="FF0000"/>
                </a:solidFill>
              </a:rPr>
              <a:t>分离方案一定比</a:t>
            </a:r>
            <a:r>
              <a:rPr lang="en-US" altLang="zh-CN" b="1" dirty="0">
                <a:solidFill>
                  <a:srgbClr val="FF0000"/>
                </a:solidFill>
              </a:rPr>
              <a:t>Non-PD</a:t>
            </a:r>
            <a:r>
              <a:rPr lang="zh-CN" altLang="en-US" b="1" dirty="0">
                <a:solidFill>
                  <a:srgbClr val="FF0000"/>
                </a:solidFill>
              </a:rPr>
              <a:t>方案性能好吗？</a:t>
            </a:r>
            <a:endParaRPr lang="en-US" altLang="zh-CN" b="1" dirty="0">
              <a:solidFill>
                <a:srgbClr val="FF0000"/>
              </a:solidFill>
            </a:endParaRPr>
          </a:p>
          <a:p>
            <a:pPr lvl="1"/>
            <a:r>
              <a:rPr lang="zh-CN" altLang="en-US" dirty="0"/>
              <a:t>下面这个是使用</a:t>
            </a:r>
            <a:r>
              <a:rPr lang="en-US" altLang="zh-CN" dirty="0" err="1"/>
              <a:t>SGLang</a:t>
            </a:r>
            <a:r>
              <a:rPr lang="zh-CN" altLang="en-US" dirty="0"/>
              <a:t>部署的</a:t>
            </a:r>
            <a:r>
              <a:rPr lang="en-US" altLang="zh-CN" dirty="0"/>
              <a:t>FP8 Moe</a:t>
            </a:r>
            <a:r>
              <a:rPr lang="zh-CN" altLang="en-US" dirty="0"/>
              <a:t>版本的</a:t>
            </a:r>
            <a:r>
              <a:rPr lang="en-US" altLang="zh-CN" dirty="0"/>
              <a:t>Deepseek-v4-pro</a:t>
            </a:r>
            <a:r>
              <a:rPr lang="zh-CN" altLang="en-US" dirty="0"/>
              <a:t>模型。</a:t>
            </a:r>
            <a:endParaRPr lang="en-US" altLang="zh-CN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2"/>
            <a:endParaRPr lang="en-US" altLang="zh-CN" dirty="0"/>
          </a:p>
          <a:p>
            <a:pPr lvl="2"/>
            <a:endParaRPr lang="en-US" altLang="zh-CN" dirty="0"/>
          </a:p>
          <a:p>
            <a:pPr lvl="2"/>
            <a:r>
              <a:rPr lang="zh-CN" altLang="en-US" dirty="0"/>
              <a:t>测试说明： </a:t>
            </a:r>
          </a:p>
          <a:p>
            <a:pPr lvl="3"/>
            <a:r>
              <a:rPr lang="en-US" altLang="zh-CN" dirty="0"/>
              <a:t>2</a:t>
            </a:r>
            <a:r>
              <a:rPr lang="en-US" dirty="0"/>
              <a:t>P2D</a:t>
            </a:r>
            <a:r>
              <a:rPr lang="zh-CN" altLang="en-US" dirty="0"/>
              <a:t>的方案是</a:t>
            </a:r>
            <a:r>
              <a:rPr lang="en-US" dirty="0"/>
              <a:t>disable DP</a:t>
            </a:r>
            <a:r>
              <a:rPr lang="zh-CN" altLang="en-US" dirty="0"/>
              <a:t>的，</a:t>
            </a:r>
            <a:r>
              <a:rPr lang="en-US" dirty="0"/>
              <a:t>Non-PD 4 nodes</a:t>
            </a:r>
            <a:r>
              <a:rPr lang="zh-CN" altLang="en-US" dirty="0"/>
              <a:t>方案是</a:t>
            </a:r>
            <a:r>
              <a:rPr lang="en-US" dirty="0"/>
              <a:t>enable DP + </a:t>
            </a:r>
            <a:r>
              <a:rPr lang="en-US" dirty="0" err="1"/>
              <a:t>DeepEP</a:t>
            </a:r>
            <a:r>
              <a:rPr lang="en-US" dirty="0"/>
              <a:t> normal mode。2P2D</a:t>
            </a:r>
            <a:r>
              <a:rPr lang="zh-CN" altLang="en-US" dirty="0"/>
              <a:t>方案如果</a:t>
            </a:r>
            <a:r>
              <a:rPr lang="en-US" dirty="0"/>
              <a:t>enable DP，</a:t>
            </a:r>
            <a:r>
              <a:rPr lang="zh-CN" altLang="en-US" dirty="0"/>
              <a:t>没有办法支持很长的比如</a:t>
            </a:r>
            <a:r>
              <a:rPr lang="en-US" altLang="zh-CN" dirty="0"/>
              <a:t>100</a:t>
            </a:r>
            <a:r>
              <a:rPr lang="en-US" dirty="0"/>
              <a:t>K</a:t>
            </a:r>
            <a:r>
              <a:rPr lang="zh-CN" altLang="en-US" dirty="0"/>
              <a:t>的输入。</a:t>
            </a:r>
          </a:p>
          <a:p>
            <a:pPr lvl="3"/>
            <a:r>
              <a:rPr lang="en-US" dirty="0"/>
              <a:t>input 120K，output 1K，request rate 0.1，number prompt 128。</a:t>
            </a:r>
          </a:p>
          <a:p>
            <a:pPr lvl="3"/>
            <a:r>
              <a:rPr lang="zh-CN" altLang="en-US" dirty="0"/>
              <a:t>对于</a:t>
            </a:r>
            <a:r>
              <a:rPr lang="en-US" altLang="zh-CN" dirty="0"/>
              <a:t>2</a:t>
            </a:r>
            <a:r>
              <a:rPr lang="en-US" dirty="0"/>
              <a:t>P2D</a:t>
            </a:r>
            <a:r>
              <a:rPr lang="zh-CN" altLang="en-US" dirty="0"/>
              <a:t>的部署，不管使用</a:t>
            </a:r>
            <a:r>
              <a:rPr lang="en-US" dirty="0"/>
              <a:t>NIXL</a:t>
            </a:r>
            <a:r>
              <a:rPr lang="zh-CN" altLang="en-US" dirty="0"/>
              <a:t>还是</a:t>
            </a:r>
            <a:r>
              <a:rPr lang="en-US" dirty="0" err="1"/>
              <a:t>Mooncake，max</a:t>
            </a:r>
            <a:r>
              <a:rPr lang="en-US" dirty="0"/>
              <a:t> </a:t>
            </a:r>
            <a:r>
              <a:rPr lang="en-US" dirty="0" err="1"/>
              <a:t>cocurrency</a:t>
            </a:r>
            <a:r>
              <a:rPr lang="zh-CN" altLang="en-US" dirty="0"/>
              <a:t>是</a:t>
            </a:r>
            <a:r>
              <a:rPr lang="en-US" altLang="zh-CN" dirty="0"/>
              <a:t>128</a:t>
            </a:r>
            <a:r>
              <a:rPr lang="zh-CN" altLang="en-US" dirty="0"/>
              <a:t>的时候，都会有很多错误发生。这里限制到了</a:t>
            </a:r>
            <a:r>
              <a:rPr lang="en-US" dirty="0"/>
              <a:t>max concurrency</a:t>
            </a:r>
            <a:r>
              <a:rPr lang="zh-CN" altLang="en-US" dirty="0"/>
              <a:t>是</a:t>
            </a:r>
            <a:r>
              <a:rPr lang="en-US" altLang="zh-CN" dirty="0"/>
              <a:t>10</a:t>
            </a:r>
            <a:r>
              <a:rPr lang="zh-CN" altLang="en-US" dirty="0"/>
              <a:t>，</a:t>
            </a:r>
            <a:r>
              <a:rPr lang="en-US" altLang="zh-CN" dirty="0"/>
              <a:t>128</a:t>
            </a:r>
            <a:r>
              <a:rPr lang="zh-CN" altLang="en-US" dirty="0"/>
              <a:t>个请求全部成功。</a:t>
            </a:r>
          </a:p>
          <a:p>
            <a:pPr lvl="3"/>
            <a:r>
              <a:rPr lang="zh-CN" altLang="en-US" dirty="0"/>
              <a:t>对于</a:t>
            </a:r>
            <a:r>
              <a:rPr lang="en-US" dirty="0"/>
              <a:t>Non-PD 4 nodes(TP 32, EP 32)</a:t>
            </a:r>
            <a:r>
              <a:rPr lang="zh-CN" altLang="en-US" dirty="0"/>
              <a:t>方案，</a:t>
            </a:r>
            <a:r>
              <a:rPr lang="en-US" dirty="0"/>
              <a:t>max </a:t>
            </a:r>
            <a:r>
              <a:rPr lang="en-US" dirty="0" err="1"/>
              <a:t>concurrnecy</a:t>
            </a:r>
            <a:r>
              <a:rPr lang="zh-CN" altLang="en-US" dirty="0"/>
              <a:t>是</a:t>
            </a:r>
            <a:r>
              <a:rPr lang="en-US" altLang="zh-CN" dirty="0"/>
              <a:t>128</a:t>
            </a:r>
            <a:r>
              <a:rPr lang="zh-CN" altLang="en-US" dirty="0"/>
              <a:t>，没有任何错误，</a:t>
            </a:r>
            <a:r>
              <a:rPr lang="en-US" altLang="zh-CN" dirty="0"/>
              <a:t>128</a:t>
            </a:r>
            <a:r>
              <a:rPr lang="zh-CN" altLang="en-US" dirty="0"/>
              <a:t>个请求全部成功。</a:t>
            </a:r>
          </a:p>
          <a:p>
            <a:pPr lvl="2"/>
            <a:endParaRPr lang="en-US" dirty="0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353A096A-34F8-ECAF-EDD8-05A2E243BC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2780" y="2313432"/>
            <a:ext cx="8668139" cy="2057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902627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8D7BEC5-35B2-4144-B257-3A195A453E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97144"/>
          </a:xfrm>
        </p:spPr>
        <p:txBody>
          <a:bodyPr/>
          <a:lstStyle/>
          <a:p>
            <a:r>
              <a:rPr lang="en-US" dirty="0"/>
              <a:t>C</a:t>
            </a:r>
            <a:r>
              <a:rPr lang="en-US" altLang="zh-CN" dirty="0"/>
              <a:t>ontinue…..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4F7582A-DE3D-1E2B-18DC-D4A87258A4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42188"/>
            <a:ext cx="10515600" cy="4850686"/>
          </a:xfrm>
        </p:spPr>
        <p:txBody>
          <a:bodyPr>
            <a:normAutofit/>
          </a:bodyPr>
          <a:lstStyle/>
          <a:p>
            <a:pPr lvl="1"/>
            <a:r>
              <a:rPr lang="zh-CN" altLang="en-US" dirty="0"/>
              <a:t>对于</a:t>
            </a:r>
            <a:r>
              <a:rPr lang="en-US" altLang="zh-CN" dirty="0"/>
              <a:t>2</a:t>
            </a:r>
            <a:r>
              <a:rPr lang="en-US" dirty="0"/>
              <a:t>P2D + Mooncake TE</a:t>
            </a:r>
            <a:r>
              <a:rPr lang="zh-CN" altLang="en-US" dirty="0"/>
              <a:t>的情况，</a:t>
            </a:r>
            <a:r>
              <a:rPr lang="en-US" dirty="0"/>
              <a:t>input 100K，output 1K，request 0.1，max concurrency</a:t>
            </a:r>
            <a:r>
              <a:rPr lang="zh-CN" altLang="en-US" dirty="0"/>
              <a:t>是</a:t>
            </a:r>
            <a:r>
              <a:rPr lang="en-US" altLang="zh-CN" dirty="0"/>
              <a:t>128</a:t>
            </a:r>
            <a:r>
              <a:rPr lang="zh-CN" altLang="en-US" dirty="0"/>
              <a:t>的时候，</a:t>
            </a:r>
            <a:r>
              <a:rPr lang="en-US" altLang="zh-CN" dirty="0"/>
              <a:t>128</a:t>
            </a:r>
            <a:r>
              <a:rPr lang="zh-CN" altLang="en-US" dirty="0"/>
              <a:t>个请求只有不到</a:t>
            </a:r>
            <a:r>
              <a:rPr lang="en-US" altLang="zh-CN" dirty="0"/>
              <a:t>25</a:t>
            </a:r>
            <a:r>
              <a:rPr lang="zh-CN" altLang="en-US" dirty="0"/>
              <a:t>个请求可以成功。而同样条件下，换成</a:t>
            </a:r>
            <a:r>
              <a:rPr lang="en-US" dirty="0"/>
              <a:t>NIXL KV transfer，128</a:t>
            </a:r>
            <a:r>
              <a:rPr lang="zh-CN" altLang="en-US" dirty="0"/>
              <a:t>个请求全部成功。</a:t>
            </a:r>
            <a:endParaRPr lang="en-US" altLang="zh-CN" dirty="0"/>
          </a:p>
          <a:p>
            <a:pPr lvl="1"/>
            <a:endParaRPr lang="en-US" altLang="zh-CN" dirty="0"/>
          </a:p>
          <a:p>
            <a:pPr lvl="1"/>
            <a:endParaRPr lang="en-US" altLang="zh-CN" dirty="0"/>
          </a:p>
          <a:p>
            <a:pPr lvl="1"/>
            <a:endParaRPr lang="en-US" altLang="zh-CN" dirty="0"/>
          </a:p>
          <a:p>
            <a:pPr lvl="1"/>
            <a:endParaRPr lang="en-US" altLang="zh-CN" dirty="0"/>
          </a:p>
          <a:p>
            <a:pPr lvl="1"/>
            <a:endParaRPr lang="en-US" altLang="zh-CN" dirty="0"/>
          </a:p>
          <a:p>
            <a:pPr lvl="2"/>
            <a:endParaRPr lang="en-US" altLang="zh-CN" dirty="0"/>
          </a:p>
          <a:p>
            <a:pPr lvl="1"/>
            <a:endParaRPr lang="zh-CN" altLang="en-US" dirty="0"/>
          </a:p>
          <a:p>
            <a:pPr lvl="1"/>
            <a:endParaRPr 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17CCF23C-0A7B-7132-644F-15BC4DA478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2880360"/>
            <a:ext cx="9502140" cy="2935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701134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089E773-912A-D0AB-F7BF-225BDE1E8D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</a:t>
            </a:r>
            <a:r>
              <a:rPr lang="en-US" altLang="zh-CN" dirty="0"/>
              <a:t>ontinue…..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0062501-77BA-6322-0035-BBB2AAFDB4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27377"/>
            <a:ext cx="10515600" cy="3788791"/>
          </a:xfrm>
        </p:spPr>
        <p:txBody>
          <a:bodyPr>
            <a:normAutofit/>
          </a:bodyPr>
          <a:lstStyle/>
          <a:p>
            <a:pPr lvl="1"/>
            <a:r>
              <a:rPr lang="zh-CN" altLang="en-US" dirty="0"/>
              <a:t>对于</a:t>
            </a:r>
            <a:r>
              <a:rPr lang="en-US" dirty="0"/>
              <a:t>MiMo-V2-Flash-FP8 on H200</a:t>
            </a:r>
            <a:r>
              <a:rPr lang="zh-CN" altLang="en-US" dirty="0"/>
              <a:t>，</a:t>
            </a:r>
            <a:r>
              <a:rPr lang="en-US" altLang="zh-CN" dirty="0"/>
              <a:t>input 16K</a:t>
            </a:r>
            <a:r>
              <a:rPr lang="zh-CN" altLang="en-US" dirty="0"/>
              <a:t>，</a:t>
            </a:r>
            <a:r>
              <a:rPr lang="en-US" altLang="zh-CN" dirty="0"/>
              <a:t>output 1K</a:t>
            </a:r>
            <a:r>
              <a:rPr lang="zh-CN" altLang="en-US" dirty="0"/>
              <a:t>，</a:t>
            </a:r>
            <a:r>
              <a:rPr lang="en-US" dirty="0"/>
              <a:t>max concurrency</a:t>
            </a:r>
            <a:r>
              <a:rPr lang="zh-CN" altLang="en-US" dirty="0"/>
              <a:t>为</a:t>
            </a:r>
            <a:r>
              <a:rPr lang="en-US" altLang="zh-CN" dirty="0"/>
              <a:t>100</a:t>
            </a:r>
            <a:r>
              <a:rPr lang="zh-CN" altLang="en-US" dirty="0"/>
              <a:t>的情况下，</a:t>
            </a:r>
            <a:r>
              <a:rPr lang="en-US" altLang="zh-CN" dirty="0"/>
              <a:t>PD</a:t>
            </a:r>
            <a:r>
              <a:rPr lang="zh-CN" altLang="en-US" dirty="0"/>
              <a:t>分离（</a:t>
            </a:r>
            <a:r>
              <a:rPr lang="en-US" altLang="zh-CN" dirty="0"/>
              <a:t>1P1D</a:t>
            </a:r>
            <a:r>
              <a:rPr lang="zh-CN" altLang="en-US" dirty="0"/>
              <a:t>）和</a:t>
            </a:r>
            <a:r>
              <a:rPr lang="en-US" altLang="zh-CN" dirty="0"/>
              <a:t>Non-PD</a:t>
            </a:r>
            <a:r>
              <a:rPr lang="zh-CN" altLang="en-US" dirty="0"/>
              <a:t>（单节点）的实验来看，基本上</a:t>
            </a:r>
            <a:r>
              <a:rPr lang="en-US" altLang="zh-CN" dirty="0"/>
              <a:t>Non-PD </a:t>
            </a:r>
            <a:r>
              <a:rPr lang="zh-CN" altLang="en-US" dirty="0"/>
              <a:t>单节点方案在 </a:t>
            </a:r>
            <a:r>
              <a:rPr lang="en-US" altLang="zh-CN" dirty="0"/>
              <a:t>output token/s</a:t>
            </a:r>
            <a:r>
              <a:rPr lang="zh-CN" altLang="en-US" dirty="0"/>
              <a:t>的吞吐更好，</a:t>
            </a:r>
            <a:r>
              <a:rPr lang="en-US" altLang="zh-CN" dirty="0"/>
              <a:t>1P1D</a:t>
            </a:r>
            <a:r>
              <a:rPr lang="zh-CN" altLang="en-US" dirty="0"/>
              <a:t>在</a:t>
            </a:r>
            <a:r>
              <a:rPr lang="en-US" altLang="zh-CN" dirty="0"/>
              <a:t>TPOT</a:t>
            </a:r>
            <a:r>
              <a:rPr lang="zh-CN" altLang="en-US" dirty="0"/>
              <a:t>上更好，</a:t>
            </a:r>
            <a:r>
              <a:rPr lang="en-US" altLang="zh-CN" dirty="0"/>
              <a:t>TTFT</a:t>
            </a:r>
            <a:r>
              <a:rPr lang="zh-CN" altLang="en-US" dirty="0"/>
              <a:t>则互有攻守（有时候前者好，有时候后者好）</a:t>
            </a:r>
            <a:r>
              <a:rPr lang="zh-CN" altLang="en-US" b="1" dirty="0"/>
              <a:t>。</a:t>
            </a:r>
            <a:endParaRPr lang="zh-CN" altLang="en-US" dirty="0"/>
          </a:p>
          <a:p>
            <a:endParaRPr lang="en-US" altLang="zh-CN" dirty="0"/>
          </a:p>
          <a:p>
            <a:r>
              <a:rPr lang="en-US" altLang="zh-CN" dirty="0"/>
              <a:t>Tips</a:t>
            </a:r>
            <a:r>
              <a:rPr lang="zh-CN" altLang="en-US" dirty="0"/>
              <a:t>：</a:t>
            </a:r>
            <a:endParaRPr lang="en-US" altLang="zh-CN" dirty="0"/>
          </a:p>
          <a:p>
            <a:pPr lvl="1"/>
            <a:r>
              <a:rPr lang="en-US" altLang="zh-CN" b="1" dirty="0">
                <a:solidFill>
                  <a:srgbClr val="FF0000"/>
                </a:solidFill>
              </a:rPr>
              <a:t>Non-PD</a:t>
            </a:r>
            <a:r>
              <a:rPr lang="zh-CN" altLang="en-US" b="1" dirty="0">
                <a:solidFill>
                  <a:srgbClr val="FF0000"/>
                </a:solidFill>
              </a:rPr>
              <a:t>方案还是</a:t>
            </a:r>
            <a:r>
              <a:rPr lang="en-US" altLang="zh-CN" b="1" dirty="0">
                <a:solidFill>
                  <a:srgbClr val="FF0000"/>
                </a:solidFill>
              </a:rPr>
              <a:t>PD</a:t>
            </a:r>
            <a:r>
              <a:rPr lang="zh-CN" altLang="en-US" b="1" dirty="0">
                <a:solidFill>
                  <a:srgbClr val="FF0000"/>
                </a:solidFill>
              </a:rPr>
              <a:t>方案，不存在谁一定好。一定要</a:t>
            </a:r>
            <a:r>
              <a:rPr lang="en-US" altLang="zh-CN" b="1" dirty="0">
                <a:solidFill>
                  <a:srgbClr val="FF0000"/>
                </a:solidFill>
              </a:rPr>
              <a:t>case by case</a:t>
            </a:r>
            <a:r>
              <a:rPr lang="zh-CN" altLang="en-US" b="1" dirty="0">
                <a:solidFill>
                  <a:srgbClr val="FF0000"/>
                </a:solidFill>
              </a:rPr>
              <a:t>来测试</a:t>
            </a:r>
            <a:r>
              <a:rPr lang="zh-CN" altLang="en-US" dirty="0"/>
              <a:t>。</a:t>
            </a:r>
            <a:endParaRPr lang="en-US" altLang="zh-CN" dirty="0"/>
          </a:p>
          <a:p>
            <a:pPr lvl="2"/>
            <a:r>
              <a:rPr lang="zh-CN" altLang="en-US" dirty="0"/>
              <a:t>不同的</a:t>
            </a:r>
            <a:r>
              <a:rPr lang="en-US" altLang="zh-CN" dirty="0"/>
              <a:t>benchmark</a:t>
            </a:r>
            <a:r>
              <a:rPr lang="zh-CN" altLang="en-US" dirty="0"/>
              <a:t>测试条件</a:t>
            </a:r>
            <a:r>
              <a:rPr lang="en-US" altLang="zh-CN" dirty="0"/>
              <a:t>/</a:t>
            </a:r>
            <a:r>
              <a:rPr lang="zh-CN" altLang="en-US" dirty="0"/>
              <a:t>业务测试场景，不同的</a:t>
            </a:r>
            <a:r>
              <a:rPr lang="en-US" altLang="zh-CN" dirty="0"/>
              <a:t>GPU</a:t>
            </a:r>
            <a:r>
              <a:rPr lang="zh-CN" altLang="en-US" dirty="0"/>
              <a:t>机型，不同的并行策略，不同的模型版本，不同的推理框架等等，这些都是影响因素。</a:t>
            </a:r>
            <a:endParaRPr lang="en-US" altLang="zh-CN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90011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14CE64F-F1FC-4130-1C21-FD9B634CF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76805"/>
            <a:ext cx="10515600" cy="1325563"/>
          </a:xfrm>
        </p:spPr>
        <p:txBody>
          <a:bodyPr/>
          <a:lstStyle/>
          <a:p>
            <a:pPr algn="ctr"/>
            <a:r>
              <a:rPr lang="zh-CN" altLang="en-US" dirty="0"/>
              <a:t>部署方案</a:t>
            </a:r>
            <a:r>
              <a:rPr lang="en-US" altLang="zh-CN" dirty="0"/>
              <a:t>3</a:t>
            </a:r>
            <a:r>
              <a:rPr lang="zh-CN" altLang="en-US" dirty="0"/>
              <a:t>：多节点</a:t>
            </a:r>
            <a:r>
              <a:rPr lang="en-US" altLang="zh-CN" dirty="0"/>
              <a:t>PD </a:t>
            </a:r>
            <a:r>
              <a:rPr lang="zh-CN" altLang="en-US" dirty="0"/>
              <a:t>分离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615165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32703F1-02A2-4246-067A-7C026B00E3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29717"/>
            <a:ext cx="10515600" cy="1225931"/>
          </a:xfrm>
        </p:spPr>
        <p:txBody>
          <a:bodyPr>
            <a:normAutofit/>
          </a:bodyPr>
          <a:lstStyle/>
          <a:p>
            <a:r>
              <a:rPr lang="en-US" altLang="zh-CN" dirty="0"/>
              <a:t>Prefill-Decode </a:t>
            </a:r>
            <a:r>
              <a:rPr lang="zh-CN" altLang="en-US" dirty="0"/>
              <a:t>分离方案中涉及到的</a:t>
            </a:r>
            <a:r>
              <a:rPr lang="en-US" altLang="zh-CN" dirty="0"/>
              <a:t>role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D1F1664-AB91-5B1B-BE14-BC1F75E7F3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30039"/>
          </a:xfrm>
        </p:spPr>
        <p:txBody>
          <a:bodyPr>
            <a:normAutofit fontScale="85000" lnSpcReduction="20000"/>
          </a:bodyPr>
          <a:lstStyle/>
          <a:p>
            <a:r>
              <a:rPr lang="en-US" altLang="zh-CN" dirty="0"/>
              <a:t>Prefill</a:t>
            </a:r>
          </a:p>
          <a:p>
            <a:pPr lvl="1"/>
            <a:r>
              <a:rPr lang="en-US" altLang="zh-CN" dirty="0"/>
              <a:t>Master and Non-master</a:t>
            </a:r>
          </a:p>
          <a:p>
            <a:pPr lvl="1"/>
            <a:r>
              <a:rPr lang="zh-CN" altLang="en-US" dirty="0"/>
              <a:t>独立</a:t>
            </a:r>
            <a:r>
              <a:rPr lang="en-US" altLang="zh-CN" dirty="0"/>
              <a:t>worker</a:t>
            </a:r>
          </a:p>
          <a:p>
            <a:r>
              <a:rPr lang="en-US" altLang="zh-CN" dirty="0"/>
              <a:t>Decode </a:t>
            </a:r>
          </a:p>
          <a:p>
            <a:pPr lvl="1"/>
            <a:r>
              <a:rPr lang="en-US" altLang="zh-CN" dirty="0"/>
              <a:t>Master and Non-master</a:t>
            </a:r>
          </a:p>
          <a:p>
            <a:pPr lvl="1"/>
            <a:r>
              <a:rPr lang="zh-CN" altLang="en-US" dirty="0"/>
              <a:t>独立</a:t>
            </a:r>
            <a:r>
              <a:rPr lang="en-US" altLang="zh-CN" dirty="0"/>
              <a:t>worker</a:t>
            </a:r>
          </a:p>
          <a:p>
            <a:r>
              <a:rPr lang="en-US" altLang="zh-CN" dirty="0"/>
              <a:t>Router</a:t>
            </a:r>
          </a:p>
          <a:p>
            <a:pPr lvl="1"/>
            <a:r>
              <a:rPr lang="en-US" altLang="zh-CN" dirty="0"/>
              <a:t>LB</a:t>
            </a:r>
            <a:r>
              <a:rPr lang="zh-CN" altLang="en-US" dirty="0"/>
              <a:t>策略（包括</a:t>
            </a:r>
            <a:r>
              <a:rPr lang="en-US" altLang="zh-CN" dirty="0"/>
              <a:t>Prefix-cache aware</a:t>
            </a:r>
            <a:r>
              <a:rPr lang="zh-CN" altLang="en-US" dirty="0"/>
              <a:t>的路由）</a:t>
            </a:r>
            <a:endParaRPr lang="en-US" altLang="zh-CN" dirty="0"/>
          </a:p>
          <a:p>
            <a:pPr lvl="1"/>
            <a:r>
              <a:rPr lang="zh-CN" altLang="en-US" dirty="0"/>
              <a:t>重试</a:t>
            </a:r>
            <a:endParaRPr lang="en-US" altLang="zh-CN" dirty="0"/>
          </a:p>
          <a:p>
            <a:pPr lvl="1"/>
            <a:r>
              <a:rPr lang="zh-CN" altLang="en-US" dirty="0"/>
              <a:t>熔断</a:t>
            </a:r>
            <a:endParaRPr lang="en-US" altLang="zh-CN" dirty="0"/>
          </a:p>
          <a:p>
            <a:pPr lvl="1"/>
            <a:r>
              <a:rPr lang="zh-CN" altLang="en-US" dirty="0"/>
              <a:t>健康检查</a:t>
            </a:r>
            <a:endParaRPr lang="en-US" altLang="zh-CN" dirty="0"/>
          </a:p>
          <a:p>
            <a:pPr lvl="1"/>
            <a:r>
              <a:rPr lang="en-US" altLang="zh-CN" dirty="0"/>
              <a:t>Prefill</a:t>
            </a:r>
            <a:r>
              <a:rPr lang="zh-CN" altLang="en-US" dirty="0"/>
              <a:t>节点和</a:t>
            </a:r>
            <a:r>
              <a:rPr lang="en-US" altLang="zh-CN" dirty="0"/>
              <a:t>decode</a:t>
            </a:r>
            <a:r>
              <a:rPr lang="zh-CN" altLang="en-US" dirty="0"/>
              <a:t>节点自动发现（</a:t>
            </a:r>
            <a:r>
              <a:rPr lang="zh-CN" altLang="en-US" b="1" dirty="0"/>
              <a:t>扩展到了</a:t>
            </a:r>
            <a:r>
              <a:rPr lang="en-US" altLang="zh-CN" b="1" dirty="0"/>
              <a:t>prefill</a:t>
            </a:r>
            <a:r>
              <a:rPr lang="zh-CN" altLang="en-US" b="1" dirty="0"/>
              <a:t> 和</a:t>
            </a:r>
            <a:r>
              <a:rPr lang="en-US" altLang="zh-CN" b="1" dirty="0"/>
              <a:t>decode</a:t>
            </a:r>
            <a:r>
              <a:rPr lang="zh-CN" altLang="en-US" b="1" dirty="0"/>
              <a:t> 的</a:t>
            </a:r>
            <a:r>
              <a:rPr lang="en-US" altLang="zh-CN" b="1" dirty="0"/>
              <a:t>scaling</a:t>
            </a:r>
            <a:r>
              <a:rPr lang="zh-CN" altLang="en-US" dirty="0"/>
              <a:t>）</a:t>
            </a:r>
            <a:endParaRPr lang="en-US" altLang="zh-CN" dirty="0"/>
          </a:p>
          <a:p>
            <a:pPr lvl="1"/>
            <a:r>
              <a:rPr lang="zh-CN" altLang="en-US" dirty="0"/>
              <a:t>思考：</a:t>
            </a:r>
            <a:r>
              <a:rPr lang="en-US" altLang="zh-CN" dirty="0"/>
              <a:t>router</a:t>
            </a:r>
            <a:r>
              <a:rPr lang="zh-CN" altLang="en-US" dirty="0"/>
              <a:t>本身如何更好的</a:t>
            </a:r>
            <a:r>
              <a:rPr lang="en-US" altLang="zh-CN" dirty="0"/>
              <a:t>scaling</a:t>
            </a:r>
            <a:r>
              <a:rPr lang="zh-CN" altLang="en-US" dirty="0"/>
              <a:t>呢？进一步在生产环境基于</a:t>
            </a:r>
            <a:r>
              <a:rPr lang="en-US" altLang="zh-CN" dirty="0"/>
              <a:t>k8s</a:t>
            </a:r>
            <a:r>
              <a:rPr lang="zh-CN" altLang="en-US" dirty="0"/>
              <a:t>部署</a:t>
            </a:r>
            <a:r>
              <a:rPr lang="en-US" altLang="zh-CN" dirty="0"/>
              <a:t>pd</a:t>
            </a:r>
            <a:r>
              <a:rPr lang="zh-CN" altLang="en-US" dirty="0"/>
              <a:t>分离的方案？</a:t>
            </a:r>
            <a:endParaRPr lang="en-US" altLang="zh-CN" dirty="0"/>
          </a:p>
          <a:p>
            <a:pPr lvl="2"/>
            <a:r>
              <a:rPr lang="en-US" dirty="0"/>
              <a:t>Client ----</a:t>
            </a:r>
            <a:r>
              <a:rPr lang="en-US" dirty="0">
                <a:sym typeface="Wingdings" panose="05000000000000000000" pitchFamily="2" charset="2"/>
              </a:rPr>
              <a:t> AWS NLB </a:t>
            </a:r>
            <a:r>
              <a:rPr lang="en-US" dirty="0"/>
              <a:t> ----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K8s ingress cont</a:t>
            </a:r>
            <a:r>
              <a:rPr lang="en-US" altLang="zh-CN" dirty="0"/>
              <a:t>r</a:t>
            </a:r>
            <a:r>
              <a:rPr lang="en-US" dirty="0"/>
              <a:t>oller/K8s API Gateway  ----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zh-CN" altLang="en-US" dirty="0"/>
              <a:t>多个</a:t>
            </a:r>
            <a:r>
              <a:rPr lang="en-US" altLang="zh-CN" dirty="0" err="1"/>
              <a:t>S</a:t>
            </a:r>
            <a:r>
              <a:rPr lang="en-US" dirty="0" err="1"/>
              <a:t>g</a:t>
            </a:r>
            <a:r>
              <a:rPr lang="en-US" altLang="zh-CN" dirty="0" err="1"/>
              <a:t>l</a:t>
            </a:r>
            <a:r>
              <a:rPr lang="en-US" dirty="0" err="1"/>
              <a:t>ang</a:t>
            </a:r>
            <a:r>
              <a:rPr lang="en-US" dirty="0"/>
              <a:t> Router</a:t>
            </a:r>
            <a:r>
              <a:rPr lang="zh-CN" altLang="en-US" dirty="0"/>
              <a:t> </a:t>
            </a:r>
            <a:r>
              <a:rPr lang="en-US" altLang="zh-CN" dirty="0"/>
              <a:t> ----</a:t>
            </a:r>
            <a:r>
              <a:rPr lang="en-US" altLang="zh-CN" dirty="0">
                <a:sym typeface="Wingdings" panose="05000000000000000000" pitchFamily="2" charset="2"/>
              </a:rPr>
              <a:t></a:t>
            </a:r>
            <a:r>
              <a:rPr lang="en-US" dirty="0"/>
              <a:t>prefill pod/decode pod？</a:t>
            </a:r>
          </a:p>
          <a:p>
            <a:pPr lvl="3"/>
            <a:endParaRPr lang="en-US" altLang="zh-CN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719144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CD97F4F-4122-04C7-DBC8-60943491B0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189354"/>
          </a:xfrm>
        </p:spPr>
        <p:txBody>
          <a:bodyPr/>
          <a:lstStyle/>
          <a:p>
            <a:r>
              <a:rPr lang="en-US" altLang="zh-CN" dirty="0"/>
              <a:t>PD</a:t>
            </a:r>
            <a:r>
              <a:rPr lang="zh-CN" altLang="en-US" dirty="0"/>
              <a:t>分离的架构总览</a:t>
            </a:r>
            <a:endParaRPr lang="en-US" altLang="zh-CN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1A562D5-7C41-707D-0C0F-B695027529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79510"/>
            <a:ext cx="10515600" cy="4739951"/>
          </a:xfrm>
        </p:spPr>
        <p:txBody>
          <a:bodyPr>
            <a:normAutofit/>
          </a:bodyPr>
          <a:lstStyle/>
          <a:p>
            <a:pPr lvl="1"/>
            <a:endParaRPr lang="en-US" altLang="zh-CN" dirty="0"/>
          </a:p>
          <a:p>
            <a:pPr lvl="1"/>
            <a:endParaRPr lang="en-US" altLang="zh-CN" dirty="0"/>
          </a:p>
          <a:p>
            <a:pPr lvl="1"/>
            <a:endParaRPr lang="en-US" altLang="zh-CN" dirty="0"/>
          </a:p>
          <a:p>
            <a:pPr lvl="1"/>
            <a:endParaRPr lang="en-US" altLang="zh-CN" dirty="0"/>
          </a:p>
          <a:p>
            <a:pPr lvl="1"/>
            <a:endParaRPr lang="en-US" altLang="zh-CN" dirty="0"/>
          </a:p>
          <a:p>
            <a:pPr lvl="1"/>
            <a:endParaRPr lang="en-US" altLang="zh-CN" dirty="0"/>
          </a:p>
          <a:p>
            <a:pPr lvl="1"/>
            <a:endParaRPr lang="en-US" altLang="zh-CN" dirty="0"/>
          </a:p>
          <a:p>
            <a:pPr lvl="1"/>
            <a:endParaRPr lang="en-US" altLang="zh-CN" dirty="0"/>
          </a:p>
          <a:p>
            <a:pPr lvl="1"/>
            <a:endParaRPr lang="en-US" altLang="zh-CN" dirty="0"/>
          </a:p>
          <a:p>
            <a:pPr lvl="2"/>
            <a:endParaRPr lang="en-US" altLang="zh-CN" dirty="0"/>
          </a:p>
          <a:p>
            <a:pPr lvl="2"/>
            <a:r>
              <a:rPr lang="en-US" altLang="zh-CN" dirty="0" err="1"/>
              <a:t>SGLang</a:t>
            </a:r>
            <a:r>
              <a:rPr lang="en-US" altLang="zh-CN" dirty="0"/>
              <a:t> Router </a:t>
            </a:r>
            <a:r>
              <a:rPr lang="zh-CN" altLang="en-US" dirty="0"/>
              <a:t>的核心是 </a:t>
            </a:r>
            <a:r>
              <a:rPr lang="en-US" altLang="zh-CN" dirty="0" err="1"/>
              <a:t>PDRouter</a:t>
            </a:r>
            <a:r>
              <a:rPr lang="zh-CN" altLang="en-US" dirty="0"/>
              <a:t>（</a:t>
            </a:r>
            <a:r>
              <a:rPr lang="en-US" altLang="zh-CN" dirty="0"/>
              <a:t>routers/http/pd_router.rs</a:t>
            </a:r>
            <a:r>
              <a:rPr lang="zh-CN" altLang="en-US" dirty="0"/>
              <a:t>），</a:t>
            </a:r>
            <a:r>
              <a:rPr lang="zh-CN" altLang="en-US" b="1" dirty="0">
                <a:solidFill>
                  <a:srgbClr val="FF0000"/>
                </a:solidFill>
              </a:rPr>
              <a:t>它针对每个请求独立选择 </a:t>
            </a:r>
            <a:r>
              <a:rPr lang="en-US" altLang="zh-CN" b="1" dirty="0">
                <a:solidFill>
                  <a:srgbClr val="FF0000"/>
                </a:solidFill>
              </a:rPr>
              <a:t>prefill worker </a:t>
            </a:r>
            <a:r>
              <a:rPr lang="zh-CN" altLang="en-US" b="1" dirty="0">
                <a:solidFill>
                  <a:srgbClr val="FF0000"/>
                </a:solidFill>
              </a:rPr>
              <a:t>和 </a:t>
            </a:r>
            <a:r>
              <a:rPr lang="en-US" altLang="zh-CN" b="1" dirty="0">
                <a:solidFill>
                  <a:srgbClr val="FF0000"/>
                </a:solidFill>
              </a:rPr>
              <a:t>decode worker</a:t>
            </a:r>
            <a:r>
              <a:rPr lang="zh-CN" altLang="en-US" b="1" dirty="0">
                <a:solidFill>
                  <a:srgbClr val="FF0000"/>
                </a:solidFill>
              </a:rPr>
              <a:t>，然后并发发送请求</a:t>
            </a:r>
            <a:r>
              <a:rPr lang="zh-CN" altLang="en-US" dirty="0"/>
              <a:t>。</a:t>
            </a:r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pPr lvl="2"/>
            <a:endParaRPr lang="en-US" altLang="zh-CN" dirty="0"/>
          </a:p>
          <a:p>
            <a:endParaRPr lang="en-US" dirty="0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565B4BC1-1347-47AF-6E47-589EC41C70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1328" y="1554480"/>
            <a:ext cx="9427464" cy="3995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490305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155D070-0C69-7DCB-83C2-2F51F90DA8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Router</a:t>
            </a:r>
            <a:r>
              <a:rPr lang="zh-CN" altLang="en-US" dirty="0"/>
              <a:t>的</a:t>
            </a:r>
            <a:r>
              <a:rPr lang="en-US" altLang="zh-CN" dirty="0"/>
              <a:t>LB</a:t>
            </a:r>
            <a:r>
              <a:rPr lang="zh-CN" altLang="en-US" dirty="0"/>
              <a:t>策略</a:t>
            </a:r>
            <a:endParaRPr lang="en-US" altLang="zh-CN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7A9D11E8-65BF-C5B6-3A17-B5D4117FFD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885" y="2178121"/>
            <a:ext cx="5229545" cy="3429425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BBF7E59E-B1AA-5C7B-CF62-EC7617AE5F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2454451"/>
            <a:ext cx="5770652" cy="2641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485675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4C1F9C1-9D60-8A99-60B7-3479CF0FD7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61339"/>
          </a:xfrm>
        </p:spPr>
        <p:txBody>
          <a:bodyPr/>
          <a:lstStyle/>
          <a:p>
            <a:r>
              <a:rPr lang="en-US" altLang="zh-CN" dirty="0" err="1"/>
              <a:t>xPxD</a:t>
            </a:r>
            <a:r>
              <a:rPr lang="zh-CN" altLang="en-US" dirty="0"/>
              <a:t>的选择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E9F10E6-FA67-5880-107C-101466A36D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0784"/>
            <a:ext cx="10515600" cy="4792091"/>
          </a:xfrm>
        </p:spPr>
        <p:txBody>
          <a:bodyPr>
            <a:normAutofit lnSpcReduction="10000"/>
          </a:bodyPr>
          <a:lstStyle/>
          <a:p>
            <a:r>
              <a:rPr lang="en-US" altLang="zh-CN" b="1" dirty="0">
                <a:solidFill>
                  <a:srgbClr val="FF0000"/>
                </a:solidFill>
              </a:rPr>
              <a:t>X</a:t>
            </a:r>
            <a:r>
              <a:rPr lang="zh-CN" altLang="en-US" b="1" dirty="0">
                <a:solidFill>
                  <a:srgbClr val="FF0000"/>
                </a:solidFill>
              </a:rPr>
              <a:t>的含义</a:t>
            </a:r>
            <a:r>
              <a:rPr lang="zh-CN" altLang="en-US" dirty="0"/>
              <a:t>？</a:t>
            </a:r>
            <a:endParaRPr lang="en-US" altLang="zh-CN" dirty="0"/>
          </a:p>
          <a:p>
            <a:pPr lvl="1"/>
            <a:r>
              <a:rPr lang="zh-CN" altLang="en-US" b="1" dirty="0"/>
              <a:t>业界有两种说法</a:t>
            </a:r>
            <a:r>
              <a:rPr lang="zh-CN" altLang="en-US" dirty="0"/>
              <a:t>：</a:t>
            </a:r>
            <a:endParaRPr lang="en-US" altLang="zh-CN" dirty="0"/>
          </a:p>
          <a:p>
            <a:pPr lvl="2"/>
            <a:r>
              <a:rPr lang="en-US" altLang="zh-CN" dirty="0"/>
              <a:t>GPU</a:t>
            </a:r>
            <a:r>
              <a:rPr lang="zh-CN" altLang="en-US" dirty="0"/>
              <a:t>节点数量 </a:t>
            </a:r>
            <a:r>
              <a:rPr lang="en-US" altLang="zh-CN" dirty="0"/>
              <a:t>or</a:t>
            </a:r>
          </a:p>
          <a:p>
            <a:pPr lvl="2"/>
            <a:r>
              <a:rPr lang="en-US" altLang="zh-CN" dirty="0"/>
              <a:t>Worker</a:t>
            </a:r>
            <a:r>
              <a:rPr lang="zh-CN" altLang="en-US" dirty="0"/>
              <a:t>的数量（一个</a:t>
            </a:r>
            <a:r>
              <a:rPr lang="en-US" altLang="zh-CN" dirty="0"/>
              <a:t>worker</a:t>
            </a:r>
            <a:r>
              <a:rPr lang="zh-CN" altLang="en-US" dirty="0"/>
              <a:t>可能包括多个</a:t>
            </a:r>
            <a:r>
              <a:rPr lang="en-US" altLang="zh-CN" dirty="0"/>
              <a:t>GPU</a:t>
            </a:r>
            <a:r>
              <a:rPr lang="zh-CN" altLang="en-US" dirty="0"/>
              <a:t>节点）</a:t>
            </a:r>
            <a:endParaRPr lang="en-US" altLang="zh-CN" dirty="0"/>
          </a:p>
          <a:p>
            <a:pPr lvl="1"/>
            <a:r>
              <a:rPr lang="zh-CN" altLang="en-US" b="1" dirty="0">
                <a:solidFill>
                  <a:srgbClr val="FF0000"/>
                </a:solidFill>
              </a:rPr>
              <a:t>一定要和客户对齐</a:t>
            </a:r>
            <a:r>
              <a:rPr lang="zh-CN" altLang="en-US" dirty="0"/>
              <a:t>！！</a:t>
            </a:r>
            <a:endParaRPr lang="en-US" altLang="zh-CN" dirty="0"/>
          </a:p>
          <a:p>
            <a:r>
              <a:rPr lang="en-US" altLang="zh-CN" b="1" dirty="0"/>
              <a:t>X</a:t>
            </a:r>
            <a:r>
              <a:rPr lang="zh-CN" altLang="en-US" b="1" dirty="0"/>
              <a:t>不同 </a:t>
            </a:r>
            <a:r>
              <a:rPr lang="en-US" altLang="zh-CN" b="1" dirty="0"/>
              <a:t>or X</a:t>
            </a:r>
            <a:r>
              <a:rPr lang="zh-CN" altLang="en-US" b="1" dirty="0"/>
              <a:t>相同</a:t>
            </a:r>
            <a:r>
              <a:rPr lang="zh-CN" altLang="en-US" dirty="0"/>
              <a:t>？</a:t>
            </a:r>
            <a:endParaRPr lang="en-US" altLang="zh-CN" dirty="0"/>
          </a:p>
          <a:p>
            <a:pPr lvl="1"/>
            <a:r>
              <a:rPr lang="zh-CN" altLang="en-US" dirty="0"/>
              <a:t>选择的大致思路：场景带入，测试导向</a:t>
            </a:r>
            <a:endParaRPr lang="en-US" altLang="zh-CN" dirty="0"/>
          </a:p>
          <a:p>
            <a:r>
              <a:rPr lang="en-US" altLang="zh-CN" b="1" dirty="0"/>
              <a:t>X</a:t>
            </a:r>
            <a:r>
              <a:rPr lang="zh-CN" altLang="en-US" b="1" dirty="0"/>
              <a:t>如何选择</a:t>
            </a:r>
            <a:r>
              <a:rPr lang="zh-CN" altLang="en-US" dirty="0"/>
              <a:t>？</a:t>
            </a:r>
            <a:endParaRPr lang="en-US" altLang="zh-CN" dirty="0"/>
          </a:p>
          <a:p>
            <a:pPr lvl="1"/>
            <a:r>
              <a:rPr lang="en-US" altLang="zh-CN" dirty="0"/>
              <a:t>Prefill</a:t>
            </a:r>
            <a:r>
              <a:rPr lang="zh-CN" altLang="en-US" dirty="0"/>
              <a:t>节点之间独立</a:t>
            </a:r>
            <a:r>
              <a:rPr lang="en-US" altLang="zh-CN" dirty="0"/>
              <a:t>or</a:t>
            </a:r>
            <a:r>
              <a:rPr lang="zh-CN" altLang="en-US" dirty="0"/>
              <a:t>通信？</a:t>
            </a:r>
            <a:endParaRPr lang="en-US" altLang="zh-CN" dirty="0"/>
          </a:p>
          <a:p>
            <a:pPr lvl="1"/>
            <a:r>
              <a:rPr lang="en-US" altLang="zh-CN" dirty="0"/>
              <a:t>Decode</a:t>
            </a:r>
            <a:r>
              <a:rPr lang="zh-CN" altLang="en-US" dirty="0"/>
              <a:t>节点之间独立</a:t>
            </a:r>
            <a:r>
              <a:rPr lang="en-US" altLang="zh-CN" dirty="0"/>
              <a:t>or</a:t>
            </a:r>
            <a:r>
              <a:rPr lang="zh-CN" altLang="en-US" dirty="0"/>
              <a:t>通信？</a:t>
            </a:r>
            <a:endParaRPr lang="en-US" altLang="zh-CN" dirty="0"/>
          </a:p>
          <a:p>
            <a:pPr lvl="1"/>
            <a:r>
              <a:rPr lang="en-US" altLang="zh-CN" dirty="0"/>
              <a:t>Worker</a:t>
            </a:r>
            <a:r>
              <a:rPr lang="zh-CN" altLang="en-US" dirty="0"/>
              <a:t>数量如何确定？</a:t>
            </a:r>
            <a:endParaRPr lang="en-US" altLang="zh-CN" dirty="0"/>
          </a:p>
          <a:p>
            <a:pPr lvl="2"/>
            <a:r>
              <a:rPr lang="en-US" altLang="zh-CN" dirty="0"/>
              <a:t>Follow</a:t>
            </a:r>
            <a:r>
              <a:rPr lang="zh-CN" altLang="en-US" dirty="0"/>
              <a:t>某</a:t>
            </a:r>
            <a:r>
              <a:rPr lang="en-US" altLang="zh-CN" dirty="0"/>
              <a:t>AI Lab/</a:t>
            </a:r>
            <a:r>
              <a:rPr lang="zh-CN" altLang="en-US" dirty="0"/>
              <a:t>知名公司的测试报告。</a:t>
            </a:r>
            <a:endParaRPr lang="en-US" altLang="zh-CN" dirty="0"/>
          </a:p>
          <a:p>
            <a:pPr lvl="2"/>
            <a:r>
              <a:rPr lang="zh-CN" altLang="en-US" dirty="0"/>
              <a:t>公司内部花人</a:t>
            </a:r>
            <a:r>
              <a:rPr lang="en-US" altLang="zh-CN" dirty="0"/>
              <a:t>/</a:t>
            </a:r>
            <a:r>
              <a:rPr lang="zh-CN" altLang="en-US" dirty="0"/>
              <a:t>天来进行大量实验。</a:t>
            </a:r>
            <a:endParaRPr lang="en-US" altLang="zh-CN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688242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DCD9E4C-97F3-BD0C-3075-747267EBA1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125347"/>
          </a:xfrm>
        </p:spPr>
        <p:txBody>
          <a:bodyPr/>
          <a:lstStyle/>
          <a:p>
            <a:r>
              <a:rPr lang="en-US" dirty="0"/>
              <a:t>KV  </a:t>
            </a:r>
            <a:r>
              <a:rPr lang="en-US" altLang="zh-CN" dirty="0"/>
              <a:t>transfer engine</a:t>
            </a:r>
            <a:r>
              <a:rPr lang="zh-CN" altLang="en-US" dirty="0"/>
              <a:t>的选择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5BCEE23-B273-0699-2F71-47A8DED44B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55064"/>
            <a:ext cx="10515600" cy="4837811"/>
          </a:xfrm>
        </p:spPr>
        <p:txBody>
          <a:bodyPr>
            <a:normAutofit fontScale="92500" lnSpcReduction="10000"/>
          </a:bodyPr>
          <a:lstStyle/>
          <a:p>
            <a:r>
              <a:rPr lang="zh-CN" altLang="en-US" dirty="0"/>
              <a:t>常见的</a:t>
            </a:r>
            <a:r>
              <a:rPr lang="en-US" altLang="zh-CN" dirty="0"/>
              <a:t>KV transfer engine</a:t>
            </a:r>
            <a:r>
              <a:rPr lang="zh-CN" altLang="en-US" dirty="0"/>
              <a:t>（</a:t>
            </a:r>
            <a:r>
              <a:rPr lang="en-US" altLang="zh-CN" dirty="0"/>
              <a:t>on EFA</a:t>
            </a:r>
            <a:r>
              <a:rPr lang="zh-CN" altLang="en-US" dirty="0"/>
              <a:t>）：</a:t>
            </a:r>
            <a:endParaRPr lang="en-US" altLang="zh-CN" dirty="0"/>
          </a:p>
          <a:p>
            <a:pPr lvl="1"/>
            <a:r>
              <a:rPr lang="en-US" altLang="zh-CN" dirty="0"/>
              <a:t>NIXL </a:t>
            </a:r>
          </a:p>
          <a:p>
            <a:pPr lvl="2"/>
            <a:r>
              <a:rPr lang="en-US" altLang="zh-CN" dirty="0"/>
              <a:t>UCX backend</a:t>
            </a:r>
          </a:p>
          <a:p>
            <a:pPr lvl="2"/>
            <a:r>
              <a:rPr lang="en-US" altLang="zh-CN" dirty="0" err="1"/>
              <a:t>Libfabric</a:t>
            </a:r>
            <a:r>
              <a:rPr lang="en-US" altLang="zh-CN" dirty="0"/>
              <a:t> backend</a:t>
            </a:r>
          </a:p>
          <a:p>
            <a:pPr lvl="1"/>
            <a:r>
              <a:rPr lang="en-US" altLang="zh-CN" dirty="0"/>
              <a:t>Mooncake TE </a:t>
            </a:r>
          </a:p>
          <a:p>
            <a:pPr lvl="2"/>
            <a:r>
              <a:rPr lang="en-US" altLang="zh-CN" dirty="0" err="1"/>
              <a:t>Libfabric</a:t>
            </a:r>
            <a:endParaRPr lang="en-US" altLang="zh-CN" dirty="0"/>
          </a:p>
          <a:p>
            <a:r>
              <a:rPr lang="en-US" dirty="0"/>
              <a:t>NIXL</a:t>
            </a:r>
            <a:r>
              <a:rPr lang="zh-CN" altLang="en-US" dirty="0"/>
              <a:t>和</a:t>
            </a:r>
            <a:r>
              <a:rPr lang="en-US" altLang="zh-CN" dirty="0"/>
              <a:t>Mooncake</a:t>
            </a:r>
            <a:r>
              <a:rPr lang="zh-CN" altLang="en-US" dirty="0"/>
              <a:t> </a:t>
            </a:r>
            <a:r>
              <a:rPr lang="en-US" altLang="zh-CN" dirty="0"/>
              <a:t>TE</a:t>
            </a:r>
            <a:r>
              <a:rPr lang="zh-CN" altLang="en-US" dirty="0"/>
              <a:t>对比：</a:t>
            </a:r>
            <a:endParaRPr lang="en-US" altLang="zh-CN" dirty="0"/>
          </a:p>
          <a:p>
            <a:pPr lvl="1"/>
            <a:r>
              <a:rPr lang="en-US" b="1" dirty="0">
                <a:solidFill>
                  <a:srgbClr val="FF0000"/>
                </a:solidFill>
              </a:rPr>
              <a:t>NIXL</a:t>
            </a:r>
            <a:r>
              <a:rPr lang="zh-CN" altLang="en-US" b="1" dirty="0">
                <a:solidFill>
                  <a:srgbClr val="FF0000"/>
                </a:solidFill>
              </a:rPr>
              <a:t>是</a:t>
            </a:r>
            <a:r>
              <a:rPr lang="en-US" altLang="zh-CN" b="1" dirty="0">
                <a:solidFill>
                  <a:srgbClr val="FF0000"/>
                </a:solidFill>
              </a:rPr>
              <a:t>AWS</a:t>
            </a:r>
            <a:r>
              <a:rPr lang="zh-CN" altLang="en-US" b="1" dirty="0">
                <a:solidFill>
                  <a:srgbClr val="FF0000"/>
                </a:solidFill>
              </a:rPr>
              <a:t>官方支持和推荐的</a:t>
            </a:r>
            <a:r>
              <a:rPr lang="zh-CN" altLang="en-US" dirty="0"/>
              <a:t>。</a:t>
            </a:r>
            <a:endParaRPr lang="en-US" altLang="zh-CN" dirty="0"/>
          </a:p>
          <a:p>
            <a:pPr lvl="1"/>
            <a:r>
              <a:rPr lang="zh-CN" altLang="en-US" b="1" dirty="0"/>
              <a:t>性能对比</a:t>
            </a:r>
            <a:r>
              <a:rPr lang="zh-CN" altLang="en-US" dirty="0"/>
              <a:t>：</a:t>
            </a:r>
            <a:endParaRPr lang="en-US" altLang="zh-CN" dirty="0"/>
          </a:p>
          <a:p>
            <a:pPr lvl="2"/>
            <a:r>
              <a:rPr lang="en-US" altLang="zh-CN" dirty="0"/>
              <a:t>KV transfer latency </a:t>
            </a:r>
            <a:r>
              <a:rPr lang="zh-CN" altLang="en-US" dirty="0"/>
              <a:t>和</a:t>
            </a:r>
            <a:endParaRPr lang="en-US" altLang="zh-CN" dirty="0"/>
          </a:p>
          <a:p>
            <a:pPr lvl="2"/>
            <a:r>
              <a:rPr lang="zh-CN" altLang="en-US" dirty="0"/>
              <a:t>端到端推理的性能对比：</a:t>
            </a:r>
            <a:endParaRPr lang="en-US" altLang="zh-CN" dirty="0"/>
          </a:p>
          <a:p>
            <a:pPr lvl="3"/>
            <a:r>
              <a:rPr lang="zh-CN" altLang="en-US" dirty="0"/>
              <a:t>它们的性能差异，最好</a:t>
            </a:r>
            <a:r>
              <a:rPr lang="en-US" altLang="zh-CN" dirty="0"/>
              <a:t>case by case</a:t>
            </a:r>
            <a:r>
              <a:rPr lang="zh-CN" altLang="en-US" dirty="0"/>
              <a:t>来对比。</a:t>
            </a:r>
            <a:endParaRPr lang="en-US" altLang="zh-CN" dirty="0"/>
          </a:p>
          <a:p>
            <a:pPr lvl="1"/>
            <a:r>
              <a:rPr lang="zh-CN" altLang="en-US" b="1" dirty="0"/>
              <a:t>稳定性对比</a:t>
            </a:r>
            <a:r>
              <a:rPr lang="zh-CN" altLang="en-US" dirty="0"/>
              <a:t>：</a:t>
            </a:r>
            <a:endParaRPr lang="en-US" altLang="zh-CN" dirty="0"/>
          </a:p>
          <a:p>
            <a:pPr lvl="2"/>
            <a:r>
              <a:rPr lang="en-US" altLang="zh-CN" dirty="0"/>
              <a:t>NIXL</a:t>
            </a:r>
            <a:r>
              <a:rPr lang="zh-CN" altLang="en-US" dirty="0"/>
              <a:t>在稳定性方面可能更好，最好</a:t>
            </a:r>
            <a:r>
              <a:rPr lang="en-US" altLang="zh-CN" dirty="0"/>
              <a:t>case by case</a:t>
            </a:r>
            <a:r>
              <a:rPr lang="zh-CN" altLang="en-US" dirty="0"/>
              <a:t>来对比。</a:t>
            </a:r>
            <a:endParaRPr lang="en-US" altLang="zh-CN" dirty="0"/>
          </a:p>
          <a:p>
            <a:pPr lvl="2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834461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8A1FC86-954F-C924-7BF1-E697582E08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64792"/>
            <a:ext cx="10515600" cy="4506740"/>
          </a:xfrm>
        </p:spPr>
        <p:txBody>
          <a:bodyPr/>
          <a:lstStyle/>
          <a:p>
            <a:r>
              <a:rPr lang="en-US" altLang="zh-CN" dirty="0"/>
              <a:t>2P1D vs 2P2D</a:t>
            </a:r>
            <a:r>
              <a:rPr lang="zh-CN" altLang="en-US" dirty="0"/>
              <a:t>：</a:t>
            </a:r>
            <a:endParaRPr lang="en-US" altLang="zh-CN" dirty="0"/>
          </a:p>
          <a:p>
            <a:pPr lvl="1"/>
            <a:r>
              <a:rPr lang="en-US" dirty="0"/>
              <a:t>P6-b200.48xlarge </a:t>
            </a:r>
            <a:r>
              <a:rPr lang="zh-CN" altLang="en-US" dirty="0"/>
              <a:t>实例，模型</a:t>
            </a:r>
            <a:r>
              <a:rPr lang="en-US" altLang="zh-CN" dirty="0"/>
              <a:t> </a:t>
            </a:r>
            <a:r>
              <a:rPr lang="en-US" dirty="0"/>
              <a:t>Deepseek-v3 FP8</a:t>
            </a:r>
            <a:r>
              <a:rPr lang="zh-CN" altLang="en-US" dirty="0"/>
              <a:t>；</a:t>
            </a:r>
            <a:endParaRPr lang="en-US" dirty="0"/>
          </a:p>
          <a:p>
            <a:pPr lvl="1"/>
            <a:r>
              <a:rPr lang="zh-CN" altLang="en-US" b="1" dirty="0"/>
              <a:t>代码场景</a:t>
            </a:r>
            <a:r>
              <a:rPr lang="zh-CN" altLang="en-US" dirty="0"/>
              <a:t>或者</a:t>
            </a:r>
            <a:r>
              <a:rPr lang="en-US" b="1" dirty="0"/>
              <a:t>agent</a:t>
            </a:r>
            <a:r>
              <a:rPr lang="zh-CN" altLang="en-US" b="1" dirty="0"/>
              <a:t>多轮交互场景</a:t>
            </a:r>
            <a:r>
              <a:rPr lang="zh-CN" altLang="en-US" dirty="0"/>
              <a:t>：</a:t>
            </a:r>
            <a:r>
              <a:rPr lang="en-US" dirty="0"/>
              <a:t>Input token 120K，output token 256（</a:t>
            </a:r>
            <a:r>
              <a:rPr lang="zh-CN" altLang="en-US" dirty="0"/>
              <a:t>为了更好的</a:t>
            </a:r>
            <a:r>
              <a:rPr lang="en-US" dirty="0"/>
              <a:t>TTFT，</a:t>
            </a:r>
            <a:r>
              <a:rPr lang="zh-CN" altLang="en-US" dirty="0"/>
              <a:t>限制</a:t>
            </a:r>
            <a:r>
              <a:rPr lang="en-US" dirty="0"/>
              <a:t>max concurrency</a:t>
            </a:r>
            <a:r>
              <a:rPr lang="zh-CN" altLang="en-US" dirty="0"/>
              <a:t>为</a:t>
            </a:r>
            <a:r>
              <a:rPr lang="en-US" altLang="zh-CN" dirty="0"/>
              <a:t>2</a:t>
            </a:r>
            <a:r>
              <a:rPr lang="zh-CN" altLang="en-US" dirty="0"/>
              <a:t>来测试）：</a:t>
            </a:r>
          </a:p>
          <a:p>
            <a:pPr lvl="2"/>
            <a:endParaRPr lang="en-US" altLang="zh-CN" dirty="0"/>
          </a:p>
          <a:p>
            <a:pPr lvl="2"/>
            <a:endParaRPr lang="en-US" altLang="zh-CN" dirty="0"/>
          </a:p>
        </p:txBody>
      </p:sp>
      <p:pic>
        <p:nvPicPr>
          <p:cNvPr id="1033" name="Picture 9">
            <a:extLst>
              <a:ext uri="{FF2B5EF4-FFF2-40B4-BE49-F238E27FC236}">
                <a16:creationId xmlns:a16="http://schemas.microsoft.com/office/drawing/2014/main" id="{4893E655-8DBA-8D23-1EA7-55A5708603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2351" y="3429000"/>
            <a:ext cx="10027609" cy="31821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10">
            <a:extLst>
              <a:ext uri="{FF2B5EF4-FFF2-40B4-BE49-F238E27FC236}">
                <a16:creationId xmlns:a16="http://schemas.microsoft.com/office/drawing/2014/main" id="{0EEAF177-BD63-F871-F46B-41D7705C82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2351" y="1204912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8925984D-9F97-527D-7855-18AE38BE7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PD </a:t>
            </a:r>
            <a:r>
              <a:rPr lang="zh-CN" altLang="en-US" dirty="0"/>
              <a:t>分离性能对比</a:t>
            </a:r>
          </a:p>
        </p:txBody>
      </p:sp>
    </p:spTree>
    <p:extLst>
      <p:ext uri="{BB962C8B-B14F-4D97-AF65-F5344CB8AC3E}">
        <p14:creationId xmlns:p14="http://schemas.microsoft.com/office/powerpoint/2010/main" val="371857031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0F9AFA9-9BAB-18BA-699C-4B5C5339A0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3907"/>
          </a:xfrm>
        </p:spPr>
        <p:txBody>
          <a:bodyPr/>
          <a:lstStyle/>
          <a:p>
            <a:r>
              <a:rPr lang="en-US" dirty="0"/>
              <a:t>C</a:t>
            </a:r>
            <a:r>
              <a:rPr lang="en-US" altLang="zh-CN" dirty="0"/>
              <a:t>ontinue….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D222E1D-6C42-87E2-868C-3DE9C74999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7904"/>
            <a:ext cx="10515600" cy="5111496"/>
          </a:xfrm>
        </p:spPr>
        <p:txBody>
          <a:bodyPr/>
          <a:lstStyle/>
          <a:p>
            <a:r>
              <a:rPr lang="en-US" dirty="0"/>
              <a:t>1P2D </a:t>
            </a:r>
            <a:r>
              <a:rPr lang="en-US" altLang="zh-CN" dirty="0"/>
              <a:t>vs 2P2D</a:t>
            </a:r>
            <a:r>
              <a:rPr lang="zh-CN" altLang="en-US" dirty="0"/>
              <a:t>：</a:t>
            </a:r>
            <a:endParaRPr lang="en-US" altLang="zh-CN" dirty="0"/>
          </a:p>
          <a:p>
            <a:pPr lvl="1"/>
            <a:r>
              <a:rPr lang="en-US" dirty="0"/>
              <a:t>P6-b200.48xlarge </a:t>
            </a:r>
            <a:r>
              <a:rPr lang="zh-CN" altLang="en-US" dirty="0"/>
              <a:t>实例，模型</a:t>
            </a:r>
            <a:r>
              <a:rPr lang="en-US" altLang="zh-CN" dirty="0"/>
              <a:t> </a:t>
            </a:r>
            <a:r>
              <a:rPr lang="en-US" dirty="0"/>
              <a:t>Deepseek-v3 FP8</a:t>
            </a:r>
            <a:r>
              <a:rPr lang="zh-CN" altLang="en-US" dirty="0"/>
              <a:t>；</a:t>
            </a:r>
            <a:endParaRPr lang="en-US" dirty="0"/>
          </a:p>
          <a:p>
            <a:pPr lvl="1"/>
            <a:r>
              <a:rPr lang="en-US" b="1" dirty="0"/>
              <a:t>Agent</a:t>
            </a:r>
            <a:r>
              <a:rPr lang="zh-CN" altLang="en-US" b="1" dirty="0"/>
              <a:t>针对复杂任务</a:t>
            </a:r>
            <a:r>
              <a:rPr lang="en-US" b="1" dirty="0"/>
              <a:t>thinking</a:t>
            </a:r>
            <a:r>
              <a:rPr lang="zh-CN" altLang="en-US" b="1" dirty="0"/>
              <a:t>输出很长的场景，</a:t>
            </a:r>
            <a:r>
              <a:rPr lang="zh-CN" altLang="en-US" dirty="0"/>
              <a:t>或者</a:t>
            </a:r>
            <a:r>
              <a:rPr lang="zh-CN" altLang="en-US" b="1" dirty="0"/>
              <a:t>根据项目需求输出完整详细设计和代码的场景</a:t>
            </a:r>
            <a:r>
              <a:rPr lang="zh-CN" altLang="en-US" dirty="0"/>
              <a:t>：</a:t>
            </a:r>
            <a:r>
              <a:rPr lang="en-US" dirty="0"/>
              <a:t>Input token 4K，output token 10K（max concurrency </a:t>
            </a:r>
            <a:r>
              <a:rPr lang="zh-CN" altLang="en-US" dirty="0"/>
              <a:t>为</a:t>
            </a:r>
            <a:r>
              <a:rPr lang="en-US" altLang="zh-CN" dirty="0"/>
              <a:t>100</a:t>
            </a:r>
            <a:r>
              <a:rPr lang="zh-CN" altLang="en-US" dirty="0"/>
              <a:t>）</a:t>
            </a:r>
          </a:p>
          <a:p>
            <a:pPr lvl="2"/>
            <a:endParaRPr lang="en-US" dirty="0"/>
          </a:p>
        </p:txBody>
      </p:sp>
      <p:pic>
        <p:nvPicPr>
          <p:cNvPr id="2049" name="Picture 1">
            <a:extLst>
              <a:ext uri="{FF2B5EF4-FFF2-40B4-BE49-F238E27FC236}">
                <a16:creationId xmlns:a16="http://schemas.microsoft.com/office/drawing/2014/main" id="{D2DAEAE1-43C6-D626-7924-150044C13C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7632" y="3429000"/>
            <a:ext cx="9363456" cy="32095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2">
            <a:extLst>
              <a:ext uri="{FF2B5EF4-FFF2-40B4-BE49-F238E27FC236}">
                <a16:creationId xmlns:a16="http://schemas.microsoft.com/office/drawing/2014/main" id="{F359C025-0010-AD06-EF39-C8D6FA912A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657398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58E8259-DCAD-ACBE-4AC0-FA8E29D6D6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</a:t>
            </a:r>
            <a:r>
              <a:rPr lang="en-US" altLang="zh-CN" dirty="0"/>
              <a:t>ontinue….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2460041-5BCC-9562-7276-E261022550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zh-CN" altLang="en-US" dirty="0"/>
              <a:t>实验观察（</a:t>
            </a:r>
            <a:r>
              <a:rPr lang="zh-CN" altLang="en-US" b="1" dirty="0"/>
              <a:t>我们只看</a:t>
            </a:r>
            <a:r>
              <a:rPr lang="en-US" altLang="zh-CN" b="1" dirty="0"/>
              <a:t>fact</a:t>
            </a:r>
            <a:r>
              <a:rPr lang="zh-CN" altLang="en-US" b="1" dirty="0"/>
              <a:t>，不下结论</a:t>
            </a:r>
            <a:r>
              <a:rPr lang="zh-CN" altLang="en-US" dirty="0"/>
              <a:t>）：</a:t>
            </a:r>
          </a:p>
          <a:p>
            <a:pPr lvl="1"/>
            <a:r>
              <a:rPr lang="en-US" altLang="zh-CN" dirty="0"/>
              <a:t>Input token 4K</a:t>
            </a:r>
            <a:r>
              <a:rPr lang="zh-CN" altLang="en-US" dirty="0"/>
              <a:t>，</a:t>
            </a:r>
            <a:r>
              <a:rPr lang="en-US" altLang="zh-CN" dirty="0"/>
              <a:t>output token 1K</a:t>
            </a:r>
            <a:r>
              <a:rPr lang="zh-CN" altLang="en-US" dirty="0"/>
              <a:t>的场景：</a:t>
            </a:r>
            <a:endParaRPr lang="en-US" altLang="zh-CN" dirty="0"/>
          </a:p>
          <a:p>
            <a:pPr lvl="2"/>
            <a:r>
              <a:rPr lang="en-US" altLang="zh-CN" dirty="0"/>
              <a:t>2P2D</a:t>
            </a:r>
            <a:r>
              <a:rPr lang="zh-CN" altLang="en-US" dirty="0"/>
              <a:t>比</a:t>
            </a:r>
            <a:r>
              <a:rPr lang="en-US" altLang="zh-CN" dirty="0"/>
              <a:t>2P1D</a:t>
            </a:r>
            <a:r>
              <a:rPr lang="zh-CN" altLang="en-US" dirty="0"/>
              <a:t>多一个</a:t>
            </a:r>
            <a:r>
              <a:rPr lang="en-US" altLang="zh-CN" dirty="0"/>
              <a:t>D</a:t>
            </a:r>
            <a:r>
              <a:rPr lang="zh-CN" altLang="en-US" dirty="0"/>
              <a:t>，吞吐多了</a:t>
            </a:r>
            <a:r>
              <a:rPr lang="en-US" altLang="zh-CN" dirty="0"/>
              <a:t>32%</a:t>
            </a:r>
            <a:r>
              <a:rPr lang="zh-CN" altLang="en-US" dirty="0"/>
              <a:t>，</a:t>
            </a:r>
            <a:r>
              <a:rPr lang="en-US" altLang="zh-CN" dirty="0"/>
              <a:t>TTFT</a:t>
            </a:r>
            <a:r>
              <a:rPr lang="zh-CN" altLang="en-US" dirty="0"/>
              <a:t>和</a:t>
            </a:r>
            <a:r>
              <a:rPr lang="en-US" altLang="zh-CN" dirty="0"/>
              <a:t>TPOT</a:t>
            </a:r>
            <a:r>
              <a:rPr lang="zh-CN" altLang="en-US" dirty="0"/>
              <a:t>都改善很多。所以，这个场景</a:t>
            </a:r>
            <a:r>
              <a:rPr lang="en-US" altLang="zh-CN" dirty="0"/>
              <a:t>2P2D</a:t>
            </a:r>
            <a:r>
              <a:rPr lang="zh-CN" altLang="en-US" dirty="0"/>
              <a:t>是更好的选择。</a:t>
            </a:r>
          </a:p>
          <a:p>
            <a:pPr lvl="1"/>
            <a:r>
              <a:rPr lang="en-US" altLang="zh-CN" dirty="0"/>
              <a:t>Input token 16K</a:t>
            </a:r>
            <a:r>
              <a:rPr lang="zh-CN" altLang="en-US" dirty="0"/>
              <a:t>，</a:t>
            </a:r>
            <a:r>
              <a:rPr lang="en-US" altLang="zh-CN" dirty="0"/>
              <a:t>output token 1K</a:t>
            </a:r>
            <a:r>
              <a:rPr lang="zh-CN" altLang="en-US" dirty="0"/>
              <a:t>的场景：</a:t>
            </a:r>
            <a:endParaRPr lang="en-US" altLang="zh-CN" dirty="0"/>
          </a:p>
          <a:p>
            <a:pPr lvl="2"/>
            <a:r>
              <a:rPr lang="en-US" altLang="zh-CN" dirty="0"/>
              <a:t>2P2D</a:t>
            </a:r>
            <a:r>
              <a:rPr lang="zh-CN" altLang="en-US" dirty="0"/>
              <a:t>比</a:t>
            </a:r>
            <a:r>
              <a:rPr lang="en-US" altLang="zh-CN" dirty="0"/>
              <a:t>2P1D</a:t>
            </a:r>
            <a:r>
              <a:rPr lang="zh-CN" altLang="en-US" dirty="0"/>
              <a:t>多一个</a:t>
            </a:r>
            <a:r>
              <a:rPr lang="en-US" altLang="zh-CN" dirty="0"/>
              <a:t>D</a:t>
            </a:r>
            <a:r>
              <a:rPr lang="zh-CN" altLang="en-US" dirty="0"/>
              <a:t>，吞吐多</a:t>
            </a:r>
            <a:r>
              <a:rPr lang="en-US" altLang="zh-CN" dirty="0"/>
              <a:t>80%</a:t>
            </a:r>
            <a:r>
              <a:rPr lang="zh-CN" altLang="en-US" dirty="0"/>
              <a:t>，</a:t>
            </a:r>
            <a:r>
              <a:rPr lang="en-US" altLang="zh-CN" dirty="0"/>
              <a:t>TTFT</a:t>
            </a:r>
            <a:r>
              <a:rPr lang="zh-CN" altLang="en-US" dirty="0"/>
              <a:t>和</a:t>
            </a:r>
            <a:r>
              <a:rPr lang="en-US" altLang="zh-CN" dirty="0"/>
              <a:t>TPOT</a:t>
            </a:r>
            <a:r>
              <a:rPr lang="zh-CN" altLang="en-US" dirty="0"/>
              <a:t>都改善很多。这个场景</a:t>
            </a:r>
            <a:r>
              <a:rPr lang="en-US" altLang="zh-CN" dirty="0"/>
              <a:t>2P2D</a:t>
            </a:r>
            <a:r>
              <a:rPr lang="zh-CN" altLang="en-US" dirty="0"/>
              <a:t>显然是更好的选择。</a:t>
            </a:r>
          </a:p>
          <a:p>
            <a:pPr lvl="1"/>
            <a:r>
              <a:rPr lang="en-US" altLang="zh-CN" dirty="0"/>
              <a:t>Input token 120K</a:t>
            </a:r>
            <a:r>
              <a:rPr lang="zh-CN" altLang="en-US" dirty="0"/>
              <a:t>，</a:t>
            </a:r>
            <a:r>
              <a:rPr lang="en-US" altLang="zh-CN" dirty="0"/>
              <a:t>output token 256</a:t>
            </a:r>
            <a:r>
              <a:rPr lang="zh-CN" altLang="en-US" dirty="0"/>
              <a:t>的场景：</a:t>
            </a:r>
            <a:endParaRPr lang="en-US" altLang="zh-CN" dirty="0"/>
          </a:p>
          <a:p>
            <a:pPr lvl="2"/>
            <a:r>
              <a:rPr lang="en-US" altLang="zh-CN" dirty="0"/>
              <a:t>2P2D</a:t>
            </a:r>
            <a:r>
              <a:rPr lang="zh-CN" altLang="en-US" dirty="0"/>
              <a:t>和</a:t>
            </a:r>
            <a:r>
              <a:rPr lang="en-US" altLang="zh-CN" dirty="0"/>
              <a:t>2P1D</a:t>
            </a:r>
            <a:r>
              <a:rPr lang="zh-CN" altLang="en-US" dirty="0"/>
              <a:t>差不多，因为瓶颈在</a:t>
            </a:r>
            <a:r>
              <a:rPr lang="en-US" altLang="zh-CN" dirty="0"/>
              <a:t>Prefill</a:t>
            </a:r>
            <a:r>
              <a:rPr lang="zh-CN" altLang="en-US" dirty="0"/>
              <a:t>节点处理超级长的</a:t>
            </a:r>
            <a:r>
              <a:rPr lang="en-US" altLang="zh-CN" dirty="0"/>
              <a:t>input token</a:t>
            </a:r>
            <a:r>
              <a:rPr lang="zh-CN" altLang="en-US" dirty="0"/>
              <a:t>了，这个时候选择</a:t>
            </a:r>
            <a:r>
              <a:rPr lang="en-US" altLang="zh-CN" dirty="0"/>
              <a:t>2P1D</a:t>
            </a:r>
            <a:r>
              <a:rPr lang="zh-CN" altLang="en-US" dirty="0"/>
              <a:t>性价比更高。另外，这个时候增加</a:t>
            </a:r>
            <a:r>
              <a:rPr lang="en-US" altLang="zh-CN" dirty="0"/>
              <a:t>prefill</a:t>
            </a:r>
            <a:r>
              <a:rPr lang="zh-CN" altLang="en-US" dirty="0"/>
              <a:t>节点也是一个</a:t>
            </a:r>
            <a:r>
              <a:rPr lang="en-US" altLang="zh-CN" dirty="0"/>
              <a:t>signal</a:t>
            </a:r>
            <a:r>
              <a:rPr lang="zh-CN" altLang="en-US" dirty="0"/>
              <a:t>。</a:t>
            </a:r>
          </a:p>
          <a:p>
            <a:pPr lvl="1"/>
            <a:r>
              <a:rPr lang="en-US" altLang="zh-CN" dirty="0"/>
              <a:t>Input token 4K</a:t>
            </a:r>
            <a:r>
              <a:rPr lang="zh-CN" altLang="en-US" dirty="0"/>
              <a:t>，</a:t>
            </a:r>
            <a:r>
              <a:rPr lang="en-US" altLang="zh-CN" dirty="0"/>
              <a:t>output token 10K</a:t>
            </a:r>
            <a:r>
              <a:rPr lang="zh-CN" altLang="en-US" dirty="0"/>
              <a:t>的场景：</a:t>
            </a:r>
            <a:endParaRPr lang="en-US" altLang="zh-CN" dirty="0"/>
          </a:p>
          <a:p>
            <a:pPr lvl="2"/>
            <a:r>
              <a:rPr lang="en-US" altLang="zh-CN" dirty="0"/>
              <a:t>2P2D</a:t>
            </a:r>
            <a:r>
              <a:rPr lang="zh-CN" altLang="en-US" dirty="0"/>
              <a:t>比</a:t>
            </a:r>
            <a:r>
              <a:rPr lang="en-US" altLang="zh-CN" dirty="0"/>
              <a:t>1P2D</a:t>
            </a:r>
            <a:r>
              <a:rPr lang="zh-CN" altLang="en-US" dirty="0"/>
              <a:t>多了一个</a:t>
            </a:r>
            <a:r>
              <a:rPr lang="en-US" altLang="zh-CN" dirty="0"/>
              <a:t>P</a:t>
            </a:r>
            <a:r>
              <a:rPr lang="zh-CN" altLang="en-US" dirty="0"/>
              <a:t>，性能差不多。这个时候瓶颈是在</a:t>
            </a:r>
            <a:r>
              <a:rPr lang="en-US" altLang="zh-CN" dirty="0"/>
              <a:t>D</a:t>
            </a:r>
            <a:r>
              <a:rPr lang="zh-CN" altLang="en-US" dirty="0"/>
              <a:t>要输出更长的</a:t>
            </a:r>
            <a:r>
              <a:rPr lang="en-US" altLang="zh-CN" dirty="0"/>
              <a:t>token</a:t>
            </a:r>
            <a:r>
              <a:rPr lang="zh-CN" altLang="en-US" dirty="0"/>
              <a:t>。那么这个场景选择</a:t>
            </a:r>
            <a:r>
              <a:rPr lang="en-US" altLang="zh-CN" dirty="0"/>
              <a:t>1P2D</a:t>
            </a:r>
            <a:r>
              <a:rPr lang="zh-CN" altLang="en-US" dirty="0"/>
              <a:t>更好。另外，这个时候增加</a:t>
            </a:r>
            <a:r>
              <a:rPr lang="en-US" altLang="zh-CN" dirty="0"/>
              <a:t>Decode</a:t>
            </a:r>
            <a:r>
              <a:rPr lang="zh-CN" altLang="en-US" dirty="0"/>
              <a:t>节点是一个</a:t>
            </a:r>
            <a:r>
              <a:rPr lang="en-US" altLang="zh-CN" dirty="0"/>
              <a:t>signal</a:t>
            </a:r>
            <a:r>
              <a:rPr lang="zh-CN" altLang="en-US" dirty="0"/>
              <a:t>。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77141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E2287AB-FCDA-67D2-F8F7-D56C333ABB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08868"/>
          </a:xfrm>
        </p:spPr>
        <p:txBody>
          <a:bodyPr/>
          <a:lstStyle/>
          <a:p>
            <a:r>
              <a:rPr lang="en-US" dirty="0"/>
              <a:t>C</a:t>
            </a:r>
            <a:r>
              <a:rPr lang="en-US" altLang="zh-CN" dirty="0"/>
              <a:t>ontinue…..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0A9E053-C96E-6F23-9625-E498D36CBA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9794"/>
            <a:ext cx="10515600" cy="5117685"/>
          </a:xfrm>
        </p:spPr>
        <p:txBody>
          <a:bodyPr/>
          <a:lstStyle/>
          <a:p>
            <a:r>
              <a:rPr lang="en-US" dirty="0"/>
              <a:t>1P1D </a:t>
            </a:r>
            <a:r>
              <a:rPr lang="en-US" altLang="zh-CN" dirty="0"/>
              <a:t>vs Non-PD</a:t>
            </a:r>
          </a:p>
          <a:p>
            <a:pPr lvl="1"/>
            <a:r>
              <a:rPr lang="en-US" altLang="zh-CN" dirty="0"/>
              <a:t>2</a:t>
            </a:r>
            <a:r>
              <a:rPr lang="zh-CN" altLang="en-US" dirty="0"/>
              <a:t>节点</a:t>
            </a:r>
            <a:r>
              <a:rPr lang="en-US" dirty="0"/>
              <a:t>P6-b300.48xlarge </a:t>
            </a:r>
            <a:r>
              <a:rPr lang="zh-CN" altLang="en-US" dirty="0"/>
              <a:t>实例，</a:t>
            </a:r>
            <a:r>
              <a:rPr lang="en-US" dirty="0"/>
              <a:t>Deepseek-v3 FP8</a:t>
            </a:r>
            <a:r>
              <a:rPr lang="zh-CN" altLang="en-US" dirty="0"/>
              <a:t>模型</a:t>
            </a:r>
            <a:endParaRPr lang="en-US" dirty="0"/>
          </a:p>
          <a:p>
            <a:pPr lvl="1"/>
            <a:r>
              <a:rPr lang="zh-CN" altLang="en-US" dirty="0"/>
              <a:t>测试条件：</a:t>
            </a:r>
            <a:r>
              <a:rPr lang="en-US" dirty="0"/>
              <a:t>random-range-ratio 1（</a:t>
            </a:r>
            <a:r>
              <a:rPr lang="zh-CN" altLang="en-US" dirty="0"/>
              <a:t>输入和输出都是固定长度），</a:t>
            </a:r>
            <a:r>
              <a:rPr lang="en-US" altLang="zh-CN" dirty="0"/>
              <a:t>100</a:t>
            </a:r>
            <a:r>
              <a:rPr lang="zh-CN" altLang="en-US" dirty="0"/>
              <a:t>个</a:t>
            </a:r>
            <a:r>
              <a:rPr lang="en-US" dirty="0" err="1"/>
              <a:t>prompt，request-rate</a:t>
            </a:r>
            <a:r>
              <a:rPr lang="en-US" dirty="0"/>
              <a:t> 32，max concurrency 32。</a:t>
            </a:r>
          </a:p>
          <a:p>
            <a:pPr lvl="1"/>
            <a:r>
              <a:rPr lang="zh-CN" altLang="en-US" dirty="0"/>
              <a:t>左图是</a:t>
            </a:r>
            <a:r>
              <a:rPr lang="en-US" altLang="zh-CN" dirty="0"/>
              <a:t>1P1D</a:t>
            </a:r>
            <a:r>
              <a:rPr lang="zh-CN" altLang="en-US" dirty="0"/>
              <a:t>的</a:t>
            </a:r>
            <a:r>
              <a:rPr lang="en-US" altLang="zh-CN" dirty="0"/>
              <a:t>benchmark</a:t>
            </a:r>
            <a:r>
              <a:rPr lang="zh-CN" altLang="en-US" dirty="0"/>
              <a:t>结果，右图是</a:t>
            </a:r>
            <a:r>
              <a:rPr lang="en-US" altLang="zh-CN" dirty="0"/>
              <a:t>2</a:t>
            </a:r>
            <a:r>
              <a:rPr lang="zh-CN" altLang="en-US" dirty="0"/>
              <a:t>节点</a:t>
            </a:r>
            <a:r>
              <a:rPr lang="en-US" altLang="zh-CN" dirty="0"/>
              <a:t>Non-PD</a:t>
            </a:r>
            <a:r>
              <a:rPr lang="zh-CN" altLang="en-US" dirty="0"/>
              <a:t>的</a:t>
            </a:r>
            <a:r>
              <a:rPr lang="en-US" altLang="zh-CN" dirty="0"/>
              <a:t>benchmark</a:t>
            </a:r>
            <a:r>
              <a:rPr lang="zh-CN" altLang="en-US" dirty="0"/>
              <a:t>结果：</a:t>
            </a:r>
            <a:endParaRPr lang="en-US" dirty="0"/>
          </a:p>
          <a:p>
            <a:pPr lvl="2"/>
            <a:endParaRPr lang="en-US" dirty="0"/>
          </a:p>
        </p:txBody>
      </p:sp>
      <p:pic>
        <p:nvPicPr>
          <p:cNvPr id="3073" name="Picture 1">
            <a:extLst>
              <a:ext uri="{FF2B5EF4-FFF2-40B4-BE49-F238E27FC236}">
                <a16:creationId xmlns:a16="http://schemas.microsoft.com/office/drawing/2014/main" id="{D8A50FFA-425F-DE3B-8C46-A451CCDE4C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3029" y="3428999"/>
            <a:ext cx="4738255" cy="31588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2">
            <a:extLst>
              <a:ext uri="{FF2B5EF4-FFF2-40B4-BE49-F238E27FC236}">
                <a16:creationId xmlns:a16="http://schemas.microsoft.com/office/drawing/2014/main" id="{6A1409E9-1B85-2852-69C8-7ABC4F7D6A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3761" y="36512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pic>
        <p:nvPicPr>
          <p:cNvPr id="3075" name="Picture 3">
            <a:extLst>
              <a:ext uri="{FF2B5EF4-FFF2-40B4-BE49-F238E27FC236}">
                <a16:creationId xmlns:a16="http://schemas.microsoft.com/office/drawing/2014/main" id="{12F827EE-2CC2-C24D-6AD1-F1F0744D40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07034" y="3546089"/>
            <a:ext cx="5546766" cy="30417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3A5FB03C-9325-7E9E-F52C-DCE90AF13F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73289" y="2920873"/>
            <a:ext cx="8554061" cy="457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56215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D96A153-0DB9-C143-9115-11E272EC7E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</a:t>
            </a:r>
            <a:r>
              <a:rPr lang="en-US" altLang="zh-CN" dirty="0"/>
              <a:t>ontinue…..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CAE11FA-EB3C-39C3-0A77-F91E2C5DB6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实验观察（</a:t>
            </a:r>
            <a:r>
              <a:rPr lang="zh-CN" altLang="en-US" b="1" dirty="0"/>
              <a:t>我们只看</a:t>
            </a:r>
            <a:r>
              <a:rPr lang="en-US" altLang="zh-CN" b="1" dirty="0"/>
              <a:t>fact</a:t>
            </a:r>
            <a:r>
              <a:rPr lang="zh-CN" altLang="en-US" b="1" dirty="0"/>
              <a:t>，不下结论</a:t>
            </a:r>
            <a:r>
              <a:rPr lang="zh-CN" altLang="en-US" dirty="0"/>
              <a:t>）：</a:t>
            </a:r>
          </a:p>
          <a:p>
            <a:pPr lvl="1"/>
            <a:r>
              <a:rPr lang="zh-CN" altLang="en-US" dirty="0"/>
              <a:t>上面的</a:t>
            </a:r>
            <a:r>
              <a:rPr lang="en-US" altLang="zh-CN" dirty="0"/>
              <a:t>PD</a:t>
            </a:r>
            <a:r>
              <a:rPr lang="zh-CN" altLang="en-US" dirty="0"/>
              <a:t>分离以及</a:t>
            </a:r>
            <a:r>
              <a:rPr lang="en-US" altLang="zh-CN" dirty="0"/>
              <a:t>Non PD</a:t>
            </a:r>
            <a:r>
              <a:rPr lang="zh-CN" altLang="en-US" dirty="0"/>
              <a:t>分离的测试，基本上主要用的默认参数，没有充分的做调优。这里只是给与大致参考。大家可以先按照如上示例在自己的环境跑通流程复现结果，再根据客户的实际情况进行定向优化和微调。</a:t>
            </a:r>
          </a:p>
          <a:p>
            <a:pPr lvl="1"/>
            <a:r>
              <a:rPr lang="zh-CN" altLang="en-US" dirty="0"/>
              <a:t>针对上面的三个实验，</a:t>
            </a:r>
            <a:r>
              <a:rPr lang="en-US" altLang="zh-CN" b="1" dirty="0"/>
              <a:t>Non PD</a:t>
            </a:r>
            <a:r>
              <a:rPr lang="zh-CN" altLang="en-US" b="1" dirty="0"/>
              <a:t>的</a:t>
            </a:r>
            <a:r>
              <a:rPr lang="en-US" altLang="zh-CN" b="1" dirty="0"/>
              <a:t>2</a:t>
            </a:r>
            <a:r>
              <a:rPr lang="zh-CN" altLang="en-US" b="1" dirty="0"/>
              <a:t>节点部署的</a:t>
            </a:r>
            <a:r>
              <a:rPr lang="en-US" altLang="zh-CN" b="1" dirty="0"/>
              <a:t>output tokens/s</a:t>
            </a:r>
            <a:r>
              <a:rPr lang="zh-CN" altLang="en-US" b="1" dirty="0"/>
              <a:t>的吞吐和</a:t>
            </a:r>
            <a:r>
              <a:rPr lang="en-US" altLang="zh-CN" b="1" dirty="0"/>
              <a:t>mean TTFT</a:t>
            </a:r>
            <a:r>
              <a:rPr lang="zh-CN" altLang="en-US" b="1" dirty="0"/>
              <a:t>要好于</a:t>
            </a:r>
            <a:r>
              <a:rPr lang="en-US" altLang="zh-CN" b="1" dirty="0"/>
              <a:t>1P1D</a:t>
            </a:r>
            <a:r>
              <a:rPr lang="zh-CN" altLang="en-US" b="1" dirty="0"/>
              <a:t>部署，</a:t>
            </a:r>
            <a:r>
              <a:rPr lang="en-US" altLang="zh-CN" b="1" dirty="0"/>
              <a:t>1P1D</a:t>
            </a:r>
            <a:r>
              <a:rPr lang="zh-CN" altLang="en-US" b="1" dirty="0"/>
              <a:t>部署的</a:t>
            </a:r>
            <a:r>
              <a:rPr lang="en-US" altLang="zh-CN" b="1" dirty="0"/>
              <a:t>TPOT</a:t>
            </a:r>
            <a:r>
              <a:rPr lang="zh-CN" altLang="en-US" b="1" dirty="0"/>
              <a:t>要好于</a:t>
            </a:r>
            <a:r>
              <a:rPr lang="en-US" altLang="zh-CN" b="1" dirty="0"/>
              <a:t>Non PD</a:t>
            </a:r>
            <a:r>
              <a:rPr lang="zh-CN" altLang="en-US" b="1" dirty="0"/>
              <a:t>的</a:t>
            </a:r>
            <a:r>
              <a:rPr lang="en-US" altLang="zh-CN" b="1" dirty="0"/>
              <a:t>2</a:t>
            </a:r>
            <a:r>
              <a:rPr lang="zh-CN" altLang="en-US" b="1" dirty="0"/>
              <a:t>节点部署</a:t>
            </a:r>
            <a:r>
              <a:rPr lang="zh-CN" altLang="en-US" dirty="0"/>
              <a:t>。</a:t>
            </a:r>
          </a:p>
          <a:p>
            <a:pPr lvl="1"/>
            <a:r>
              <a:rPr lang="zh-CN" altLang="en-US" b="1" dirty="0"/>
              <a:t>针对</a:t>
            </a:r>
            <a:r>
              <a:rPr lang="en-US" altLang="zh-CN" b="1" dirty="0"/>
              <a:t>Non PD</a:t>
            </a:r>
            <a:r>
              <a:rPr lang="zh-CN" altLang="en-US" b="1" dirty="0"/>
              <a:t>的</a:t>
            </a:r>
            <a:r>
              <a:rPr lang="en-US" altLang="zh-CN" b="1" dirty="0"/>
              <a:t>2</a:t>
            </a:r>
            <a:r>
              <a:rPr lang="zh-CN" altLang="en-US" b="1" dirty="0"/>
              <a:t>节点部署，在 </a:t>
            </a:r>
            <a:r>
              <a:rPr lang="en-US" altLang="zh-CN" b="1" dirty="0"/>
              <a:t>120K </a:t>
            </a:r>
            <a:r>
              <a:rPr lang="zh-CN" altLang="en-US" b="1" dirty="0"/>
              <a:t>长输入场景下，</a:t>
            </a:r>
            <a:r>
              <a:rPr lang="en-US" altLang="zh-CN" b="1" dirty="0"/>
              <a:t>EP8 </a:t>
            </a:r>
            <a:r>
              <a:rPr lang="zh-CN" altLang="en-US" b="1" dirty="0"/>
              <a:t>比 </a:t>
            </a:r>
            <a:r>
              <a:rPr lang="en-US" altLang="zh-CN" b="1" dirty="0"/>
              <a:t>EP16 </a:t>
            </a:r>
            <a:r>
              <a:rPr lang="zh-CN" altLang="en-US" b="1" dirty="0"/>
              <a:t>性能好约 </a:t>
            </a:r>
            <a:r>
              <a:rPr lang="en-US" altLang="zh-CN" b="1" dirty="0"/>
              <a:t>5%</a:t>
            </a:r>
            <a:r>
              <a:rPr lang="zh-CN" altLang="en-US" dirty="0"/>
              <a:t>。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886781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CC31A69-07AD-8D9C-D68D-C7F76A6248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35706"/>
            <a:ext cx="10515600" cy="1325563"/>
          </a:xfrm>
        </p:spPr>
        <p:txBody>
          <a:bodyPr/>
          <a:lstStyle/>
          <a:p>
            <a:pPr algn="ctr"/>
            <a:r>
              <a:rPr lang="zh-CN" altLang="en-US" dirty="0"/>
              <a:t>大模型部署方案选型建议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791272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1188421-7220-6447-83B1-581335034D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83349"/>
          </a:xfrm>
        </p:spPr>
        <p:txBody>
          <a:bodyPr/>
          <a:lstStyle/>
          <a:p>
            <a:r>
              <a:rPr lang="zh-CN" altLang="en-US" dirty="0"/>
              <a:t>方案选型核心原则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A2A693C-8A6E-C5AE-229E-9785C5AB14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15512"/>
            <a:ext cx="10515600" cy="4777363"/>
          </a:xfrm>
        </p:spPr>
        <p:txBody>
          <a:bodyPr>
            <a:normAutofit fontScale="85000" lnSpcReduction="20000"/>
          </a:bodyPr>
          <a:lstStyle/>
          <a:p>
            <a:r>
              <a:rPr lang="zh-CN" altLang="en-US" dirty="0"/>
              <a:t>先单机基线，再多机扩展：</a:t>
            </a:r>
            <a:endParaRPr lang="en-US" dirty="0"/>
          </a:p>
          <a:p>
            <a:pPr lvl="1"/>
            <a:r>
              <a:rPr lang="zh-CN" altLang="en-US" dirty="0"/>
              <a:t>多机部署不一定比单机更好，跨节点通信开销可能抵消资源优势。</a:t>
            </a:r>
            <a:endParaRPr lang="en-US" dirty="0"/>
          </a:p>
          <a:p>
            <a:r>
              <a:rPr lang="en-US" b="1" dirty="0"/>
              <a:t>PD</a:t>
            </a:r>
            <a:r>
              <a:rPr lang="zh-CN" altLang="en-US" b="1" dirty="0"/>
              <a:t>分离</a:t>
            </a:r>
            <a:r>
              <a:rPr lang="en-US" b="1" dirty="0"/>
              <a:t> vs Non-PD </a:t>
            </a:r>
            <a:r>
              <a:rPr lang="zh-CN" altLang="en-US" b="1" dirty="0"/>
              <a:t>没有绝对优劣</a:t>
            </a:r>
            <a:r>
              <a:rPr lang="zh-CN" altLang="en-US" dirty="0"/>
              <a:t>：</a:t>
            </a:r>
            <a:endParaRPr lang="en-US" altLang="zh-CN" dirty="0"/>
          </a:p>
          <a:p>
            <a:pPr lvl="1"/>
            <a:r>
              <a:rPr lang="zh-CN" altLang="en-US" dirty="0"/>
              <a:t>不同场景、模型、</a:t>
            </a:r>
            <a:r>
              <a:rPr lang="en-US" dirty="0"/>
              <a:t>GPU </a:t>
            </a:r>
            <a:r>
              <a:rPr lang="zh-CN" altLang="en-US" dirty="0"/>
              <a:t>机型、并行策略下结论可能完全相反，必须</a:t>
            </a:r>
            <a:r>
              <a:rPr lang="en-US" dirty="0"/>
              <a:t> case by case </a:t>
            </a:r>
            <a:r>
              <a:rPr lang="zh-CN" altLang="en-US" dirty="0"/>
              <a:t>对比。</a:t>
            </a:r>
            <a:endParaRPr lang="en-US" dirty="0"/>
          </a:p>
          <a:p>
            <a:r>
              <a:rPr lang="zh-CN" altLang="en-US" dirty="0"/>
              <a:t>判断瓶颈在</a:t>
            </a:r>
            <a:r>
              <a:rPr lang="en-US" dirty="0"/>
              <a:t> Prefill </a:t>
            </a:r>
            <a:r>
              <a:rPr lang="zh-CN" altLang="en-US" dirty="0"/>
              <a:t>还是</a:t>
            </a:r>
            <a:r>
              <a:rPr lang="en-US" dirty="0"/>
              <a:t> Decode</a:t>
            </a:r>
            <a:r>
              <a:rPr lang="zh-CN" altLang="en-US" dirty="0"/>
              <a:t>，针对性扩容。</a:t>
            </a:r>
            <a:endParaRPr lang="en-US" dirty="0"/>
          </a:p>
          <a:p>
            <a:r>
              <a:rPr lang="en-US" dirty="0"/>
              <a:t>KV Transfer Engine </a:t>
            </a:r>
            <a:r>
              <a:rPr lang="zh-CN" altLang="en-US" dirty="0"/>
              <a:t>选型：</a:t>
            </a:r>
            <a:endParaRPr lang="en-US" altLang="zh-CN" dirty="0"/>
          </a:p>
          <a:p>
            <a:pPr lvl="1"/>
            <a:r>
              <a:rPr lang="en-US" dirty="0"/>
              <a:t>AWS EFA </a:t>
            </a:r>
            <a:r>
              <a:rPr lang="zh-CN" altLang="en-US" dirty="0"/>
              <a:t>环境目前优先推荐</a:t>
            </a:r>
            <a:r>
              <a:rPr lang="en-US" dirty="0"/>
              <a:t> NIXL </a:t>
            </a:r>
            <a:r>
              <a:rPr lang="en-US" dirty="0" err="1"/>
              <a:t>libfabric</a:t>
            </a:r>
            <a:r>
              <a:rPr lang="en-US" dirty="0"/>
              <a:t> backend</a:t>
            </a:r>
            <a:r>
              <a:rPr lang="zh-CN" altLang="en-US" dirty="0"/>
              <a:t>。</a:t>
            </a:r>
            <a:endParaRPr lang="en-US" dirty="0"/>
          </a:p>
          <a:p>
            <a:r>
              <a:rPr lang="en-US" b="1" dirty="0"/>
              <a:t>EP </a:t>
            </a:r>
            <a:r>
              <a:rPr lang="zh-CN" altLang="en-US" b="1" dirty="0"/>
              <a:t>跨节点不一定好</a:t>
            </a:r>
            <a:r>
              <a:rPr lang="zh-CN" altLang="en-US" dirty="0"/>
              <a:t>：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Prefill </a:t>
            </a:r>
            <a:r>
              <a:rPr lang="zh-CN" altLang="en-US" dirty="0"/>
              <a:t>节点独立部署可避免跨节点通信开销，</a:t>
            </a:r>
            <a:r>
              <a:rPr lang="en-US" dirty="0"/>
              <a:t>EP8 </a:t>
            </a:r>
            <a:r>
              <a:rPr lang="zh-CN" altLang="en-US" dirty="0"/>
              <a:t>在长输入场景通常优于</a:t>
            </a:r>
            <a:r>
              <a:rPr lang="en-US" dirty="0"/>
              <a:t> EP16</a:t>
            </a:r>
            <a:r>
              <a:rPr lang="zh-CN" altLang="en-US" dirty="0"/>
              <a:t>。</a:t>
            </a:r>
            <a:endParaRPr lang="en-US" dirty="0"/>
          </a:p>
          <a:p>
            <a:r>
              <a:rPr lang="zh-CN" altLang="en-US" b="1" dirty="0"/>
              <a:t>并行策略组合需实测，无万能公式</a:t>
            </a:r>
            <a:r>
              <a:rPr lang="en-US" b="1" dirty="0"/>
              <a:t> </a:t>
            </a:r>
            <a:r>
              <a:rPr lang="en-US" dirty="0"/>
              <a:t>— EP/TP/DP/PP/CP </a:t>
            </a:r>
            <a:r>
              <a:rPr lang="zh-CN" altLang="en-US" dirty="0"/>
              <a:t>的最优组合高度依赖具体场景：</a:t>
            </a:r>
            <a:endParaRPr lang="en-US" altLang="zh-CN" dirty="0"/>
          </a:p>
          <a:p>
            <a:pPr lvl="1"/>
            <a:r>
              <a:rPr lang="zh-CN" altLang="en-US" dirty="0"/>
              <a:t>比如针对</a:t>
            </a:r>
            <a:r>
              <a:rPr lang="en-US" dirty="0"/>
              <a:t>long input prompt</a:t>
            </a:r>
            <a:r>
              <a:rPr lang="zh-CN" altLang="en-US" dirty="0"/>
              <a:t>场景，可以考虑针对</a:t>
            </a:r>
            <a:r>
              <a:rPr lang="en-US" dirty="0"/>
              <a:t>Prefill</a:t>
            </a:r>
            <a:r>
              <a:rPr lang="zh-CN" altLang="en-US" dirty="0"/>
              <a:t>节点使用</a:t>
            </a:r>
            <a:r>
              <a:rPr lang="en-US" dirty="0"/>
              <a:t>CP</a:t>
            </a:r>
            <a:r>
              <a:rPr lang="zh-CN" altLang="en-US" dirty="0"/>
              <a:t>和</a:t>
            </a:r>
            <a:r>
              <a:rPr lang="en-US" dirty="0"/>
              <a:t>PP</a:t>
            </a:r>
            <a:r>
              <a:rPr lang="zh-CN" altLang="en-US" dirty="0"/>
              <a:t>组合。即使是</a:t>
            </a:r>
            <a:r>
              <a:rPr lang="en-US" dirty="0"/>
              <a:t> EP1 vs EP8 </a:t>
            </a:r>
            <a:r>
              <a:rPr lang="zh-CN" altLang="en-US" dirty="0"/>
              <a:t>这样看似明确的选择，在不同模型上（</a:t>
            </a:r>
            <a:r>
              <a:rPr lang="en-US" dirty="0"/>
              <a:t>DeepSeek-V3 vs Kimi2.5</a:t>
            </a:r>
            <a:r>
              <a:rPr lang="zh-CN" altLang="en-US" dirty="0"/>
              <a:t>）结论也可能完全相反。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019316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A0F9AF6-FD29-6346-C0D8-616F04C35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16312"/>
          </a:xfrm>
        </p:spPr>
        <p:txBody>
          <a:bodyPr/>
          <a:lstStyle/>
          <a:p>
            <a:r>
              <a:rPr lang="zh-CN" altLang="en-US" dirty="0"/>
              <a:t>方案选型决策树</a:t>
            </a:r>
            <a:endParaRPr lang="en-US" dirty="0"/>
          </a:p>
        </p:txBody>
      </p:sp>
      <p:pic>
        <p:nvPicPr>
          <p:cNvPr id="4" name="内容占位符 3">
            <a:extLst>
              <a:ext uri="{FF2B5EF4-FFF2-40B4-BE49-F238E27FC236}">
                <a16:creationId xmlns:a16="http://schemas.microsoft.com/office/drawing/2014/main" id="{C4627ED8-A5F0-57A7-1F8F-C2824CF8878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46690" y="1278542"/>
            <a:ext cx="6764942" cy="534883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28209992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39F2EB9-7F99-236E-E557-FC716FAB6A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03437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zh-CN" altLang="en-US" dirty="0"/>
              <a:t>一个完整的模型不同部署方案的</a:t>
            </a:r>
            <a:r>
              <a:rPr lang="en-US" altLang="zh-CN" dirty="0"/>
              <a:t>benchmark</a:t>
            </a:r>
            <a:r>
              <a:rPr lang="zh-CN" altLang="en-US" dirty="0"/>
              <a:t>性能对比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946953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4CB50D9-9F51-01F5-5B4E-B6496E1310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测试环境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FDE56B9-1DEA-EED6-C4BE-223F04F865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硬件</a:t>
            </a:r>
            <a:r>
              <a:rPr lang="en-US" altLang="zh-CN" dirty="0"/>
              <a:t>: </a:t>
            </a:r>
            <a:r>
              <a:rPr lang="en-US" dirty="0"/>
              <a:t>P5en.48xlarge (H200 141GB)</a:t>
            </a:r>
          </a:p>
          <a:p>
            <a:r>
              <a:rPr lang="zh-CN" altLang="en-US" dirty="0"/>
              <a:t>模型</a:t>
            </a:r>
            <a:r>
              <a:rPr lang="en-US" altLang="zh-CN" dirty="0"/>
              <a:t>: </a:t>
            </a:r>
            <a:r>
              <a:rPr lang="en-US" dirty="0"/>
              <a:t>DeepSeek-V3 671B </a:t>
            </a:r>
            <a:r>
              <a:rPr lang="en-US" dirty="0" err="1"/>
              <a:t>MoE</a:t>
            </a:r>
            <a:r>
              <a:rPr lang="en-US" dirty="0"/>
              <a:t> FP8</a:t>
            </a:r>
          </a:p>
          <a:p>
            <a:r>
              <a:rPr lang="en-US" dirty="0"/>
              <a:t>GPU</a:t>
            </a:r>
            <a:r>
              <a:rPr lang="zh-CN" altLang="en-US" dirty="0"/>
              <a:t>平台：</a:t>
            </a:r>
            <a:r>
              <a:rPr lang="en-US" dirty="0"/>
              <a:t>SMHP on EKS</a:t>
            </a:r>
          </a:p>
          <a:p>
            <a:r>
              <a:rPr lang="zh-CN" altLang="en-US" dirty="0"/>
              <a:t>推理框架：</a:t>
            </a:r>
            <a:r>
              <a:rPr lang="en-US" dirty="0" err="1"/>
              <a:t>SGLang</a:t>
            </a:r>
            <a:r>
              <a:rPr lang="en-US" dirty="0"/>
              <a:t> 0.5.8 </a:t>
            </a:r>
          </a:p>
          <a:p>
            <a:r>
              <a:rPr lang="zh-CN" altLang="en-US" dirty="0"/>
              <a:t>测试框架：</a:t>
            </a:r>
            <a:r>
              <a:rPr lang="en-US" dirty="0" err="1"/>
              <a:t>SGLang</a:t>
            </a:r>
            <a:r>
              <a:rPr lang="en-US" dirty="0"/>
              <a:t> </a:t>
            </a:r>
            <a:r>
              <a:rPr lang="en-US" dirty="0" err="1"/>
              <a:t>bench_serving</a:t>
            </a:r>
            <a:r>
              <a:rPr lang="en-US" dirty="0"/>
              <a:t> </a:t>
            </a:r>
          </a:p>
          <a:p>
            <a:r>
              <a:rPr lang="zh-CN" altLang="en-US" dirty="0"/>
              <a:t>测试参数</a:t>
            </a:r>
            <a:r>
              <a:rPr lang="en-US" altLang="zh-CN" dirty="0"/>
              <a:t>: </a:t>
            </a:r>
            <a:r>
              <a:rPr lang="en-US" dirty="0"/>
              <a:t>random-input-</a:t>
            </a:r>
            <a:r>
              <a:rPr lang="en-US" dirty="0" err="1"/>
              <a:t>len</a:t>
            </a:r>
            <a:r>
              <a:rPr lang="en-US" dirty="0"/>
              <a:t>=2048, random-output-</a:t>
            </a:r>
            <a:r>
              <a:rPr lang="en-US" dirty="0" err="1"/>
              <a:t>len</a:t>
            </a:r>
            <a:r>
              <a:rPr lang="en-US" dirty="0"/>
              <a:t>=256, random-range-ratio=0.5, num-prompts=100，</a:t>
            </a:r>
            <a:r>
              <a:rPr lang="zh-CN" altLang="en-US" dirty="0"/>
              <a:t>总 </a:t>
            </a:r>
            <a:r>
              <a:rPr lang="en-US" dirty="0"/>
              <a:t>input ~154K </a:t>
            </a:r>
            <a:r>
              <a:rPr lang="en-US" dirty="0" err="1"/>
              <a:t>tokens，output</a:t>
            </a:r>
            <a:r>
              <a:rPr lang="en-US" dirty="0"/>
              <a:t> ~19K tokens。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472066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7B735C3-AD41-9F6E-C42C-34E596C57C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Output throughput</a:t>
            </a:r>
            <a:r>
              <a:rPr lang="zh-CN" altLang="en-US" dirty="0"/>
              <a:t>（</a:t>
            </a:r>
            <a:r>
              <a:rPr lang="en-US" altLang="zh-CN" dirty="0"/>
              <a:t>tokens/s</a:t>
            </a:r>
            <a:r>
              <a:rPr lang="zh-CN" altLang="en-US" dirty="0"/>
              <a:t>）对比</a:t>
            </a:r>
            <a:endParaRPr lang="en-US" dirty="0"/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BFF4DF23-F705-770E-110F-5AE5E679220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719191" y="1982912"/>
            <a:ext cx="10634607" cy="3804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822675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F405613-6A15-F2E8-A073-243CEDD4BA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TTFT</a:t>
            </a:r>
            <a:r>
              <a:rPr lang="zh-CN" altLang="en-US" dirty="0"/>
              <a:t>对比</a:t>
            </a:r>
            <a:endParaRPr lang="en-US" dirty="0"/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F4AC6DCA-2F69-6736-C269-475E1639B7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199" y="2249214"/>
            <a:ext cx="10515601" cy="40780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29531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89CB9C9-033B-2E47-3BCC-3F1FDD4D9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TPOT</a:t>
            </a:r>
            <a:r>
              <a:rPr lang="zh-CN" altLang="en-US" dirty="0"/>
              <a:t>对比</a:t>
            </a:r>
            <a:endParaRPr lang="en-US" dirty="0"/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4772EAA9-EC87-2F2E-ACDC-C0A6B35370F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46234" y="2102069"/>
            <a:ext cx="10607566" cy="3825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053810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FF313DA-D283-0EF3-C11D-B878482CB4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579289"/>
          </a:xfrm>
        </p:spPr>
        <p:txBody>
          <a:bodyPr/>
          <a:lstStyle/>
          <a:p>
            <a:r>
              <a:rPr lang="en-US" altLang="zh-CN" dirty="0"/>
              <a:t>Rate 32</a:t>
            </a:r>
            <a:r>
              <a:rPr lang="zh-CN" altLang="en-US" dirty="0"/>
              <a:t>（</a:t>
            </a:r>
            <a:r>
              <a:rPr lang="en-US" altLang="zh-CN" dirty="0"/>
              <a:t>request rate</a:t>
            </a:r>
            <a:r>
              <a:rPr lang="zh-CN" altLang="en-US" dirty="0"/>
              <a:t>和</a:t>
            </a:r>
            <a:r>
              <a:rPr lang="en-US" altLang="zh-CN" dirty="0"/>
              <a:t>max concurrency</a:t>
            </a:r>
            <a:r>
              <a:rPr lang="zh-CN" altLang="en-US" dirty="0"/>
              <a:t>都是</a:t>
            </a:r>
            <a:r>
              <a:rPr lang="en-US" altLang="zh-CN" dirty="0"/>
              <a:t>32</a:t>
            </a:r>
            <a:r>
              <a:rPr lang="zh-CN" altLang="en-US" dirty="0"/>
              <a:t>）的核心性能</a:t>
            </a:r>
            <a:r>
              <a:rPr lang="en-US" altLang="zh-CN" dirty="0"/>
              <a:t>metric</a:t>
            </a:r>
            <a:r>
              <a:rPr lang="zh-CN" altLang="en-US" dirty="0"/>
              <a:t>对比</a:t>
            </a:r>
            <a:endParaRPr lang="en-US" dirty="0"/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CB0AB87B-306A-C6F8-9721-15391168906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98179" y="2154621"/>
            <a:ext cx="10155621" cy="3972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760208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69C7DF4-DFAC-2DDE-36FF-EAA724EC22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127344"/>
          </a:xfrm>
        </p:spPr>
        <p:txBody>
          <a:bodyPr>
            <a:normAutofit fontScale="90000"/>
          </a:bodyPr>
          <a:lstStyle/>
          <a:p>
            <a:r>
              <a:rPr lang="zh-CN" altLang="en-US" b="1" dirty="0"/>
              <a:t>实验观察小结</a:t>
            </a:r>
            <a:r>
              <a:rPr lang="zh-CN" altLang="en-US" dirty="0"/>
              <a:t>（</a:t>
            </a:r>
            <a:r>
              <a:rPr lang="zh-CN" altLang="en-US" b="1" dirty="0"/>
              <a:t>对于当前这个测试场景和已测试过的方案</a:t>
            </a:r>
            <a:r>
              <a:rPr lang="zh-CN" altLang="en-US" dirty="0"/>
              <a:t>）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224E42A-67DF-87FA-0B52-FE68CE25D4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95892"/>
          </a:xfrm>
        </p:spPr>
        <p:txBody>
          <a:bodyPr>
            <a:normAutofit/>
          </a:bodyPr>
          <a:lstStyle/>
          <a:p>
            <a:endParaRPr lang="zh-CN" altLang="en-US" dirty="0"/>
          </a:p>
          <a:p>
            <a:pPr lvl="1"/>
            <a:endParaRPr lang="en-US" altLang="zh-CN" dirty="0"/>
          </a:p>
          <a:p>
            <a:pPr lvl="1"/>
            <a:endParaRPr lang="en-US" altLang="zh-CN" dirty="0"/>
          </a:p>
          <a:p>
            <a:pPr lvl="1"/>
            <a:endParaRPr lang="en-US" altLang="zh-CN" dirty="0"/>
          </a:p>
          <a:p>
            <a:pPr lvl="1"/>
            <a:endParaRPr lang="en-US" altLang="zh-CN" dirty="0"/>
          </a:p>
          <a:p>
            <a:pPr lvl="1"/>
            <a:endParaRPr lang="en-US" altLang="zh-CN" dirty="0"/>
          </a:p>
          <a:p>
            <a:pPr lvl="1"/>
            <a:endParaRPr lang="en-US" altLang="zh-CN" dirty="0"/>
          </a:p>
          <a:p>
            <a:pPr lvl="1"/>
            <a:endParaRPr lang="en-US" altLang="zh-CN" dirty="0"/>
          </a:p>
          <a:p>
            <a:pPr lvl="1"/>
            <a:endParaRPr lang="en-US" altLang="zh-CN" dirty="0"/>
          </a:p>
          <a:p>
            <a:pPr lvl="1"/>
            <a:r>
              <a:rPr lang="zh-CN" altLang="en-US" dirty="0"/>
              <a:t>对于</a:t>
            </a:r>
            <a:r>
              <a:rPr lang="en-US" altLang="zh-CN" dirty="0"/>
              <a:t>4</a:t>
            </a:r>
            <a:r>
              <a:rPr lang="zh-CN" altLang="en-US" dirty="0"/>
              <a:t>节点部署的</a:t>
            </a:r>
            <a:r>
              <a:rPr lang="en-US" altLang="zh-CN" dirty="0"/>
              <a:t>2</a:t>
            </a:r>
            <a:r>
              <a:rPr lang="en-US" dirty="0"/>
              <a:t>P2D</a:t>
            </a:r>
            <a:r>
              <a:rPr lang="zh-CN" altLang="en-US" dirty="0"/>
              <a:t>方案，方案（</a:t>
            </a:r>
            <a:r>
              <a:rPr lang="en-US" altLang="zh-CN" dirty="0"/>
              <a:t>2</a:t>
            </a:r>
            <a:r>
              <a:rPr lang="en-US" dirty="0"/>
              <a:t>P</a:t>
            </a:r>
            <a:r>
              <a:rPr lang="zh-CN" altLang="en-US" dirty="0"/>
              <a:t>是单独的，</a:t>
            </a:r>
            <a:r>
              <a:rPr lang="en-US" altLang="zh-CN" dirty="0"/>
              <a:t>2</a:t>
            </a:r>
            <a:r>
              <a:rPr lang="en-US" dirty="0"/>
              <a:t>D</a:t>
            </a:r>
            <a:r>
              <a:rPr lang="zh-CN" altLang="en-US" dirty="0"/>
              <a:t>之间使用</a:t>
            </a:r>
            <a:r>
              <a:rPr lang="en-US" dirty="0"/>
              <a:t>UCCL-EP low latency mode ）</a:t>
            </a:r>
            <a:r>
              <a:rPr lang="zh-CN" altLang="en-US" dirty="0"/>
              <a:t>比方案（</a:t>
            </a:r>
            <a:r>
              <a:rPr lang="en-US" altLang="zh-CN" dirty="0"/>
              <a:t>2</a:t>
            </a:r>
            <a:r>
              <a:rPr lang="en-US" dirty="0"/>
              <a:t>P</a:t>
            </a:r>
            <a:r>
              <a:rPr lang="zh-CN" altLang="en-US" dirty="0"/>
              <a:t>之间使用</a:t>
            </a:r>
            <a:r>
              <a:rPr lang="en-US" dirty="0"/>
              <a:t>UCCL-EP normal mode，2D</a:t>
            </a:r>
            <a:r>
              <a:rPr lang="zh-CN" altLang="en-US" dirty="0"/>
              <a:t>之间使用</a:t>
            </a:r>
            <a:r>
              <a:rPr lang="en-US" dirty="0"/>
              <a:t>UCCL-EP low latency mode）</a:t>
            </a:r>
            <a:r>
              <a:rPr lang="zh-CN" altLang="en-US" dirty="0"/>
              <a:t>更好。</a:t>
            </a:r>
          </a:p>
          <a:p>
            <a:pPr marL="914400" lvl="2" indent="0">
              <a:buNone/>
            </a:pPr>
            <a:endParaRPr lang="en-US" dirty="0"/>
          </a:p>
          <a:p>
            <a:endParaRPr lang="en-US" dirty="0"/>
          </a:p>
        </p:txBody>
      </p:sp>
      <p:pic>
        <p:nvPicPr>
          <p:cNvPr id="6" name="内容占位符 4">
            <a:extLst>
              <a:ext uri="{FF2B5EF4-FFF2-40B4-BE49-F238E27FC236}">
                <a16:creationId xmlns:a16="http://schemas.microsoft.com/office/drawing/2014/main" id="{2BD2984B-48DE-7F0B-52E4-75687A899E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2566" y="1986455"/>
            <a:ext cx="10121461" cy="3100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311063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BD81DC6-6C66-CB7B-1BB4-449F34C9F3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09837"/>
            <a:ext cx="10515600" cy="1325563"/>
          </a:xfrm>
        </p:spPr>
        <p:txBody>
          <a:bodyPr/>
          <a:lstStyle/>
          <a:p>
            <a:pPr algn="ctr"/>
            <a:r>
              <a:rPr lang="en-US" altLang="zh-CN" dirty="0"/>
              <a:t>Debug </a:t>
            </a:r>
            <a:r>
              <a:rPr lang="zh-CN" altLang="en-US" dirty="0"/>
              <a:t>与调优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250724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1420207-1802-154C-AE6F-95D7CC91CA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185379"/>
          </a:xfrm>
        </p:spPr>
        <p:txBody>
          <a:bodyPr/>
          <a:lstStyle/>
          <a:p>
            <a:r>
              <a:rPr lang="zh-CN" altLang="en-US" dirty="0"/>
              <a:t>关键 </a:t>
            </a:r>
            <a:r>
              <a:rPr lang="en-US" dirty="0"/>
              <a:t>Metrics </a:t>
            </a:r>
            <a:r>
              <a:rPr lang="zh-CN" altLang="en-US" dirty="0"/>
              <a:t>监控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095D2EA-1E04-014D-3CCE-B33B235DEA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8922"/>
            <a:ext cx="10515600" cy="4683953"/>
          </a:xfrm>
        </p:spPr>
        <p:txBody>
          <a:bodyPr>
            <a:normAutofit fontScale="92500" lnSpcReduction="10000"/>
          </a:bodyPr>
          <a:lstStyle/>
          <a:p>
            <a:r>
              <a:rPr lang="zh-CN" altLang="en-US" dirty="0"/>
              <a:t>推理</a:t>
            </a:r>
            <a:r>
              <a:rPr lang="en-US" altLang="zh-CN" dirty="0"/>
              <a:t>metric</a:t>
            </a:r>
            <a:r>
              <a:rPr lang="zh-CN" altLang="en-US" dirty="0"/>
              <a:t>层面：</a:t>
            </a:r>
            <a:endParaRPr lang="en-US" altLang="zh-CN" dirty="0"/>
          </a:p>
          <a:p>
            <a:pPr lvl="1"/>
            <a:r>
              <a:rPr lang="en-US" dirty="0"/>
              <a:t>TTFT</a:t>
            </a:r>
            <a:r>
              <a:rPr lang="zh-CN" altLang="en-US" dirty="0"/>
              <a:t>，</a:t>
            </a:r>
            <a:r>
              <a:rPr lang="en-US" dirty="0"/>
              <a:t>TPOT</a:t>
            </a:r>
            <a:r>
              <a:rPr lang="zh-CN" altLang="en-US" dirty="0"/>
              <a:t>，</a:t>
            </a:r>
            <a:r>
              <a:rPr lang="en-US" altLang="zh-CN" dirty="0"/>
              <a:t>token </a:t>
            </a:r>
            <a:r>
              <a:rPr lang="en-US" dirty="0"/>
              <a:t>throughput</a:t>
            </a:r>
            <a:r>
              <a:rPr lang="zh-CN" altLang="en-US" dirty="0"/>
              <a:t>，</a:t>
            </a:r>
            <a:r>
              <a:rPr lang="en-US" dirty="0"/>
              <a:t>KV cache hit rate</a:t>
            </a:r>
            <a:r>
              <a:rPr lang="zh-CN" altLang="en-US" dirty="0"/>
              <a:t>，</a:t>
            </a:r>
            <a:r>
              <a:rPr lang="en-US" altLang="zh-CN" dirty="0"/>
              <a:t>KV transfer latency</a:t>
            </a:r>
            <a:endParaRPr lang="en-US" dirty="0"/>
          </a:p>
          <a:p>
            <a:r>
              <a:rPr lang="zh-CN" altLang="en-US" dirty="0"/>
              <a:t>系统层面：</a:t>
            </a:r>
            <a:endParaRPr lang="en-US" altLang="zh-CN" dirty="0"/>
          </a:p>
          <a:p>
            <a:pPr lvl="1"/>
            <a:r>
              <a:rPr lang="en-US" altLang="zh-CN" dirty="0"/>
              <a:t>CPU</a:t>
            </a:r>
            <a:r>
              <a:rPr lang="zh-CN" altLang="en-US" dirty="0"/>
              <a:t>使用率，系统</a:t>
            </a:r>
            <a:r>
              <a:rPr lang="en-US" altLang="zh-CN" dirty="0"/>
              <a:t>Memory</a:t>
            </a:r>
            <a:r>
              <a:rPr lang="zh-CN" altLang="en-US" dirty="0"/>
              <a:t>使用情况；</a:t>
            </a:r>
            <a:endParaRPr lang="en-US" altLang="zh-CN" dirty="0"/>
          </a:p>
          <a:p>
            <a:pPr lvl="1"/>
            <a:r>
              <a:rPr lang="en-US" dirty="0"/>
              <a:t>GPU utilization</a:t>
            </a:r>
            <a:r>
              <a:rPr lang="zh-CN" altLang="en-US" dirty="0"/>
              <a:t>，</a:t>
            </a:r>
            <a:r>
              <a:rPr lang="en-US" dirty="0"/>
              <a:t>GPU memory</a:t>
            </a:r>
            <a:r>
              <a:rPr lang="zh-CN" altLang="en-US" dirty="0"/>
              <a:t>；</a:t>
            </a:r>
            <a:endParaRPr lang="en-US" altLang="zh-CN" dirty="0"/>
          </a:p>
          <a:p>
            <a:pPr lvl="1"/>
            <a:r>
              <a:rPr lang="en-US" dirty="0"/>
              <a:t>GPU</a:t>
            </a:r>
            <a:r>
              <a:rPr lang="zh-CN" altLang="en-US" dirty="0"/>
              <a:t>温度以及</a:t>
            </a:r>
            <a:r>
              <a:rPr lang="en-US" altLang="zh-CN" dirty="0"/>
              <a:t>GPU</a:t>
            </a:r>
            <a:r>
              <a:rPr lang="zh-CN" altLang="en-US" dirty="0"/>
              <a:t>主频 （</a:t>
            </a:r>
            <a:r>
              <a:rPr lang="en-US" b="1" dirty="0">
                <a:solidFill>
                  <a:srgbClr val="FF0000"/>
                </a:solidFill>
              </a:rPr>
              <a:t>SM</a:t>
            </a:r>
            <a:r>
              <a:rPr lang="zh-CN" altLang="en-US" b="1" dirty="0">
                <a:solidFill>
                  <a:srgbClr val="FF0000"/>
                </a:solidFill>
              </a:rPr>
              <a:t>温度太高会引起</a:t>
            </a:r>
            <a:r>
              <a:rPr lang="en-US" altLang="zh-CN" b="1" dirty="0">
                <a:solidFill>
                  <a:srgbClr val="FF0000"/>
                </a:solidFill>
              </a:rPr>
              <a:t>SM</a:t>
            </a:r>
            <a:r>
              <a:rPr lang="zh-CN" altLang="en-US" b="1" dirty="0">
                <a:solidFill>
                  <a:srgbClr val="FF0000"/>
                </a:solidFill>
              </a:rPr>
              <a:t>降频</a:t>
            </a:r>
            <a:r>
              <a:rPr lang="zh-CN" altLang="en-US" dirty="0"/>
              <a:t>）；</a:t>
            </a:r>
            <a:endParaRPr lang="en-US" altLang="zh-CN" dirty="0"/>
          </a:p>
          <a:p>
            <a:pPr lvl="1"/>
            <a:r>
              <a:rPr lang="en-US" dirty="0"/>
              <a:t>DCGM</a:t>
            </a:r>
            <a:r>
              <a:rPr lang="zh-CN" altLang="en-US" dirty="0"/>
              <a:t>相关指标（包括</a:t>
            </a:r>
            <a:r>
              <a:rPr lang="en-US" altLang="zh-CN" dirty="0" err="1"/>
              <a:t>Xid</a:t>
            </a:r>
            <a:r>
              <a:rPr lang="zh-CN" altLang="en-US" dirty="0"/>
              <a:t>）；</a:t>
            </a:r>
            <a:endParaRPr lang="en-US" dirty="0"/>
          </a:p>
          <a:p>
            <a:pPr lvl="1"/>
            <a:r>
              <a:rPr lang="en-US" dirty="0"/>
              <a:t>EFA RDMA</a:t>
            </a:r>
            <a:r>
              <a:rPr lang="zh-CN" altLang="en-US" dirty="0"/>
              <a:t>相关指标；</a:t>
            </a:r>
            <a:endParaRPr lang="en-US" dirty="0"/>
          </a:p>
          <a:p>
            <a:r>
              <a:rPr lang="zh-CN" altLang="en-US" dirty="0"/>
              <a:t>推理框架</a:t>
            </a:r>
            <a:r>
              <a:rPr lang="en-US" altLang="zh-CN" dirty="0"/>
              <a:t>/</a:t>
            </a:r>
            <a:r>
              <a:rPr lang="en-US" dirty="0" err="1"/>
              <a:t>SGLang</a:t>
            </a:r>
            <a:r>
              <a:rPr lang="zh-CN" altLang="en-US" dirty="0"/>
              <a:t> 层面：</a:t>
            </a:r>
            <a:endParaRPr lang="en-US" altLang="zh-CN" dirty="0"/>
          </a:p>
          <a:p>
            <a:pPr lvl="1"/>
            <a:r>
              <a:rPr lang="en-US" dirty="0"/>
              <a:t>queue length</a:t>
            </a:r>
          </a:p>
          <a:p>
            <a:pPr lvl="1"/>
            <a:r>
              <a:rPr lang="en-US" dirty="0"/>
              <a:t>KV cache usage</a:t>
            </a:r>
          </a:p>
          <a:p>
            <a:pPr lvl="1"/>
            <a:r>
              <a:rPr lang="en-US" altLang="zh-CN" dirty="0"/>
              <a:t>Avg accept length</a:t>
            </a:r>
            <a:r>
              <a:rPr lang="zh-CN" altLang="en-US" dirty="0"/>
              <a:t>（和投机解码相关）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330086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CF728CF-9CF1-395B-6B40-FA1B85306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180454"/>
          </a:xfrm>
        </p:spPr>
        <p:txBody>
          <a:bodyPr/>
          <a:lstStyle/>
          <a:p>
            <a:r>
              <a:rPr lang="en-US" dirty="0"/>
              <a:t>EFA</a:t>
            </a:r>
            <a:r>
              <a:rPr lang="zh-CN" altLang="en-US" dirty="0"/>
              <a:t>常见问题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F594165-77B2-7E2F-7435-0101E29639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47880"/>
            <a:ext cx="10515600" cy="4919957"/>
          </a:xfrm>
        </p:spPr>
        <p:txBody>
          <a:bodyPr>
            <a:normAutofit fontScale="92500" lnSpcReduction="20000"/>
          </a:bodyPr>
          <a:lstStyle/>
          <a:p>
            <a:r>
              <a:rPr lang="zh-CN" altLang="en-US" dirty="0"/>
              <a:t>如何做</a:t>
            </a:r>
            <a:r>
              <a:rPr lang="en-US" b="1" dirty="0"/>
              <a:t>EFA</a:t>
            </a:r>
            <a:r>
              <a:rPr lang="zh-CN" altLang="en-US" b="1" dirty="0"/>
              <a:t>健康检查</a:t>
            </a:r>
            <a:r>
              <a:rPr lang="zh-CN" altLang="en-US" dirty="0"/>
              <a:t>？</a:t>
            </a:r>
            <a:endParaRPr lang="en-US" altLang="zh-CN" dirty="0"/>
          </a:p>
          <a:p>
            <a:pPr lvl="1"/>
            <a:r>
              <a:rPr lang="zh-CN" altLang="en-US" dirty="0"/>
              <a:t>连通性检查？</a:t>
            </a:r>
            <a:endParaRPr lang="en-US" altLang="zh-CN" dirty="0"/>
          </a:p>
          <a:p>
            <a:pPr lvl="1"/>
            <a:r>
              <a:rPr lang="zh-CN" altLang="en-US" dirty="0"/>
              <a:t>是否掉卡？</a:t>
            </a:r>
            <a:endParaRPr lang="en-US" altLang="zh-CN" dirty="0"/>
          </a:p>
          <a:p>
            <a:pPr lvl="1"/>
            <a:r>
              <a:rPr lang="zh-CN" altLang="en-US" dirty="0"/>
              <a:t>带宽测试？</a:t>
            </a:r>
            <a:endParaRPr lang="en-US" altLang="zh-CN" dirty="0"/>
          </a:p>
          <a:p>
            <a:pPr lvl="2"/>
            <a:r>
              <a:rPr lang="zh-CN" altLang="en-US" dirty="0"/>
              <a:t>比如纯</a:t>
            </a:r>
            <a:r>
              <a:rPr lang="en-US" altLang="zh-CN" dirty="0"/>
              <a:t>RDMA</a:t>
            </a:r>
            <a:r>
              <a:rPr lang="zh-CN" altLang="en-US" dirty="0"/>
              <a:t>测试以及跨节点</a:t>
            </a:r>
            <a:r>
              <a:rPr lang="en-US" altLang="zh-CN" dirty="0"/>
              <a:t>NCCL test</a:t>
            </a:r>
            <a:r>
              <a:rPr lang="zh-CN" altLang="en-US" dirty="0"/>
              <a:t>。</a:t>
            </a:r>
            <a:endParaRPr lang="en-US" altLang="zh-CN" dirty="0"/>
          </a:p>
          <a:p>
            <a:r>
              <a:rPr lang="en-US" b="1" dirty="0"/>
              <a:t>EFA RDMA</a:t>
            </a:r>
            <a:r>
              <a:rPr lang="zh-CN" altLang="en-US" b="1" dirty="0"/>
              <a:t>流量的抖动</a:t>
            </a:r>
            <a:r>
              <a:rPr lang="zh-CN" altLang="en-US" dirty="0"/>
              <a:t>？</a:t>
            </a:r>
            <a:endParaRPr lang="en-US" altLang="zh-CN" dirty="0"/>
          </a:p>
          <a:p>
            <a:pPr lvl="1"/>
            <a:r>
              <a:rPr lang="zh-CN" altLang="en-US" dirty="0"/>
              <a:t>陡降？</a:t>
            </a:r>
            <a:endParaRPr lang="en-US" altLang="zh-CN" dirty="0"/>
          </a:p>
          <a:p>
            <a:pPr lvl="1"/>
            <a:r>
              <a:rPr lang="zh-CN" altLang="en-US" dirty="0"/>
              <a:t>流量突然就没有了？</a:t>
            </a:r>
            <a:endParaRPr lang="en-US" altLang="zh-CN" dirty="0"/>
          </a:p>
          <a:p>
            <a:pPr lvl="2"/>
            <a:r>
              <a:rPr lang="zh-CN" altLang="en-US" b="1" dirty="0"/>
              <a:t>应用程序出问题</a:t>
            </a:r>
            <a:r>
              <a:rPr lang="zh-CN" altLang="en-US" dirty="0"/>
              <a:t>：</a:t>
            </a:r>
            <a:endParaRPr lang="en-US" altLang="zh-CN" dirty="0"/>
          </a:p>
          <a:p>
            <a:pPr lvl="3"/>
            <a:r>
              <a:rPr lang="zh-CN" altLang="en-US" dirty="0"/>
              <a:t>比如</a:t>
            </a:r>
            <a:r>
              <a:rPr lang="en-US" altLang="zh-CN" dirty="0"/>
              <a:t>NCCL hung</a:t>
            </a:r>
            <a:r>
              <a:rPr lang="zh-CN" altLang="en-US" dirty="0"/>
              <a:t>住了？</a:t>
            </a:r>
            <a:endParaRPr lang="en-US" altLang="zh-CN" dirty="0"/>
          </a:p>
          <a:p>
            <a:pPr lvl="3"/>
            <a:r>
              <a:rPr lang="zh-CN" altLang="en-US" dirty="0"/>
              <a:t>代码逻辑没有走到</a:t>
            </a:r>
            <a:r>
              <a:rPr lang="en-US" altLang="zh-CN" dirty="0"/>
              <a:t>EFA</a:t>
            </a:r>
            <a:r>
              <a:rPr lang="zh-CN" altLang="en-US" dirty="0"/>
              <a:t>软件栈？</a:t>
            </a:r>
            <a:endParaRPr lang="en-US" altLang="zh-CN" dirty="0"/>
          </a:p>
          <a:p>
            <a:r>
              <a:rPr lang="zh-CN" altLang="en-US" dirty="0"/>
              <a:t>如何</a:t>
            </a:r>
            <a:r>
              <a:rPr lang="zh-CN" altLang="en-US" b="1" dirty="0"/>
              <a:t>调整</a:t>
            </a:r>
            <a:r>
              <a:rPr lang="en-US" b="1" dirty="0"/>
              <a:t>EFA</a:t>
            </a:r>
            <a:r>
              <a:rPr lang="zh-CN" altLang="en-US" b="1" dirty="0"/>
              <a:t>的流控</a:t>
            </a:r>
            <a:r>
              <a:rPr lang="zh-CN" altLang="en-US" dirty="0"/>
              <a:t>？</a:t>
            </a:r>
            <a:endParaRPr lang="en-US" altLang="zh-CN" dirty="0"/>
          </a:p>
          <a:p>
            <a:pPr lvl="1"/>
            <a:r>
              <a:rPr lang="zh-CN" altLang="en-US" dirty="0"/>
              <a:t>通过</a:t>
            </a:r>
            <a:r>
              <a:rPr lang="en-US" altLang="zh-CN" dirty="0"/>
              <a:t>EFA</a:t>
            </a:r>
            <a:r>
              <a:rPr lang="zh-CN" altLang="en-US" dirty="0"/>
              <a:t>相关的环境变量：</a:t>
            </a:r>
            <a:r>
              <a:rPr lang="en-US" altLang="zh-CN" dirty="0"/>
              <a:t>FI_XXX and/or OFI_XXXX</a:t>
            </a:r>
          </a:p>
          <a:p>
            <a:pPr lvl="1"/>
            <a:r>
              <a:rPr lang="zh-CN" altLang="en-US" dirty="0"/>
              <a:t>通过更高层软件库的环境变量：</a:t>
            </a:r>
            <a:endParaRPr lang="en-US" altLang="zh-CN" dirty="0"/>
          </a:p>
          <a:p>
            <a:pPr lvl="2"/>
            <a:r>
              <a:rPr lang="zh-CN" altLang="en-US" dirty="0"/>
              <a:t>比如</a:t>
            </a:r>
            <a:r>
              <a:rPr lang="en-US" altLang="zh-CN" dirty="0"/>
              <a:t>UCCL-EP on EFA</a:t>
            </a:r>
            <a:r>
              <a:rPr lang="zh-CN" altLang="en-US" dirty="0"/>
              <a:t>的相关环境变量：</a:t>
            </a:r>
            <a:r>
              <a:rPr lang="en-US" dirty="0"/>
              <a:t>UCCL_IB_MAX_INFLIGHT_LOW_LATENCY</a:t>
            </a:r>
            <a:r>
              <a:rPr lang="zh-CN" altLang="en-US" dirty="0"/>
              <a:t>，</a:t>
            </a:r>
            <a:r>
              <a:rPr lang="en-US" dirty="0"/>
              <a:t>UCCL_IB_MAX_INFLIGHT_NORMAL</a:t>
            </a:r>
            <a:r>
              <a:rPr lang="zh-CN" altLang="en-US" dirty="0"/>
              <a:t>，</a:t>
            </a:r>
            <a:r>
              <a:rPr lang="en-US" dirty="0"/>
              <a:t>UCCL_IB_MAX_INFLIGHT_BYTES</a:t>
            </a:r>
            <a:endParaRPr lang="en-US" altLang="zh-CN" dirty="0"/>
          </a:p>
          <a:p>
            <a:pPr lvl="2"/>
            <a:endParaRPr lang="en-US" altLang="zh-CN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534125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50B25FF-AC08-3151-7925-5C018BA487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148882"/>
          </a:xfrm>
        </p:spPr>
        <p:txBody>
          <a:bodyPr/>
          <a:lstStyle/>
          <a:p>
            <a:r>
              <a:rPr lang="zh-CN" altLang="en-US" dirty="0"/>
              <a:t>常见问题排查以及优化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3A1084E-ABE9-4C35-4ADB-0F1D4A13AE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44908"/>
            <a:ext cx="10515600" cy="4747966"/>
          </a:xfrm>
        </p:spPr>
        <p:txBody>
          <a:bodyPr>
            <a:normAutofit lnSpcReduction="10000"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TTFT </a:t>
            </a:r>
            <a:r>
              <a:rPr lang="zh-CN" altLang="en-US" b="1" dirty="0">
                <a:solidFill>
                  <a:srgbClr val="FF0000"/>
                </a:solidFill>
              </a:rPr>
              <a:t>高</a:t>
            </a:r>
            <a:r>
              <a:rPr lang="zh-CN" altLang="en-US" dirty="0"/>
              <a:t>？</a:t>
            </a:r>
            <a:endParaRPr lang="en-US" altLang="zh-CN" dirty="0"/>
          </a:p>
          <a:p>
            <a:pPr lvl="1"/>
            <a:r>
              <a:rPr lang="zh-CN" altLang="en-US" dirty="0"/>
              <a:t>常见现象：</a:t>
            </a:r>
            <a:r>
              <a:rPr lang="en-US" b="1" dirty="0" err="1"/>
              <a:t>queue_reqs</a:t>
            </a:r>
            <a:r>
              <a:rPr lang="en-US" b="1" dirty="0"/>
              <a:t> </a:t>
            </a:r>
            <a:r>
              <a:rPr lang="zh-CN" altLang="en-US" b="1" dirty="0"/>
              <a:t>堆积</a:t>
            </a:r>
            <a:endParaRPr lang="en-US" altLang="zh-CN" b="1" dirty="0"/>
          </a:p>
          <a:p>
            <a:pPr lvl="2"/>
            <a:r>
              <a:rPr lang="zh-CN" altLang="en-US" dirty="0"/>
              <a:t>注意：</a:t>
            </a:r>
            <a:r>
              <a:rPr lang="zh-CN" altLang="en-US" b="1" dirty="0">
                <a:solidFill>
                  <a:srgbClr val="FF0000"/>
                </a:solidFill>
              </a:rPr>
              <a:t>请求堆积是结果，不是原因</a:t>
            </a:r>
            <a:r>
              <a:rPr lang="zh-CN" altLang="en-US" dirty="0"/>
              <a:t>。</a:t>
            </a:r>
            <a:endParaRPr lang="en-US" altLang="zh-CN" dirty="0"/>
          </a:p>
          <a:p>
            <a:pPr lvl="1"/>
            <a:r>
              <a:rPr lang="zh-CN" altLang="en-US" dirty="0"/>
              <a:t>原因可能有很多：</a:t>
            </a:r>
            <a:endParaRPr lang="en-US" altLang="zh-CN" dirty="0"/>
          </a:p>
          <a:p>
            <a:pPr lvl="2"/>
            <a:r>
              <a:rPr lang="zh-CN" altLang="en-US" b="1" dirty="0"/>
              <a:t>模型并行策略不适当</a:t>
            </a:r>
            <a:r>
              <a:rPr lang="zh-CN" altLang="en-US" dirty="0"/>
              <a:t>？</a:t>
            </a:r>
            <a:endParaRPr lang="en-US" altLang="zh-CN" dirty="0"/>
          </a:p>
          <a:p>
            <a:pPr lvl="3"/>
            <a:r>
              <a:rPr lang="zh-CN" altLang="en-US" dirty="0"/>
              <a:t>如果</a:t>
            </a:r>
            <a:r>
              <a:rPr lang="en-US" altLang="zh-CN" dirty="0"/>
              <a:t>input token length</a:t>
            </a:r>
            <a:r>
              <a:rPr lang="zh-CN" altLang="en-US" dirty="0"/>
              <a:t>很长，</a:t>
            </a:r>
            <a:r>
              <a:rPr lang="en-US" altLang="zh-CN" dirty="0"/>
              <a:t>PD</a:t>
            </a:r>
            <a:r>
              <a:rPr lang="zh-CN" altLang="en-US" dirty="0"/>
              <a:t>分离方案中的</a:t>
            </a:r>
            <a:r>
              <a:rPr lang="en-US" altLang="zh-CN" dirty="0"/>
              <a:t>prefill</a:t>
            </a:r>
            <a:r>
              <a:rPr lang="zh-CN" altLang="en-US" dirty="0"/>
              <a:t>节点之间是否启用了</a:t>
            </a:r>
            <a:r>
              <a:rPr lang="en-US" altLang="zh-CN" dirty="0"/>
              <a:t>PP</a:t>
            </a:r>
            <a:r>
              <a:rPr lang="zh-CN" altLang="en-US" dirty="0"/>
              <a:t>？</a:t>
            </a:r>
            <a:endParaRPr lang="en-US" altLang="zh-CN" dirty="0"/>
          </a:p>
          <a:p>
            <a:pPr lvl="3"/>
            <a:r>
              <a:rPr lang="zh-CN" altLang="en-US" dirty="0"/>
              <a:t>是否</a:t>
            </a:r>
            <a:r>
              <a:rPr lang="en-US" altLang="zh-CN" dirty="0"/>
              <a:t>enable </a:t>
            </a:r>
            <a:r>
              <a:rPr lang="zh-CN" altLang="en-US" dirty="0"/>
              <a:t>了</a:t>
            </a:r>
            <a:r>
              <a:rPr lang="en-US" altLang="zh-CN" dirty="0"/>
              <a:t>CP</a:t>
            </a:r>
            <a:r>
              <a:rPr lang="zh-CN" altLang="en-US" dirty="0"/>
              <a:t>并行？</a:t>
            </a:r>
            <a:endParaRPr lang="en-US" altLang="zh-CN" dirty="0"/>
          </a:p>
          <a:p>
            <a:pPr lvl="3"/>
            <a:r>
              <a:rPr lang="zh-CN" altLang="en-US" dirty="0"/>
              <a:t>是</a:t>
            </a:r>
            <a:r>
              <a:rPr lang="en-US" altLang="zh-CN" dirty="0"/>
              <a:t>DP attention</a:t>
            </a:r>
            <a:r>
              <a:rPr lang="zh-CN" altLang="en-US" dirty="0"/>
              <a:t>带入的影响吗？</a:t>
            </a:r>
            <a:endParaRPr lang="en-US" altLang="zh-CN" dirty="0"/>
          </a:p>
          <a:p>
            <a:pPr lvl="2"/>
            <a:r>
              <a:rPr lang="zh-CN" altLang="en-US" dirty="0"/>
              <a:t>该方案</a:t>
            </a:r>
            <a:r>
              <a:rPr lang="zh-CN" altLang="en-US" b="1" dirty="0"/>
              <a:t>可用的</a:t>
            </a:r>
            <a:r>
              <a:rPr lang="en-US" altLang="zh-CN" b="1" dirty="0"/>
              <a:t>KV cache</a:t>
            </a:r>
            <a:r>
              <a:rPr lang="zh-CN" altLang="en-US" b="1" dirty="0"/>
              <a:t>太小</a:t>
            </a:r>
            <a:r>
              <a:rPr lang="zh-CN" altLang="en-US" dirty="0"/>
              <a:t>？</a:t>
            </a:r>
            <a:endParaRPr lang="en-US" altLang="zh-CN" dirty="0"/>
          </a:p>
          <a:p>
            <a:pPr lvl="2"/>
            <a:r>
              <a:rPr lang="zh-CN" altLang="en-US" dirty="0"/>
              <a:t>是不是</a:t>
            </a:r>
            <a:r>
              <a:rPr lang="en-US" altLang="zh-CN" dirty="0"/>
              <a:t>benchmark</a:t>
            </a:r>
            <a:r>
              <a:rPr lang="zh-CN" altLang="en-US" dirty="0"/>
              <a:t>的</a:t>
            </a:r>
            <a:r>
              <a:rPr lang="en-US" altLang="zh-CN" b="1" dirty="0"/>
              <a:t>request rate</a:t>
            </a:r>
            <a:r>
              <a:rPr lang="zh-CN" altLang="en-US" b="1" dirty="0"/>
              <a:t>或者</a:t>
            </a:r>
            <a:r>
              <a:rPr lang="en-US" altLang="zh-CN" b="1" dirty="0"/>
              <a:t>max concurrency</a:t>
            </a:r>
            <a:r>
              <a:rPr lang="zh-CN" altLang="en-US" b="1" dirty="0"/>
              <a:t>太高了</a:t>
            </a:r>
            <a:r>
              <a:rPr lang="zh-CN" altLang="en-US" dirty="0"/>
              <a:t>？</a:t>
            </a:r>
            <a:endParaRPr lang="en-US" altLang="zh-CN" dirty="0"/>
          </a:p>
          <a:p>
            <a:pPr lvl="3"/>
            <a:r>
              <a:rPr lang="en-US" altLang="zh-CN" dirty="0"/>
              <a:t>Tips</a:t>
            </a:r>
            <a:r>
              <a:rPr lang="zh-CN" altLang="en-US" dirty="0"/>
              <a:t>：</a:t>
            </a:r>
            <a:r>
              <a:rPr lang="zh-CN" altLang="en-US" b="1" dirty="0"/>
              <a:t>让</a:t>
            </a:r>
            <a:r>
              <a:rPr lang="en-US" altLang="zh-CN" b="1" dirty="0"/>
              <a:t>request rate</a:t>
            </a:r>
            <a:r>
              <a:rPr lang="zh-CN" altLang="en-US" b="1" dirty="0"/>
              <a:t>和实际</a:t>
            </a:r>
            <a:r>
              <a:rPr lang="en-US" altLang="zh-CN" b="1" dirty="0"/>
              <a:t>benchmark</a:t>
            </a:r>
            <a:r>
              <a:rPr lang="zh-CN" altLang="en-US" b="1" dirty="0"/>
              <a:t>的</a:t>
            </a:r>
            <a:r>
              <a:rPr lang="en-US" altLang="zh-CN" b="1" dirty="0"/>
              <a:t>request throughput</a:t>
            </a:r>
            <a:r>
              <a:rPr lang="zh-CN" altLang="en-US" b="1" dirty="0"/>
              <a:t>接近比较合理</a:t>
            </a:r>
            <a:r>
              <a:rPr lang="zh-CN" altLang="en-US" dirty="0"/>
              <a:t>。</a:t>
            </a:r>
            <a:endParaRPr lang="en-US" altLang="zh-CN" dirty="0"/>
          </a:p>
          <a:p>
            <a:pPr lvl="2"/>
            <a:r>
              <a:rPr lang="zh-CN" altLang="en-US" dirty="0"/>
              <a:t>如果</a:t>
            </a:r>
            <a:r>
              <a:rPr lang="en-US" altLang="zh-CN" dirty="0"/>
              <a:t>Prefill</a:t>
            </a:r>
            <a:r>
              <a:rPr lang="zh-CN" altLang="en-US" dirty="0"/>
              <a:t>节点之间使用了</a:t>
            </a:r>
            <a:r>
              <a:rPr lang="en-US" altLang="zh-CN" dirty="0"/>
              <a:t>EP</a:t>
            </a:r>
            <a:r>
              <a:rPr lang="zh-CN" altLang="en-US" dirty="0"/>
              <a:t>并行，</a:t>
            </a:r>
            <a:r>
              <a:rPr lang="zh-CN" altLang="en-US" b="1" dirty="0"/>
              <a:t>是否</a:t>
            </a:r>
            <a:r>
              <a:rPr lang="en-US" altLang="zh-CN" b="1" dirty="0"/>
              <a:t>EP</a:t>
            </a:r>
            <a:r>
              <a:rPr lang="zh-CN" altLang="en-US" b="1" dirty="0"/>
              <a:t>并行库和</a:t>
            </a:r>
            <a:r>
              <a:rPr lang="en-US" altLang="zh-CN" b="1" dirty="0"/>
              <a:t>KV transfer engine</a:t>
            </a:r>
            <a:r>
              <a:rPr lang="zh-CN" altLang="en-US" b="1" dirty="0"/>
              <a:t>互相干扰</a:t>
            </a:r>
            <a:r>
              <a:rPr lang="zh-CN" altLang="en-US" dirty="0"/>
              <a:t>？</a:t>
            </a:r>
            <a:endParaRPr lang="en-US" altLang="zh-CN" dirty="0"/>
          </a:p>
          <a:p>
            <a:pPr lvl="3"/>
            <a:r>
              <a:rPr lang="en-US" altLang="zh-CN" dirty="0"/>
              <a:t>CPU</a:t>
            </a:r>
            <a:r>
              <a:rPr lang="zh-CN" altLang="en-US" dirty="0"/>
              <a:t>互相干扰？</a:t>
            </a:r>
            <a:endParaRPr lang="en-US" altLang="zh-CN" dirty="0"/>
          </a:p>
          <a:p>
            <a:pPr lvl="3"/>
            <a:r>
              <a:rPr lang="en-US" altLang="zh-CN" dirty="0"/>
              <a:t>EFA</a:t>
            </a:r>
            <a:r>
              <a:rPr lang="zh-CN" altLang="en-US" dirty="0"/>
              <a:t>网卡互相争用？</a:t>
            </a:r>
            <a:endParaRPr lang="en-US" altLang="zh-CN" dirty="0"/>
          </a:p>
          <a:p>
            <a:pPr lvl="2"/>
            <a:endParaRPr lang="zh-CN" altLang="en-US" dirty="0"/>
          </a:p>
          <a:p>
            <a:pPr lvl="2"/>
            <a:endParaRPr lang="en-US" dirty="0"/>
          </a:p>
          <a:p>
            <a:pPr lvl="2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015556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5C18C8F-10A9-41F3-E72E-E66C879CDB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</a:t>
            </a:r>
            <a:r>
              <a:rPr lang="en-US" altLang="zh-CN" dirty="0"/>
              <a:t>ontinue….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851C458-F69D-21DE-08BA-AFCB973125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95053"/>
          </a:xfrm>
        </p:spPr>
        <p:txBody>
          <a:bodyPr>
            <a:normAutofit/>
          </a:bodyPr>
          <a:lstStyle/>
          <a:p>
            <a:pPr lvl="2"/>
            <a:r>
              <a:rPr lang="en-US" b="1" dirty="0"/>
              <a:t>KV cache hit rate </a:t>
            </a:r>
            <a:r>
              <a:rPr lang="zh-CN" altLang="en-US" b="1" dirty="0"/>
              <a:t>低</a:t>
            </a:r>
            <a:r>
              <a:rPr lang="zh-CN" altLang="en-US" dirty="0"/>
              <a:t>？</a:t>
            </a:r>
            <a:endParaRPr lang="en-US" altLang="zh-CN" dirty="0"/>
          </a:p>
          <a:p>
            <a:pPr lvl="3"/>
            <a:r>
              <a:rPr lang="zh-CN" altLang="en-US" dirty="0"/>
              <a:t>检查 </a:t>
            </a:r>
            <a:r>
              <a:rPr lang="en-US" dirty="0"/>
              <a:t>routing affinity +  KV cache </a:t>
            </a:r>
            <a:r>
              <a:rPr lang="zh-CN" altLang="en-US" dirty="0"/>
              <a:t>配置。</a:t>
            </a:r>
            <a:endParaRPr lang="en-US" altLang="zh-CN" dirty="0"/>
          </a:p>
          <a:p>
            <a:pPr lvl="4"/>
            <a:r>
              <a:rPr lang="en-US" altLang="zh-CN" dirty="0"/>
              <a:t>router</a:t>
            </a:r>
            <a:r>
              <a:rPr lang="zh-CN" altLang="en-US" dirty="0"/>
              <a:t>是否设定了</a:t>
            </a:r>
            <a:r>
              <a:rPr lang="en-US" altLang="zh-CN" dirty="0"/>
              <a:t>prefix cache aware</a:t>
            </a:r>
            <a:r>
              <a:rPr lang="zh-CN" altLang="en-US" dirty="0"/>
              <a:t>的路由？</a:t>
            </a:r>
            <a:endParaRPr lang="en-US" altLang="zh-CN" dirty="0"/>
          </a:p>
          <a:p>
            <a:pPr lvl="4"/>
            <a:r>
              <a:rPr lang="en-US" altLang="zh-CN" dirty="0"/>
              <a:t>Router</a:t>
            </a:r>
            <a:r>
              <a:rPr lang="zh-CN" altLang="en-US" dirty="0"/>
              <a:t>是否设定了</a:t>
            </a:r>
            <a:r>
              <a:rPr lang="en-US" altLang="zh-CN" dirty="0"/>
              <a:t>KV cache aware</a:t>
            </a:r>
            <a:r>
              <a:rPr lang="zh-CN" altLang="en-US" dirty="0"/>
              <a:t>的路由？</a:t>
            </a:r>
            <a:endParaRPr lang="en-US" altLang="zh-CN" dirty="0"/>
          </a:p>
          <a:p>
            <a:pPr lvl="4"/>
            <a:r>
              <a:rPr lang="zh-CN" altLang="en-US" dirty="0"/>
              <a:t>是否启动了</a:t>
            </a:r>
            <a:r>
              <a:rPr lang="en-US" altLang="zh-CN" dirty="0" err="1"/>
              <a:t>Hicache</a:t>
            </a:r>
            <a:r>
              <a:rPr lang="zh-CN" altLang="en-US" dirty="0"/>
              <a:t>？每个层级的</a:t>
            </a:r>
            <a:r>
              <a:rPr lang="en-US" altLang="zh-CN" dirty="0"/>
              <a:t>KV cache</a:t>
            </a:r>
            <a:r>
              <a:rPr lang="zh-CN" altLang="en-US" dirty="0"/>
              <a:t>的使用情况？</a:t>
            </a:r>
          </a:p>
          <a:p>
            <a:pPr lvl="2"/>
            <a:r>
              <a:rPr lang="en-US" dirty="0"/>
              <a:t>PD</a:t>
            </a:r>
            <a:r>
              <a:rPr lang="zh-CN" altLang="en-US" dirty="0"/>
              <a:t>分离的</a:t>
            </a:r>
            <a:r>
              <a:rPr lang="en-US" b="1" dirty="0"/>
              <a:t> </a:t>
            </a:r>
            <a:r>
              <a:rPr lang="en-US" altLang="zh-CN" b="1" dirty="0" err="1"/>
              <a:t>kv_</a:t>
            </a:r>
            <a:r>
              <a:rPr lang="en-US" b="1" dirty="0" err="1"/>
              <a:t>transfer_latency</a:t>
            </a:r>
            <a:r>
              <a:rPr lang="en-US" b="1" dirty="0"/>
              <a:t> </a:t>
            </a:r>
            <a:r>
              <a:rPr lang="zh-CN" altLang="en-US" b="1" dirty="0"/>
              <a:t>高</a:t>
            </a:r>
            <a:r>
              <a:rPr lang="zh-CN" altLang="en-US" dirty="0"/>
              <a:t>？</a:t>
            </a:r>
            <a:endParaRPr lang="en-US" altLang="zh-CN" dirty="0"/>
          </a:p>
          <a:p>
            <a:pPr lvl="3"/>
            <a:r>
              <a:rPr lang="en-US" altLang="zh-CN" dirty="0"/>
              <a:t>EFA</a:t>
            </a:r>
            <a:r>
              <a:rPr lang="zh-CN" altLang="en-US" dirty="0"/>
              <a:t>是否正确配置？</a:t>
            </a:r>
            <a:r>
              <a:rPr lang="en-US" altLang="zh-CN" dirty="0"/>
              <a:t>(</a:t>
            </a:r>
            <a:r>
              <a:rPr lang="zh-CN" altLang="en-US" b="1" dirty="0">
                <a:solidFill>
                  <a:srgbClr val="FF0000"/>
                </a:solidFill>
              </a:rPr>
              <a:t>客户经常这个配置的有问题</a:t>
            </a:r>
            <a:r>
              <a:rPr lang="en-US" altLang="zh-CN" dirty="0"/>
              <a:t>)</a:t>
            </a:r>
          </a:p>
          <a:p>
            <a:pPr lvl="3"/>
            <a:r>
              <a:rPr lang="zh-CN" altLang="en-US" dirty="0"/>
              <a:t>是否正确使用了</a:t>
            </a:r>
            <a:r>
              <a:rPr lang="en-US" altLang="zh-CN" dirty="0"/>
              <a:t>RDMA</a:t>
            </a:r>
            <a:r>
              <a:rPr lang="zh-CN" altLang="en-US" dirty="0"/>
              <a:t>？ </a:t>
            </a:r>
            <a:endParaRPr lang="en-US" altLang="zh-CN" dirty="0"/>
          </a:p>
          <a:p>
            <a:pPr lvl="3"/>
            <a:r>
              <a:rPr lang="en-US" dirty="0"/>
              <a:t>KV </a:t>
            </a:r>
            <a:r>
              <a:rPr lang="en-US" altLang="zh-CN" dirty="0"/>
              <a:t>transfer engine</a:t>
            </a:r>
            <a:r>
              <a:rPr lang="zh-CN" altLang="en-US" dirty="0"/>
              <a:t> 的选择和对比：</a:t>
            </a:r>
            <a:r>
              <a:rPr lang="en-US" altLang="zh-CN" dirty="0"/>
              <a:t>NIXL or Mooncake TE</a:t>
            </a:r>
            <a:r>
              <a:rPr lang="zh-CN" altLang="en-US" dirty="0"/>
              <a:t>？</a:t>
            </a:r>
            <a:endParaRPr lang="en-US" dirty="0"/>
          </a:p>
          <a:p>
            <a:pPr lvl="2"/>
            <a:r>
              <a:rPr lang="en-US" altLang="zh-CN" dirty="0" err="1"/>
              <a:t>SGLang</a:t>
            </a:r>
            <a:r>
              <a:rPr lang="zh-CN" altLang="en-US" b="1" dirty="0"/>
              <a:t>参数配置不合适</a:t>
            </a:r>
            <a:r>
              <a:rPr lang="zh-CN" altLang="en-US" dirty="0"/>
              <a:t>？</a:t>
            </a:r>
            <a:endParaRPr lang="en-US" altLang="zh-CN" dirty="0"/>
          </a:p>
          <a:p>
            <a:pPr lvl="3"/>
            <a:r>
              <a:rPr lang="en-US" altLang="zh-CN" dirty="0"/>
              <a:t>chunked prefill size</a:t>
            </a:r>
            <a:r>
              <a:rPr lang="zh-CN" altLang="en-US" dirty="0"/>
              <a:t>不足？</a:t>
            </a:r>
            <a:endParaRPr lang="en-US" altLang="zh-CN" dirty="0"/>
          </a:p>
          <a:p>
            <a:pPr lvl="3"/>
            <a:r>
              <a:rPr lang="en-US" altLang="zh-CN" dirty="0"/>
              <a:t>Max prefilled token</a:t>
            </a:r>
            <a:r>
              <a:rPr lang="zh-CN" altLang="en-US" dirty="0"/>
              <a:t>太小？</a:t>
            </a:r>
            <a:endParaRPr lang="en-US" altLang="zh-CN" dirty="0"/>
          </a:p>
          <a:p>
            <a:pPr lvl="3"/>
            <a:r>
              <a:rPr lang="en-US" altLang="zh-CN" dirty="0"/>
              <a:t>max running requests per DP rank</a:t>
            </a:r>
            <a:r>
              <a:rPr lang="zh-CN" altLang="en-US" dirty="0"/>
              <a:t>有些小？</a:t>
            </a:r>
            <a:endParaRPr lang="en-US" altLang="zh-CN" dirty="0"/>
          </a:p>
          <a:p>
            <a:pPr lvl="1"/>
            <a:r>
              <a:rPr lang="zh-CN" altLang="en-US" b="1" dirty="0"/>
              <a:t>兜底的解决办法</a:t>
            </a:r>
            <a:r>
              <a:rPr lang="zh-CN" altLang="en-US" dirty="0"/>
              <a:t>：扩容 </a:t>
            </a:r>
            <a:r>
              <a:rPr lang="en-US" altLang="zh-CN" dirty="0"/>
              <a:t>/ </a:t>
            </a:r>
            <a:r>
              <a:rPr lang="zh-CN" altLang="en-US" dirty="0"/>
              <a:t>限流</a:t>
            </a:r>
            <a:endParaRPr lang="en-US" altLang="zh-CN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372539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E9F243D-DFB4-DB94-8D39-C2AA7B6C11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268802"/>
          </a:xfrm>
        </p:spPr>
        <p:txBody>
          <a:bodyPr/>
          <a:lstStyle/>
          <a:p>
            <a:r>
              <a:rPr lang="en-US" dirty="0"/>
              <a:t>C</a:t>
            </a:r>
            <a:r>
              <a:rPr lang="en-US" altLang="zh-CN" dirty="0"/>
              <a:t>ontinue…..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D80625F-3CF8-6D0A-EA8C-9BE6F73FC9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861"/>
            <a:ext cx="10515600" cy="4751871"/>
          </a:xfrm>
        </p:spPr>
        <p:txBody>
          <a:bodyPr>
            <a:normAutofit lnSpcReduction="10000"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TPOT </a:t>
            </a:r>
            <a:r>
              <a:rPr lang="zh-CN" altLang="en-US" b="1" dirty="0">
                <a:solidFill>
                  <a:srgbClr val="FF0000"/>
                </a:solidFill>
              </a:rPr>
              <a:t>高</a:t>
            </a:r>
            <a:r>
              <a:rPr lang="zh-CN" altLang="en-US" dirty="0"/>
              <a:t>？</a:t>
            </a:r>
            <a:endParaRPr lang="en-US" altLang="zh-CN" dirty="0"/>
          </a:p>
          <a:p>
            <a:pPr lvl="1"/>
            <a:r>
              <a:rPr lang="en-US" b="1" dirty="0"/>
              <a:t>KV  </a:t>
            </a:r>
            <a:r>
              <a:rPr lang="en-US" altLang="zh-CN" b="1" dirty="0"/>
              <a:t>cache </a:t>
            </a:r>
            <a:r>
              <a:rPr lang="zh-CN" altLang="en-US" b="1" dirty="0"/>
              <a:t>空间不足导致 </a:t>
            </a:r>
            <a:r>
              <a:rPr lang="en-US" b="1" dirty="0"/>
              <a:t>preemption </a:t>
            </a:r>
            <a:r>
              <a:rPr lang="zh-CN" altLang="en-US" dirty="0"/>
              <a:t>（</a:t>
            </a:r>
            <a:r>
              <a:rPr lang="en-US" altLang="zh-CN" dirty="0"/>
              <a:t>KV cache </a:t>
            </a:r>
            <a:r>
              <a:rPr lang="zh-CN" altLang="en-US" dirty="0"/>
              <a:t>空间不足会</a:t>
            </a:r>
            <a:r>
              <a:rPr lang="zh-CN" altLang="en-US" b="1" dirty="0"/>
              <a:t>驱逐当前请求</a:t>
            </a:r>
            <a:r>
              <a:rPr lang="zh-CN" altLang="en-US" dirty="0"/>
              <a:t>的</a:t>
            </a:r>
            <a:r>
              <a:rPr lang="en-US" altLang="zh-CN" dirty="0"/>
              <a:t>KV cache</a:t>
            </a:r>
            <a:r>
              <a:rPr lang="zh-CN" altLang="en-US" dirty="0"/>
              <a:t>到</a:t>
            </a:r>
            <a:r>
              <a:rPr lang="en-US" altLang="zh-CN" dirty="0"/>
              <a:t>CPU memory</a:t>
            </a:r>
            <a:r>
              <a:rPr lang="zh-CN" altLang="en-US" dirty="0"/>
              <a:t>）</a:t>
            </a:r>
            <a:endParaRPr lang="en-US" altLang="zh-CN" dirty="0"/>
          </a:p>
          <a:p>
            <a:pPr lvl="2"/>
            <a:r>
              <a:rPr lang="zh-CN" altLang="en-US" dirty="0"/>
              <a:t>通过</a:t>
            </a:r>
            <a:r>
              <a:rPr lang="en-US" altLang="zh-CN" dirty="0" err="1"/>
              <a:t>SGLang</a:t>
            </a:r>
            <a:r>
              <a:rPr lang="en-US" altLang="zh-CN" dirty="0"/>
              <a:t> metric </a:t>
            </a:r>
            <a:r>
              <a:rPr lang="en-US" dirty="0" err="1"/>
              <a:t>retracted_reqs</a:t>
            </a:r>
            <a:r>
              <a:rPr lang="en-US" dirty="0"/>
              <a:t> &gt; 0</a:t>
            </a:r>
            <a:r>
              <a:rPr lang="zh-CN" altLang="en-US" dirty="0"/>
              <a:t>可以看出来有多少请求驱逐。</a:t>
            </a:r>
            <a:endParaRPr lang="en-US" dirty="0"/>
          </a:p>
          <a:p>
            <a:pPr lvl="1"/>
            <a:r>
              <a:rPr lang="zh-CN" altLang="en-US" b="1" dirty="0"/>
              <a:t>并行策略是否合适</a:t>
            </a:r>
            <a:r>
              <a:rPr lang="zh-CN" altLang="en-US" dirty="0"/>
              <a:t>？</a:t>
            </a:r>
            <a:endParaRPr lang="en-US" altLang="zh-CN" dirty="0"/>
          </a:p>
          <a:p>
            <a:pPr lvl="2"/>
            <a:r>
              <a:rPr lang="en-US" altLang="zh-CN" dirty="0"/>
              <a:t>EP</a:t>
            </a:r>
            <a:r>
              <a:rPr lang="zh-CN" altLang="en-US" dirty="0"/>
              <a:t>是否要跨节点？</a:t>
            </a:r>
            <a:endParaRPr lang="en-US" altLang="zh-CN" dirty="0"/>
          </a:p>
          <a:p>
            <a:pPr lvl="2"/>
            <a:r>
              <a:rPr lang="en-US" altLang="zh-CN" dirty="0"/>
              <a:t>DP attention</a:t>
            </a:r>
            <a:r>
              <a:rPr lang="zh-CN" altLang="en-US" dirty="0"/>
              <a:t>是否需要？</a:t>
            </a:r>
            <a:endParaRPr lang="en-US" altLang="zh-CN" dirty="0"/>
          </a:p>
          <a:p>
            <a:pPr lvl="1"/>
            <a:r>
              <a:rPr lang="en-US" b="1" dirty="0"/>
              <a:t>PD</a:t>
            </a:r>
            <a:r>
              <a:rPr lang="zh-CN" altLang="en-US" b="1" dirty="0"/>
              <a:t>分离方案的选择是否合适</a:t>
            </a:r>
            <a:r>
              <a:rPr lang="zh-CN" altLang="en-US" dirty="0"/>
              <a:t>？</a:t>
            </a:r>
            <a:endParaRPr lang="en-US" altLang="zh-CN" dirty="0"/>
          </a:p>
          <a:p>
            <a:pPr lvl="2"/>
            <a:r>
              <a:rPr lang="zh-CN" altLang="en-US" dirty="0"/>
              <a:t>尝试过</a:t>
            </a:r>
            <a:r>
              <a:rPr lang="en-US" altLang="zh-CN" dirty="0"/>
              <a:t>Non-PD</a:t>
            </a:r>
            <a:r>
              <a:rPr lang="zh-CN" altLang="en-US" dirty="0"/>
              <a:t>分离方案了吗？</a:t>
            </a:r>
            <a:endParaRPr lang="en-US" altLang="zh-CN" dirty="0"/>
          </a:p>
          <a:p>
            <a:pPr lvl="2"/>
            <a:r>
              <a:rPr lang="en-US" altLang="zh-CN" dirty="0"/>
              <a:t>KV transfer engine</a:t>
            </a:r>
            <a:r>
              <a:rPr lang="zh-CN" altLang="en-US" dirty="0"/>
              <a:t>的选型？</a:t>
            </a:r>
            <a:endParaRPr lang="en-US" altLang="zh-CN" dirty="0"/>
          </a:p>
          <a:p>
            <a:pPr lvl="2"/>
            <a:r>
              <a:rPr lang="en-US" altLang="zh-CN" dirty="0" err="1"/>
              <a:t>xPxD</a:t>
            </a:r>
            <a:r>
              <a:rPr lang="zh-CN" altLang="en-US" dirty="0"/>
              <a:t>的</a:t>
            </a:r>
            <a:r>
              <a:rPr lang="en-US" altLang="zh-CN" dirty="0"/>
              <a:t>Decode</a:t>
            </a:r>
            <a:r>
              <a:rPr lang="zh-CN" altLang="en-US" dirty="0"/>
              <a:t>的数量选择是否合适？ </a:t>
            </a:r>
            <a:endParaRPr lang="en-US" altLang="zh-CN" dirty="0"/>
          </a:p>
          <a:p>
            <a:pPr lvl="1"/>
            <a:r>
              <a:rPr lang="zh-CN" altLang="en-US" dirty="0"/>
              <a:t>如果使用了投机解码，</a:t>
            </a:r>
            <a:r>
              <a:rPr lang="en-US" altLang="zh-CN" b="1" dirty="0"/>
              <a:t>accept avg length</a:t>
            </a:r>
            <a:r>
              <a:rPr lang="zh-CN" altLang="en-US" b="1" dirty="0"/>
              <a:t>是不是太低</a:t>
            </a:r>
            <a:r>
              <a:rPr lang="zh-CN" altLang="en-US" dirty="0"/>
              <a:t>？</a:t>
            </a:r>
            <a:endParaRPr lang="en-US" altLang="zh-CN" dirty="0"/>
          </a:p>
          <a:p>
            <a:pPr lvl="1"/>
            <a:r>
              <a:rPr lang="en-US" dirty="0"/>
              <a:t>batch size </a:t>
            </a:r>
            <a:r>
              <a:rPr lang="zh-CN" altLang="en-US" b="1" dirty="0"/>
              <a:t>超出了 </a:t>
            </a:r>
            <a:r>
              <a:rPr lang="en-US" b="1" dirty="0"/>
              <a:t>CUDA graph </a:t>
            </a:r>
            <a:r>
              <a:rPr lang="en-US" altLang="zh-CN" b="1" dirty="0"/>
              <a:t>capture max batch size</a:t>
            </a:r>
            <a:r>
              <a:rPr lang="zh-CN" altLang="en-US" b="1" dirty="0"/>
              <a:t>的范围</a:t>
            </a:r>
            <a:r>
              <a:rPr lang="zh-CN" altLang="en-US" dirty="0"/>
              <a:t>？</a:t>
            </a:r>
            <a:endParaRPr lang="en-US" altLang="zh-CN" dirty="0"/>
          </a:p>
          <a:p>
            <a:pPr lvl="2"/>
            <a:r>
              <a:rPr lang="zh-CN" altLang="en-US" dirty="0"/>
              <a:t>如果超出，相当于针对这个</a:t>
            </a:r>
            <a:r>
              <a:rPr lang="en-US" altLang="zh-CN" dirty="0"/>
              <a:t>bs</a:t>
            </a:r>
            <a:r>
              <a:rPr lang="zh-CN" altLang="en-US" dirty="0"/>
              <a:t>的处理是</a:t>
            </a:r>
            <a:r>
              <a:rPr lang="en-US" altLang="zh-CN" dirty="0"/>
              <a:t>disable </a:t>
            </a:r>
            <a:r>
              <a:rPr lang="en-US" altLang="zh-CN" dirty="0" err="1"/>
              <a:t>cuda</a:t>
            </a:r>
            <a:r>
              <a:rPr lang="en-US" altLang="zh-CN" dirty="0"/>
              <a:t> graph</a:t>
            </a:r>
            <a:r>
              <a:rPr lang="zh-CN" altLang="en-US" dirty="0"/>
              <a:t>了。</a:t>
            </a:r>
            <a:endParaRPr lang="en-US" altLang="zh-CN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667970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2BD54C0-9B8F-0312-3B88-D01EFCFA0A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161671"/>
          </a:xfrm>
        </p:spPr>
        <p:txBody>
          <a:bodyPr/>
          <a:lstStyle/>
          <a:p>
            <a:r>
              <a:rPr lang="en-US" dirty="0"/>
              <a:t>C</a:t>
            </a:r>
            <a:r>
              <a:rPr lang="en-US" altLang="zh-CN" dirty="0"/>
              <a:t>ontinue…..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E0FC77C-7BC2-9CD2-BD7C-0D0D565127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36521"/>
            <a:ext cx="10515600" cy="4890782"/>
          </a:xfrm>
        </p:spPr>
        <p:txBody>
          <a:bodyPr>
            <a:normAutofit fontScale="92500" lnSpcReduction="10000"/>
          </a:bodyPr>
          <a:lstStyle/>
          <a:p>
            <a:r>
              <a:rPr lang="zh-CN" altLang="en-US" b="1" dirty="0">
                <a:solidFill>
                  <a:srgbClr val="FF0000"/>
                </a:solidFill>
              </a:rPr>
              <a:t>吞吐 </a:t>
            </a:r>
            <a:r>
              <a:rPr lang="en-US" altLang="zh-CN" b="1" dirty="0">
                <a:solidFill>
                  <a:srgbClr val="FF0000"/>
                </a:solidFill>
              </a:rPr>
              <a:t>&lt; </a:t>
            </a:r>
            <a:r>
              <a:rPr lang="zh-CN" altLang="en-US" b="1" dirty="0">
                <a:solidFill>
                  <a:srgbClr val="FF0000"/>
                </a:solidFill>
              </a:rPr>
              <a:t>预期（</a:t>
            </a:r>
            <a:r>
              <a:rPr lang="zh-CN" altLang="en-US" b="1" dirty="0"/>
              <a:t>首先要评估预期是否合理</a:t>
            </a:r>
            <a:r>
              <a:rPr lang="zh-CN" altLang="en-US" b="1" dirty="0">
                <a:solidFill>
                  <a:srgbClr val="FF0000"/>
                </a:solidFill>
              </a:rPr>
              <a:t>）</a:t>
            </a:r>
            <a:r>
              <a:rPr lang="zh-CN" altLang="en-US" dirty="0"/>
              <a:t>？</a:t>
            </a:r>
            <a:endParaRPr lang="en-US" altLang="zh-CN" dirty="0"/>
          </a:p>
          <a:p>
            <a:pPr lvl="1"/>
            <a:r>
              <a:rPr lang="en-US" dirty="0" err="1"/>
              <a:t>SGL</a:t>
            </a:r>
            <a:r>
              <a:rPr lang="en-US" altLang="zh-CN" dirty="0" err="1"/>
              <a:t>ang</a:t>
            </a:r>
            <a:r>
              <a:rPr lang="zh-CN" altLang="en-US" dirty="0"/>
              <a:t>中和</a:t>
            </a:r>
            <a:r>
              <a:rPr lang="en-US" altLang="zh-CN" dirty="0"/>
              <a:t>size</a:t>
            </a:r>
            <a:r>
              <a:rPr lang="zh-CN" altLang="en-US" dirty="0"/>
              <a:t>相关的参数？</a:t>
            </a:r>
            <a:endParaRPr lang="en-US" altLang="zh-CN" dirty="0"/>
          </a:p>
          <a:p>
            <a:pPr lvl="2"/>
            <a:r>
              <a:rPr lang="en-US" altLang="zh-CN" dirty="0"/>
              <a:t>chunked</a:t>
            </a:r>
            <a:r>
              <a:rPr lang="zh-CN" altLang="en-US" dirty="0"/>
              <a:t>相关的参数？</a:t>
            </a:r>
            <a:endParaRPr lang="en-US" altLang="zh-CN" dirty="0"/>
          </a:p>
          <a:p>
            <a:pPr lvl="2"/>
            <a:r>
              <a:rPr lang="en-US" altLang="zh-CN" dirty="0"/>
              <a:t>max running request</a:t>
            </a:r>
            <a:r>
              <a:rPr lang="zh-CN" altLang="en-US" dirty="0"/>
              <a:t>是不是太小？</a:t>
            </a:r>
            <a:endParaRPr lang="en-US" dirty="0"/>
          </a:p>
          <a:p>
            <a:pPr lvl="1"/>
            <a:r>
              <a:rPr lang="en-US" dirty="0" err="1"/>
              <a:t>kv_available_tokens</a:t>
            </a:r>
            <a:r>
              <a:rPr lang="en-US" dirty="0"/>
              <a:t> </a:t>
            </a:r>
            <a:r>
              <a:rPr lang="zh-CN" altLang="en-US" dirty="0"/>
              <a:t>低？（</a:t>
            </a:r>
            <a:r>
              <a:rPr lang="en-US" altLang="zh-CN" dirty="0"/>
              <a:t>GPU</a:t>
            </a:r>
            <a:r>
              <a:rPr lang="zh-CN" altLang="en-US" dirty="0"/>
              <a:t>显存是瓶颈）</a:t>
            </a:r>
            <a:endParaRPr lang="en-US" altLang="zh-CN" dirty="0"/>
          </a:p>
          <a:p>
            <a:pPr lvl="1"/>
            <a:r>
              <a:rPr lang="en-US" altLang="zh-CN" dirty="0"/>
              <a:t>KV store</a:t>
            </a:r>
            <a:r>
              <a:rPr lang="zh-CN" altLang="en-US" dirty="0"/>
              <a:t>如何配置的？（</a:t>
            </a:r>
            <a:r>
              <a:rPr lang="en-US" altLang="zh-CN" dirty="0" err="1"/>
              <a:t>Hicache</a:t>
            </a:r>
            <a:r>
              <a:rPr lang="zh-CN" altLang="en-US" dirty="0"/>
              <a:t>如何设定的？）</a:t>
            </a:r>
            <a:endParaRPr lang="en-US" altLang="zh-CN" dirty="0"/>
          </a:p>
          <a:p>
            <a:pPr lvl="1"/>
            <a:r>
              <a:rPr lang="zh-CN" altLang="en-US" dirty="0"/>
              <a:t>是否</a:t>
            </a:r>
            <a:r>
              <a:rPr lang="en-US" altLang="zh-CN" dirty="0"/>
              <a:t>enable </a:t>
            </a:r>
            <a:r>
              <a:rPr lang="zh-CN" altLang="en-US" dirty="0"/>
              <a:t>了投机解码？</a:t>
            </a:r>
            <a:endParaRPr lang="en-US" altLang="zh-CN" dirty="0"/>
          </a:p>
          <a:p>
            <a:pPr lvl="1"/>
            <a:r>
              <a:rPr lang="zh-CN" altLang="en-US" b="1" dirty="0"/>
              <a:t>部署方案不合适</a:t>
            </a:r>
            <a:r>
              <a:rPr lang="zh-CN" altLang="en-US" dirty="0"/>
              <a:t>？</a:t>
            </a:r>
            <a:endParaRPr lang="en-US" altLang="zh-CN" dirty="0"/>
          </a:p>
          <a:p>
            <a:pPr lvl="2"/>
            <a:r>
              <a:rPr lang="zh-CN" altLang="en-US" dirty="0"/>
              <a:t>针对长输入短输出场景，更多的</a:t>
            </a:r>
            <a:r>
              <a:rPr lang="en-US" altLang="zh-CN" dirty="0"/>
              <a:t>prefill</a:t>
            </a:r>
            <a:r>
              <a:rPr lang="zh-CN" altLang="en-US" dirty="0"/>
              <a:t>节点？</a:t>
            </a:r>
            <a:endParaRPr lang="en-US" altLang="zh-CN" dirty="0"/>
          </a:p>
          <a:p>
            <a:pPr lvl="2"/>
            <a:r>
              <a:rPr lang="zh-CN" altLang="en-US" dirty="0"/>
              <a:t>针对短输入长输出场景，更多的</a:t>
            </a:r>
            <a:r>
              <a:rPr lang="en-US" altLang="zh-CN" dirty="0"/>
              <a:t>decode</a:t>
            </a:r>
            <a:r>
              <a:rPr lang="zh-CN" altLang="en-US" dirty="0"/>
              <a:t>节点？</a:t>
            </a:r>
            <a:endParaRPr lang="en-US" altLang="zh-CN" dirty="0"/>
          </a:p>
          <a:p>
            <a:pPr lvl="2"/>
            <a:r>
              <a:rPr lang="zh-CN" altLang="en-US" dirty="0"/>
              <a:t>不同的并行策略的组合？</a:t>
            </a:r>
            <a:endParaRPr lang="en-US" altLang="zh-CN" dirty="0"/>
          </a:p>
          <a:p>
            <a:pPr lvl="2"/>
            <a:r>
              <a:rPr lang="en-US" altLang="zh-CN" dirty="0"/>
              <a:t>KV transfer engine</a:t>
            </a:r>
            <a:r>
              <a:rPr lang="zh-CN" altLang="en-US" dirty="0"/>
              <a:t>的选择？</a:t>
            </a:r>
            <a:endParaRPr lang="en-US" altLang="zh-CN" dirty="0"/>
          </a:p>
          <a:p>
            <a:pPr lvl="2"/>
            <a:r>
              <a:rPr lang="zh-CN" altLang="en-US" dirty="0"/>
              <a:t>是否可以尝试一下</a:t>
            </a:r>
            <a:r>
              <a:rPr lang="en-US" altLang="zh-CN" dirty="0"/>
              <a:t>Non-PD</a:t>
            </a:r>
            <a:r>
              <a:rPr lang="zh-CN" altLang="en-US" dirty="0"/>
              <a:t>方案？</a:t>
            </a:r>
            <a:endParaRPr lang="en-US" altLang="zh-CN" dirty="0"/>
          </a:p>
          <a:p>
            <a:pPr lvl="1"/>
            <a:r>
              <a:rPr lang="en-US" altLang="zh-CN" dirty="0"/>
              <a:t>GPU</a:t>
            </a:r>
            <a:r>
              <a:rPr lang="zh-CN" altLang="en-US" dirty="0"/>
              <a:t>机型是否合适？</a:t>
            </a:r>
            <a:endParaRPr lang="en-US" altLang="zh-CN" dirty="0"/>
          </a:p>
          <a:p>
            <a:pPr lvl="1"/>
            <a:r>
              <a:rPr lang="zh-CN" altLang="en-US" dirty="0"/>
              <a:t>推理框架是否合适？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3283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535079E-F9A6-C28A-2530-13338899CE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0978"/>
            <a:ext cx="10515600" cy="1325563"/>
          </a:xfrm>
        </p:spPr>
        <p:txBody>
          <a:bodyPr/>
          <a:lstStyle/>
          <a:p>
            <a:pPr algn="ctr"/>
            <a:r>
              <a:rPr lang="zh-CN" altLang="en-US" dirty="0"/>
              <a:t>项目过程中常见的坑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914571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BE26E1E-FF1B-3CCE-7A05-46169B6FE4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sz="3600" dirty="0"/>
              <a:t>在</a:t>
            </a:r>
            <a:r>
              <a:rPr lang="en-US" sz="3600" dirty="0"/>
              <a:t>EKS</a:t>
            </a:r>
            <a:r>
              <a:rPr lang="zh-CN" altLang="en-US" sz="3600" dirty="0"/>
              <a:t>平台上，</a:t>
            </a:r>
            <a:r>
              <a:rPr lang="en-US" sz="3600" dirty="0"/>
              <a:t>B200 </a:t>
            </a:r>
            <a:r>
              <a:rPr lang="zh-CN" altLang="en-US" sz="3600" dirty="0"/>
              <a:t>实例的</a:t>
            </a:r>
            <a:r>
              <a:rPr lang="en-US" sz="3600" dirty="0"/>
              <a:t>EFA RDMA</a:t>
            </a:r>
            <a:r>
              <a:rPr lang="zh-CN" altLang="en-US" sz="3600" dirty="0"/>
              <a:t>表现不正常？</a:t>
            </a:r>
            <a:endParaRPr lang="en-US" sz="3600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D884504-12A8-8C0C-98EB-23E8B7D6A8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20113"/>
            <a:ext cx="10515600" cy="4056850"/>
          </a:xfrm>
        </p:spPr>
        <p:txBody>
          <a:bodyPr>
            <a:normAutofit fontScale="92500" lnSpcReduction="20000"/>
          </a:bodyPr>
          <a:lstStyle/>
          <a:p>
            <a:r>
              <a:rPr lang="zh-CN" altLang="en-US" dirty="0"/>
              <a:t>现象：</a:t>
            </a:r>
            <a:endParaRPr lang="en-US" altLang="zh-CN" dirty="0"/>
          </a:p>
          <a:p>
            <a:pPr lvl="1"/>
            <a:r>
              <a:rPr lang="zh-CN" altLang="en-US" dirty="0"/>
              <a:t> </a:t>
            </a:r>
            <a:r>
              <a:rPr lang="en-US" b="1" dirty="0" err="1"/>
              <a:t>fi_pingpong</a:t>
            </a:r>
            <a:r>
              <a:rPr lang="en-US" b="1" dirty="0"/>
              <a:t> </a:t>
            </a:r>
            <a:r>
              <a:rPr lang="zh-CN" altLang="en-US" b="1" dirty="0"/>
              <a:t>挂起</a:t>
            </a:r>
            <a:r>
              <a:rPr lang="zh-CN" altLang="en-US" dirty="0"/>
              <a:t>；</a:t>
            </a:r>
            <a:r>
              <a:rPr lang="en-US" dirty="0" err="1"/>
              <a:t>dmesg</a:t>
            </a:r>
            <a:r>
              <a:rPr lang="en-US" dirty="0"/>
              <a:t> </a:t>
            </a:r>
            <a:r>
              <a:rPr lang="zh-CN" altLang="en-US" dirty="0"/>
              <a:t>显示 </a:t>
            </a:r>
            <a:r>
              <a:rPr lang="en-US" dirty="0" err="1"/>
              <a:t>ib_efa</a:t>
            </a:r>
            <a:r>
              <a:rPr lang="en-US" dirty="0"/>
              <a:t> DEREG_MR </a:t>
            </a:r>
            <a:r>
              <a:rPr lang="zh-CN" altLang="en-US" dirty="0"/>
              <a:t>错误和 </a:t>
            </a:r>
            <a:r>
              <a:rPr lang="en-US" dirty="0"/>
              <a:t>Failed to create ah for 0000:… </a:t>
            </a:r>
          </a:p>
          <a:p>
            <a:r>
              <a:rPr lang="zh-CN" altLang="en-US" dirty="0"/>
              <a:t>根因： </a:t>
            </a:r>
            <a:endParaRPr lang="en-US" altLang="zh-CN" dirty="0"/>
          </a:p>
          <a:p>
            <a:pPr lvl="1"/>
            <a:r>
              <a:rPr lang="en-US" dirty="0"/>
              <a:t>EFA driver 3.0.0g </a:t>
            </a:r>
            <a:r>
              <a:rPr lang="zh-CN" altLang="en-US" dirty="0"/>
              <a:t>在</a:t>
            </a:r>
            <a:r>
              <a:rPr lang="en-US" dirty="0"/>
              <a:t>Linux </a:t>
            </a:r>
            <a:r>
              <a:rPr lang="zh-CN" altLang="en-US" dirty="0"/>
              <a:t>内核 </a:t>
            </a:r>
            <a:r>
              <a:rPr lang="en-US" altLang="zh-CN" dirty="0"/>
              <a:t>6.1</a:t>
            </a:r>
            <a:r>
              <a:rPr lang="zh-CN" altLang="en-US" dirty="0"/>
              <a:t>（</a:t>
            </a:r>
            <a:r>
              <a:rPr lang="en-US" dirty="0"/>
              <a:t>K8s 1.32 AMI）</a:t>
            </a:r>
            <a:r>
              <a:rPr lang="zh-CN" altLang="en-US" dirty="0"/>
              <a:t>上有 </a:t>
            </a:r>
            <a:r>
              <a:rPr lang="en-US" dirty="0"/>
              <a:t>bug，</a:t>
            </a:r>
            <a:r>
              <a:rPr lang="zh-CN" altLang="en-US" dirty="0"/>
              <a:t>在</a:t>
            </a:r>
            <a:r>
              <a:rPr lang="en-US" dirty="0"/>
              <a:t>Linux </a:t>
            </a:r>
            <a:r>
              <a:rPr lang="zh-CN" altLang="en-US" dirty="0"/>
              <a:t>内核 </a:t>
            </a:r>
            <a:r>
              <a:rPr lang="en-US" altLang="zh-CN" dirty="0"/>
              <a:t>6.12</a:t>
            </a:r>
            <a:r>
              <a:rPr lang="zh-CN" altLang="en-US" dirty="0"/>
              <a:t>（</a:t>
            </a:r>
            <a:r>
              <a:rPr lang="en-US" dirty="0"/>
              <a:t>K8s 1.33 AMI）</a:t>
            </a:r>
            <a:r>
              <a:rPr lang="zh-CN" altLang="en-US" dirty="0"/>
              <a:t>上已修复。 </a:t>
            </a:r>
          </a:p>
          <a:p>
            <a:r>
              <a:rPr lang="zh-CN" altLang="en-US" dirty="0"/>
              <a:t>解决： </a:t>
            </a:r>
            <a:endParaRPr lang="en-US" altLang="zh-CN" dirty="0"/>
          </a:p>
          <a:p>
            <a:pPr lvl="1"/>
            <a:r>
              <a:rPr lang="zh-CN" altLang="en-US" b="1" dirty="0"/>
              <a:t>使用 </a:t>
            </a:r>
            <a:r>
              <a:rPr lang="en-US" b="1" dirty="0"/>
              <a:t>version: "1.33" </a:t>
            </a:r>
            <a:r>
              <a:rPr lang="zh-CN" altLang="en-US" b="1" dirty="0"/>
              <a:t>的集群配置</a:t>
            </a:r>
            <a:r>
              <a:rPr lang="zh-CN" altLang="en-US" dirty="0"/>
              <a:t>。</a:t>
            </a:r>
            <a:endParaRPr lang="en-US" altLang="zh-CN" dirty="0"/>
          </a:p>
          <a:p>
            <a:pPr lvl="1"/>
            <a:r>
              <a:rPr lang="zh-CN" altLang="en-US" dirty="0"/>
              <a:t>升级命令可以参考如下：</a:t>
            </a:r>
          </a:p>
          <a:p>
            <a:pPr lvl="2"/>
            <a:r>
              <a:rPr lang="en-US" dirty="0"/>
              <a:t> </a:t>
            </a:r>
            <a:r>
              <a:rPr lang="en-US" dirty="0" err="1"/>
              <a:t>aws</a:t>
            </a:r>
            <a:r>
              <a:rPr lang="en-US" dirty="0"/>
              <a:t> </a:t>
            </a:r>
            <a:r>
              <a:rPr lang="en-US" dirty="0" err="1"/>
              <a:t>eks</a:t>
            </a:r>
            <a:r>
              <a:rPr lang="en-US" dirty="0"/>
              <a:t> update-cluster-version --name </a:t>
            </a:r>
            <a:r>
              <a:rPr lang="en-US" dirty="0" err="1"/>
              <a:t>gpu-eks</a:t>
            </a:r>
            <a:r>
              <a:rPr lang="en-US" dirty="0"/>
              <a:t> --</a:t>
            </a:r>
            <a:r>
              <a:rPr lang="en-US" dirty="0" err="1"/>
              <a:t>kubernetes</a:t>
            </a:r>
            <a:r>
              <a:rPr lang="en-US" dirty="0"/>
              <a:t>-version 1.33 --region us-west-2</a:t>
            </a:r>
          </a:p>
          <a:p>
            <a:pPr lvl="2"/>
            <a:r>
              <a:rPr lang="en-US" dirty="0"/>
              <a:t> </a:t>
            </a:r>
            <a:r>
              <a:rPr lang="en-US" dirty="0" err="1"/>
              <a:t>aws</a:t>
            </a:r>
            <a:r>
              <a:rPr lang="en-US" dirty="0"/>
              <a:t> </a:t>
            </a:r>
            <a:r>
              <a:rPr lang="en-US" dirty="0" err="1"/>
              <a:t>eks</a:t>
            </a:r>
            <a:r>
              <a:rPr lang="en-US" dirty="0"/>
              <a:t> update-</a:t>
            </a:r>
            <a:r>
              <a:rPr lang="en-US" dirty="0" err="1"/>
              <a:t>nodegroup</a:t>
            </a:r>
            <a:r>
              <a:rPr lang="en-US" dirty="0"/>
              <a:t>-version --cluster-name </a:t>
            </a:r>
            <a:r>
              <a:rPr lang="en-US" dirty="0" err="1"/>
              <a:t>gpu-eks</a:t>
            </a:r>
            <a:r>
              <a:rPr lang="en-US" dirty="0"/>
              <a:t> --</a:t>
            </a:r>
            <a:r>
              <a:rPr lang="en-US" dirty="0" err="1"/>
              <a:t>nodegroup</a:t>
            </a:r>
            <a:r>
              <a:rPr lang="en-US" dirty="0"/>
              <a:t>-name </a:t>
            </a:r>
            <a:r>
              <a:rPr lang="en-US" dirty="0" err="1"/>
              <a:t>gpu</a:t>
            </a:r>
            <a:r>
              <a:rPr lang="en-US" dirty="0"/>
              <a:t>-spot-ng --</a:t>
            </a:r>
            <a:r>
              <a:rPr lang="en-US" dirty="0" err="1"/>
              <a:t>kubernetes</a:t>
            </a:r>
            <a:r>
              <a:rPr lang="en-US" dirty="0"/>
              <a:t>-version 1.33 --region us-west-2 </a:t>
            </a:r>
          </a:p>
        </p:txBody>
      </p:sp>
    </p:spTree>
    <p:extLst>
      <p:ext uri="{BB962C8B-B14F-4D97-AF65-F5344CB8AC3E}">
        <p14:creationId xmlns:p14="http://schemas.microsoft.com/office/powerpoint/2010/main" val="263252909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F80BCAD-1C46-23C9-1A3D-6EB42AD6D3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81037"/>
            <a:ext cx="10515600" cy="1009651"/>
          </a:xfrm>
        </p:spPr>
        <p:txBody>
          <a:bodyPr>
            <a:normAutofit fontScale="90000"/>
          </a:bodyPr>
          <a:lstStyle/>
          <a:p>
            <a:r>
              <a:rPr lang="en-US" altLang="zh-CN" sz="4000" dirty="0" err="1"/>
              <a:t>NVLink</a:t>
            </a:r>
            <a:r>
              <a:rPr lang="en-US" altLang="zh-CN" sz="4000" dirty="0"/>
              <a:t> </a:t>
            </a:r>
            <a:r>
              <a:rPr lang="en-US" altLang="zh-CN" sz="4000" dirty="0" err="1"/>
              <a:t>Xid</a:t>
            </a:r>
            <a:r>
              <a:rPr lang="en-US" altLang="zh-CN" sz="4000" dirty="0"/>
              <a:t>=145 </a:t>
            </a:r>
            <a:r>
              <a:rPr lang="zh-CN" altLang="en-US" sz="4000" dirty="0"/>
              <a:t>错误导致 </a:t>
            </a:r>
            <a:r>
              <a:rPr lang="en-US" altLang="zh-CN" sz="4000" dirty="0"/>
              <a:t>GPU </a:t>
            </a:r>
            <a:r>
              <a:rPr lang="zh-CN" altLang="en-US" sz="4000" dirty="0"/>
              <a:t>标记为不健康（可分配 </a:t>
            </a:r>
            <a:r>
              <a:rPr lang="en-US" altLang="zh-CN" sz="4000" dirty="0"/>
              <a:t>GPU &lt; 8</a:t>
            </a:r>
            <a:r>
              <a:rPr lang="zh-CN" altLang="en-US" sz="4000" dirty="0"/>
              <a:t>） </a:t>
            </a:r>
            <a:br>
              <a:rPr lang="zh-CN" altLang="en-US" dirty="0"/>
            </a:b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C6FF5E0-19A3-890F-1EB4-9FCE472A91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现象： </a:t>
            </a:r>
            <a:endParaRPr lang="en-US" altLang="zh-CN" dirty="0"/>
          </a:p>
          <a:p>
            <a:pPr lvl="1"/>
            <a:r>
              <a:rPr lang="en-US" altLang="zh-CN" dirty="0" err="1"/>
              <a:t>kubectl</a:t>
            </a:r>
            <a:r>
              <a:rPr lang="en-US" altLang="zh-CN" dirty="0"/>
              <a:t> get node </a:t>
            </a:r>
            <a:r>
              <a:rPr lang="zh-CN" altLang="en-US" dirty="0"/>
              <a:t>显示可分配 </a:t>
            </a:r>
            <a:r>
              <a:rPr lang="en-US" altLang="zh-CN" dirty="0"/>
              <a:t>GPU </a:t>
            </a:r>
            <a:r>
              <a:rPr lang="zh-CN" altLang="en-US" dirty="0"/>
              <a:t>为 </a:t>
            </a:r>
            <a:r>
              <a:rPr lang="en-US" altLang="zh-CN" dirty="0"/>
              <a:t>6 </a:t>
            </a:r>
            <a:r>
              <a:rPr lang="zh-CN" altLang="en-US" dirty="0"/>
              <a:t>或 </a:t>
            </a:r>
            <a:r>
              <a:rPr lang="en-US" altLang="zh-CN" dirty="0"/>
              <a:t>7</a:t>
            </a:r>
            <a:r>
              <a:rPr lang="zh-CN" altLang="en-US" dirty="0"/>
              <a:t>（而非 </a:t>
            </a:r>
            <a:r>
              <a:rPr lang="en-US" altLang="zh-CN" dirty="0"/>
              <a:t>8</a:t>
            </a:r>
            <a:r>
              <a:rPr lang="zh-CN" altLang="en-US" dirty="0"/>
              <a:t>），需要 </a:t>
            </a:r>
            <a:r>
              <a:rPr lang="en-US" altLang="zh-CN" dirty="0"/>
              <a:t>8 GPU </a:t>
            </a:r>
            <a:r>
              <a:rPr lang="zh-CN" altLang="en-US" dirty="0"/>
              <a:t>的 </a:t>
            </a:r>
            <a:r>
              <a:rPr lang="en-US" altLang="zh-CN" dirty="0"/>
              <a:t>Pod </a:t>
            </a:r>
            <a:r>
              <a:rPr lang="zh-CN" altLang="en-US" dirty="0"/>
              <a:t>无法调度。 </a:t>
            </a:r>
          </a:p>
          <a:p>
            <a:r>
              <a:rPr lang="zh-CN" altLang="en-US" dirty="0"/>
              <a:t>根因： </a:t>
            </a:r>
            <a:endParaRPr lang="en-US" altLang="zh-CN" dirty="0"/>
          </a:p>
          <a:p>
            <a:pPr lvl="1"/>
            <a:r>
              <a:rPr lang="en-US" altLang="zh-CN" dirty="0"/>
              <a:t>NVIDIA Fabric Manager </a:t>
            </a:r>
            <a:r>
              <a:rPr lang="zh-CN" altLang="en-US" dirty="0"/>
              <a:t>检测到 </a:t>
            </a:r>
            <a:r>
              <a:rPr lang="en-US" altLang="zh-CN" dirty="0" err="1"/>
              <a:t>NVLink</a:t>
            </a:r>
            <a:r>
              <a:rPr lang="en-US" altLang="zh-CN" dirty="0"/>
              <a:t> </a:t>
            </a:r>
            <a:r>
              <a:rPr lang="zh-CN" altLang="en-US" dirty="0"/>
              <a:t>非致命错误，报告 </a:t>
            </a:r>
            <a:r>
              <a:rPr lang="en-US" altLang="zh-CN" dirty="0" err="1"/>
              <a:t>Xid</a:t>
            </a:r>
            <a:r>
              <a:rPr lang="en-US" altLang="zh-CN" dirty="0"/>
              <a:t>=145</a:t>
            </a:r>
            <a:r>
              <a:rPr lang="zh-CN" altLang="en-US" dirty="0"/>
              <a:t>，设备插件永久标记受影响 </a:t>
            </a:r>
            <a:r>
              <a:rPr lang="en-US" altLang="zh-CN" dirty="0"/>
              <a:t>GPU </a:t>
            </a:r>
            <a:r>
              <a:rPr lang="zh-CN" altLang="en-US" dirty="0"/>
              <a:t>为不健康。 </a:t>
            </a:r>
            <a:endParaRPr lang="en-US" altLang="zh-CN" dirty="0"/>
          </a:p>
          <a:p>
            <a:r>
              <a:rPr lang="zh-CN" altLang="en-US" dirty="0"/>
              <a:t>解决：</a:t>
            </a:r>
          </a:p>
          <a:p>
            <a:pPr lvl="1"/>
            <a:endParaRPr lang="zh-CN" altLang="en-US" dirty="0"/>
          </a:p>
          <a:p>
            <a:pPr lvl="2"/>
            <a:endParaRPr 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492FDE41-8CAE-45A7-829C-6A6F1B3E5A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58472" y="4544290"/>
            <a:ext cx="6796457" cy="2009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660442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CE38236-5280-9948-3C10-E70C2B27C0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AWS</a:t>
            </a:r>
            <a:r>
              <a:rPr lang="zh-CN" altLang="en-US" dirty="0"/>
              <a:t>能提供</a:t>
            </a:r>
            <a:r>
              <a:rPr lang="en-US" altLang="zh-CN" dirty="0"/>
              <a:t>Golden container image</a:t>
            </a:r>
            <a:r>
              <a:rPr lang="zh-CN" altLang="en-US" dirty="0"/>
              <a:t>吗？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D0BDED4-2EBE-7097-3E3A-BE20DB29A5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sz="2400" dirty="0"/>
              <a:t>痛点：</a:t>
            </a:r>
            <a:endParaRPr lang="en-US" altLang="zh-CN" sz="2400" dirty="0"/>
          </a:p>
          <a:p>
            <a:pPr lvl="1"/>
            <a:r>
              <a:rPr lang="zh-CN" altLang="en-US" sz="2000" dirty="0"/>
              <a:t>在模型部署的实验中，经常会因为软件版本以及</a:t>
            </a:r>
            <a:r>
              <a:rPr lang="en-US" altLang="zh-CN" sz="2000" dirty="0"/>
              <a:t>container image</a:t>
            </a:r>
            <a:r>
              <a:rPr lang="zh-CN" altLang="en-US" sz="2000" dirty="0"/>
              <a:t>环境的因素，花费很多的时间来</a:t>
            </a:r>
            <a:r>
              <a:rPr lang="en-US" altLang="zh-CN" sz="2000" dirty="0"/>
              <a:t>debug</a:t>
            </a:r>
            <a:r>
              <a:rPr lang="zh-CN" altLang="en-US" sz="2000" dirty="0"/>
              <a:t>，因此选择或者</a:t>
            </a:r>
            <a:r>
              <a:rPr lang="en-US" altLang="zh-CN" sz="2000" dirty="0"/>
              <a:t>build</a:t>
            </a:r>
            <a:r>
              <a:rPr lang="zh-CN" altLang="en-US" sz="2000" dirty="0"/>
              <a:t>合适的</a:t>
            </a:r>
            <a:r>
              <a:rPr lang="en-US" altLang="zh-CN" sz="2000" dirty="0"/>
              <a:t>container image</a:t>
            </a:r>
            <a:r>
              <a:rPr lang="zh-CN" altLang="en-US" sz="2000" dirty="0"/>
              <a:t>就非常重要。</a:t>
            </a:r>
            <a:endParaRPr lang="en-US" altLang="zh-CN" sz="2000" dirty="0"/>
          </a:p>
          <a:p>
            <a:pPr lvl="2"/>
            <a:r>
              <a:rPr lang="en-US" altLang="zh-CN" sz="1600" b="1" dirty="0">
                <a:solidFill>
                  <a:srgbClr val="FF0000"/>
                </a:solidFill>
              </a:rPr>
              <a:t>Base container image</a:t>
            </a:r>
            <a:r>
              <a:rPr lang="zh-CN" altLang="en-US" sz="1600" b="1" dirty="0">
                <a:solidFill>
                  <a:srgbClr val="FF0000"/>
                </a:solidFill>
              </a:rPr>
              <a:t>的选择尤其重要</a:t>
            </a:r>
            <a:r>
              <a:rPr lang="zh-CN" altLang="en-US" sz="1600" dirty="0"/>
              <a:t>。</a:t>
            </a:r>
            <a:endParaRPr lang="en-US" altLang="zh-CN" sz="1600" dirty="0"/>
          </a:p>
          <a:p>
            <a:r>
              <a:rPr lang="zh-CN" altLang="en-US" sz="2400" dirty="0"/>
              <a:t>解决：</a:t>
            </a:r>
            <a:endParaRPr lang="en-US" altLang="zh-CN" sz="2400" dirty="0"/>
          </a:p>
          <a:p>
            <a:pPr lvl="1"/>
            <a:r>
              <a:rPr lang="zh-CN" altLang="en-US" sz="2000" dirty="0"/>
              <a:t>针对</a:t>
            </a:r>
            <a:r>
              <a:rPr lang="en-US" altLang="zh-CN" sz="2000" dirty="0"/>
              <a:t>P6-B300/P6-B200</a:t>
            </a:r>
            <a:r>
              <a:rPr lang="zh-CN" altLang="en-US" sz="2000" dirty="0"/>
              <a:t>的</a:t>
            </a:r>
            <a:r>
              <a:rPr lang="en-US" altLang="zh-CN" sz="2000" dirty="0" err="1"/>
              <a:t>SGLang</a:t>
            </a:r>
            <a:r>
              <a:rPr lang="zh-CN" altLang="en-US" sz="2000" dirty="0"/>
              <a:t>实验，建议参考</a:t>
            </a:r>
            <a:r>
              <a:rPr lang="en-US" altLang="zh-CN" sz="2000" dirty="0">
                <a:hlinkClick r:id="rId2"/>
              </a:rPr>
              <a:t>https://github.com/haozhx23/HyperPod-InstantStart/blob/main/ui-panel/templates/_samples/pd-glm/dockerfile</a:t>
            </a:r>
            <a:r>
              <a:rPr lang="en-US" altLang="zh-CN" sz="2000" dirty="0"/>
              <a:t> </a:t>
            </a:r>
            <a:r>
              <a:rPr lang="zh-CN" altLang="en-US" sz="2000" dirty="0"/>
              <a:t>来进行</a:t>
            </a:r>
            <a:r>
              <a:rPr lang="en-US" altLang="zh-CN" sz="2000" dirty="0"/>
              <a:t>build container image</a:t>
            </a:r>
            <a:r>
              <a:rPr lang="zh-CN" altLang="en-US" sz="2000" dirty="0"/>
              <a:t>。</a:t>
            </a:r>
            <a:endParaRPr lang="en-US" altLang="zh-CN" sz="2000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F66F3F1E-7B80-CA7F-7D4B-25C7719146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8120" y="4526324"/>
            <a:ext cx="6246788" cy="2220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001851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123417B-17F9-59A5-3790-BD916BB4E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146434"/>
          </a:xfrm>
        </p:spPr>
        <p:txBody>
          <a:bodyPr/>
          <a:lstStyle/>
          <a:p>
            <a:r>
              <a:rPr lang="en-US" dirty="0" err="1"/>
              <a:t>DeepGemm</a:t>
            </a:r>
            <a:r>
              <a:rPr lang="zh-CN" altLang="en-US" dirty="0"/>
              <a:t>的使用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7F8F8B1-FF8F-6D83-4207-883D7614C1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46243"/>
            <a:ext cx="10515600" cy="3688026"/>
          </a:xfrm>
        </p:spPr>
        <p:txBody>
          <a:bodyPr>
            <a:normAutofit/>
          </a:bodyPr>
          <a:lstStyle/>
          <a:p>
            <a:r>
              <a:rPr lang="zh-CN" altLang="en-US" dirty="0"/>
              <a:t>现象：</a:t>
            </a:r>
            <a:endParaRPr lang="en-US" altLang="zh-CN" dirty="0"/>
          </a:p>
          <a:p>
            <a:pPr lvl="1"/>
            <a:r>
              <a:rPr lang="zh-CN" altLang="en-US" dirty="0"/>
              <a:t>如果多节点部署模型，且</a:t>
            </a:r>
            <a:r>
              <a:rPr lang="en-US" altLang="zh-CN" dirty="0" err="1"/>
              <a:t>Deepgemm</a:t>
            </a:r>
            <a:r>
              <a:rPr lang="en-US" altLang="zh-CN" dirty="0"/>
              <a:t> cache</a:t>
            </a:r>
            <a:r>
              <a:rPr lang="zh-CN" altLang="en-US" dirty="0"/>
              <a:t>的路径是在共享的文件系统（比如</a:t>
            </a:r>
            <a:r>
              <a:rPr lang="en-US" altLang="zh-CN" dirty="0" err="1"/>
              <a:t>Fsx</a:t>
            </a:r>
            <a:r>
              <a:rPr lang="zh-CN" altLang="en-US" dirty="0"/>
              <a:t>上），那么多节点并发写入</a:t>
            </a:r>
            <a:r>
              <a:rPr lang="en-US" altLang="zh-CN" dirty="0" err="1"/>
              <a:t>Deepgemm</a:t>
            </a:r>
            <a:r>
              <a:rPr lang="en-US" altLang="zh-CN" dirty="0"/>
              <a:t> cache</a:t>
            </a:r>
            <a:r>
              <a:rPr lang="zh-CN" altLang="en-US" dirty="0"/>
              <a:t>可能会出问题。</a:t>
            </a:r>
            <a:endParaRPr lang="en-US" altLang="zh-CN" dirty="0"/>
          </a:p>
          <a:p>
            <a:r>
              <a:rPr lang="zh-CN" altLang="en-US" dirty="0"/>
              <a:t>解决：</a:t>
            </a:r>
            <a:endParaRPr lang="en-US" altLang="zh-CN" dirty="0"/>
          </a:p>
          <a:p>
            <a:pPr lvl="1"/>
            <a:r>
              <a:rPr lang="zh-CN" altLang="en-US" dirty="0"/>
              <a:t>把</a:t>
            </a:r>
            <a:r>
              <a:rPr lang="en-US" altLang="zh-CN" dirty="0" err="1"/>
              <a:t>Deepgemm</a:t>
            </a:r>
            <a:r>
              <a:rPr lang="en-US" altLang="zh-CN" dirty="0"/>
              <a:t> cache</a:t>
            </a:r>
            <a:r>
              <a:rPr lang="zh-CN" altLang="en-US" dirty="0"/>
              <a:t>的路径放在</a:t>
            </a:r>
            <a:r>
              <a:rPr lang="en-US" altLang="zh-CN" dirty="0"/>
              <a:t>local </a:t>
            </a:r>
            <a:r>
              <a:rPr lang="en-US" altLang="zh-CN" dirty="0" err="1"/>
              <a:t>Nvme</a:t>
            </a:r>
            <a:r>
              <a:rPr lang="zh-CN" altLang="en-US" dirty="0"/>
              <a:t>硬盘的本地路径（缺省路径是 </a:t>
            </a:r>
            <a:r>
              <a:rPr lang="en-US" dirty="0"/>
              <a:t>~/.cache/</a:t>
            </a:r>
            <a:r>
              <a:rPr lang="en-US" dirty="0" err="1"/>
              <a:t>deep_gemm</a:t>
            </a:r>
            <a:r>
              <a:rPr lang="en-US" dirty="0"/>
              <a:t>/cache </a:t>
            </a:r>
            <a:r>
              <a:rPr lang="zh-CN" altLang="en-US" dirty="0"/>
              <a:t>）。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06206665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5D4B994-92CD-802F-076A-A911D3E8A9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SGLang</a:t>
            </a:r>
            <a:r>
              <a:rPr lang="en-US" altLang="zh-CN" dirty="0"/>
              <a:t> server</a:t>
            </a:r>
            <a:r>
              <a:rPr lang="zh-CN" altLang="en-US" dirty="0"/>
              <a:t>初始化阶段</a:t>
            </a:r>
            <a:r>
              <a:rPr lang="en-US" altLang="zh-CN" dirty="0" err="1"/>
              <a:t>DeepEP</a:t>
            </a:r>
            <a:r>
              <a:rPr lang="en-US" altLang="zh-CN" dirty="0"/>
              <a:t> timeout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93E202A-11D6-D2E5-0CEC-7AC4A5EE62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15411"/>
            <a:ext cx="10515600" cy="4161551"/>
          </a:xfrm>
        </p:spPr>
        <p:txBody>
          <a:bodyPr/>
          <a:lstStyle/>
          <a:p>
            <a:r>
              <a:rPr lang="zh-CN" altLang="en-US" dirty="0"/>
              <a:t>现象：</a:t>
            </a:r>
            <a:endParaRPr lang="en-US" altLang="zh-CN" dirty="0"/>
          </a:p>
          <a:p>
            <a:pPr lvl="1"/>
            <a:r>
              <a:rPr lang="zh-CN" altLang="en-US" dirty="0"/>
              <a:t>在模型</a:t>
            </a:r>
            <a:r>
              <a:rPr lang="en-US" dirty="0"/>
              <a:t>ready</a:t>
            </a:r>
            <a:r>
              <a:rPr lang="zh-CN" altLang="en-US" dirty="0"/>
              <a:t> </a:t>
            </a:r>
            <a:r>
              <a:rPr lang="en-US" altLang="zh-CN" dirty="0"/>
              <a:t>to serve</a:t>
            </a:r>
            <a:r>
              <a:rPr lang="zh-CN" altLang="en-US" dirty="0"/>
              <a:t>之前，如果</a:t>
            </a:r>
            <a:r>
              <a:rPr lang="en-US" dirty="0" err="1"/>
              <a:t>Deepgemm</a:t>
            </a:r>
            <a:r>
              <a:rPr lang="en-US" dirty="0"/>
              <a:t> warmup</a:t>
            </a:r>
            <a:r>
              <a:rPr lang="zh-CN" altLang="en-US" dirty="0"/>
              <a:t>时间比较长的话，可能会发生 </a:t>
            </a:r>
            <a:r>
              <a:rPr lang="en-US" dirty="0" err="1"/>
              <a:t>DeepEP</a:t>
            </a:r>
            <a:r>
              <a:rPr lang="en-US" dirty="0"/>
              <a:t> error: timeout (dispatch CPU) </a:t>
            </a:r>
            <a:r>
              <a:rPr lang="zh-CN" altLang="en-US" dirty="0"/>
              <a:t>这样的错误。</a:t>
            </a:r>
            <a:endParaRPr lang="en-US" altLang="zh-CN" dirty="0"/>
          </a:p>
          <a:p>
            <a:r>
              <a:rPr lang="zh-CN" altLang="en-US" dirty="0"/>
              <a:t>解决：</a:t>
            </a:r>
            <a:endParaRPr lang="en-US" altLang="zh-CN" dirty="0"/>
          </a:p>
          <a:p>
            <a:pPr lvl="1"/>
            <a:r>
              <a:rPr lang="zh-CN" altLang="en-US" dirty="0"/>
              <a:t>一般重启一下</a:t>
            </a:r>
            <a:r>
              <a:rPr lang="en-US" altLang="zh-CN" dirty="0" err="1"/>
              <a:t>SGLang</a:t>
            </a:r>
            <a:r>
              <a:rPr lang="en-US" altLang="zh-CN" dirty="0"/>
              <a:t> server</a:t>
            </a:r>
            <a:r>
              <a:rPr lang="zh-CN" altLang="en-US" dirty="0"/>
              <a:t>就能解决。</a:t>
            </a:r>
          </a:p>
          <a:p>
            <a:pPr lvl="2"/>
            <a:r>
              <a:rPr lang="zh-CN" altLang="en-US" dirty="0"/>
              <a:t>已经编译过的部分</a:t>
            </a:r>
            <a:r>
              <a:rPr lang="en-US" altLang="zh-CN" dirty="0" err="1"/>
              <a:t>Deepgeem</a:t>
            </a:r>
            <a:r>
              <a:rPr lang="zh-CN" altLang="en-US" dirty="0"/>
              <a:t>的</a:t>
            </a:r>
            <a:r>
              <a:rPr lang="en-US" altLang="zh-CN" dirty="0"/>
              <a:t>kernel</a:t>
            </a:r>
            <a:r>
              <a:rPr lang="zh-CN" altLang="en-US" dirty="0"/>
              <a:t>会命中</a:t>
            </a:r>
            <a:r>
              <a:rPr lang="en-US" altLang="zh-CN" dirty="0" err="1"/>
              <a:t>deepgemm</a:t>
            </a:r>
            <a:r>
              <a:rPr lang="en-US" altLang="zh-CN" dirty="0"/>
              <a:t> cache</a:t>
            </a:r>
            <a:r>
              <a:rPr lang="zh-CN" altLang="en-US" dirty="0"/>
              <a:t>从而直接跳过，因此节省了一些时间，就不容易</a:t>
            </a:r>
            <a:r>
              <a:rPr lang="en-US" altLang="zh-CN" dirty="0" err="1"/>
              <a:t>DeepEP</a:t>
            </a:r>
            <a:r>
              <a:rPr lang="en-US" altLang="zh-CN" dirty="0"/>
              <a:t> timeout</a:t>
            </a:r>
            <a:r>
              <a:rPr lang="zh-CN" altLang="en-US" dirty="0"/>
              <a:t>了。</a:t>
            </a:r>
            <a:endParaRPr lang="en-US" altLang="zh-CN" dirty="0"/>
          </a:p>
          <a:p>
            <a:pPr lvl="1"/>
            <a:r>
              <a:rPr lang="zh-CN" altLang="en-US" b="1" dirty="0"/>
              <a:t>貌似没有特别的</a:t>
            </a:r>
            <a:r>
              <a:rPr lang="en-US" altLang="zh-CN" b="1" dirty="0"/>
              <a:t>timeout</a:t>
            </a:r>
            <a:r>
              <a:rPr lang="zh-CN" altLang="en-US" b="1" dirty="0"/>
              <a:t>参数或者环境变量来控制这个</a:t>
            </a:r>
            <a:r>
              <a:rPr lang="zh-CN" altLang="en-US" dirty="0"/>
              <a:t>。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072133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D894774-0B92-A528-27B3-CBA5D4E1E4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205057"/>
          </a:xfrm>
        </p:spPr>
        <p:txBody>
          <a:bodyPr/>
          <a:lstStyle/>
          <a:p>
            <a:r>
              <a:rPr lang="zh-CN" altLang="en-US" dirty="0"/>
              <a:t>模型存储的影响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19C5651-EBC4-7F57-55A3-36CCB6DE1B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93454"/>
            <a:ext cx="10515600" cy="4017819"/>
          </a:xfrm>
        </p:spPr>
        <p:txBody>
          <a:bodyPr>
            <a:normAutofit/>
          </a:bodyPr>
          <a:lstStyle/>
          <a:p>
            <a:r>
              <a:rPr lang="zh-CN" altLang="en-US" dirty="0"/>
              <a:t>现象：</a:t>
            </a:r>
            <a:endParaRPr lang="en-US" altLang="zh-CN" dirty="0"/>
          </a:p>
          <a:p>
            <a:pPr lvl="1"/>
            <a:r>
              <a:rPr lang="en-US" altLang="zh-CN" b="1" dirty="0" err="1"/>
              <a:t>SGLang</a:t>
            </a:r>
            <a:r>
              <a:rPr lang="en-US" altLang="zh-CN" b="1" dirty="0"/>
              <a:t> server</a:t>
            </a:r>
            <a:r>
              <a:rPr lang="zh-CN" altLang="en-US" b="1" dirty="0"/>
              <a:t>花费超出预期很长的时间加载模型</a:t>
            </a:r>
            <a:r>
              <a:rPr lang="zh-CN" altLang="en-US" dirty="0"/>
              <a:t>。</a:t>
            </a:r>
            <a:endParaRPr lang="en-US" altLang="zh-CN" dirty="0"/>
          </a:p>
          <a:p>
            <a:pPr lvl="2"/>
            <a:r>
              <a:rPr lang="zh-CN" altLang="en-US" b="1" dirty="0"/>
              <a:t>从</a:t>
            </a:r>
            <a:r>
              <a:rPr lang="en-US" altLang="zh-CN" b="1" dirty="0" err="1"/>
              <a:t>SGL</a:t>
            </a:r>
            <a:r>
              <a:rPr lang="en-US" b="1" dirty="0" err="1"/>
              <a:t>ang</a:t>
            </a:r>
            <a:r>
              <a:rPr lang="zh-CN" altLang="en-US" b="1" dirty="0"/>
              <a:t>的日志中，其实看不出来模型从存储系统加载到系统</a:t>
            </a:r>
            <a:r>
              <a:rPr lang="en-US" b="1" dirty="0"/>
              <a:t>RAM</a:t>
            </a:r>
            <a:r>
              <a:rPr lang="zh-CN" altLang="en-US" b="1" dirty="0"/>
              <a:t>的耗时情况</a:t>
            </a:r>
            <a:r>
              <a:rPr lang="zh-CN" altLang="en-US" dirty="0"/>
              <a:t>。日志中的</a:t>
            </a:r>
            <a:r>
              <a:rPr lang="en-US" b="1" dirty="0">
                <a:solidFill>
                  <a:srgbClr val="FF0000"/>
                </a:solidFill>
              </a:rPr>
              <a:t>loading </a:t>
            </a:r>
            <a:r>
              <a:rPr lang="en-US" b="1" dirty="0" err="1">
                <a:solidFill>
                  <a:srgbClr val="FF0000"/>
                </a:solidFill>
              </a:rPr>
              <a:t>safetensors</a:t>
            </a:r>
            <a:r>
              <a:rPr lang="en-US" b="1" dirty="0">
                <a:solidFill>
                  <a:srgbClr val="FF0000"/>
                </a:solidFill>
              </a:rPr>
              <a:t> checkpoint complete</a:t>
            </a:r>
            <a:r>
              <a:rPr lang="zh-CN" altLang="en-US" b="1" dirty="0">
                <a:solidFill>
                  <a:srgbClr val="FF0000"/>
                </a:solidFill>
              </a:rPr>
              <a:t>其实是误导信号</a:t>
            </a:r>
            <a:r>
              <a:rPr lang="zh-CN" altLang="en-US" dirty="0"/>
              <a:t>。</a:t>
            </a:r>
          </a:p>
          <a:p>
            <a:pPr lvl="3"/>
            <a:r>
              <a:rPr lang="zh-CN" altLang="en-US" dirty="0"/>
              <a:t>为什么这么说？在一个实验中使用单节点部署</a:t>
            </a:r>
            <a:r>
              <a:rPr lang="en-US" dirty="0"/>
              <a:t>Kimi2.5 INT4</a:t>
            </a:r>
            <a:r>
              <a:rPr lang="zh-CN" altLang="en-US" dirty="0"/>
              <a:t>模型的时候，不管是</a:t>
            </a:r>
            <a:r>
              <a:rPr lang="en-US" dirty="0"/>
              <a:t>EP1</a:t>
            </a:r>
            <a:r>
              <a:rPr lang="zh-CN" altLang="en-US" dirty="0"/>
              <a:t>还是</a:t>
            </a:r>
            <a:r>
              <a:rPr lang="en-US" dirty="0"/>
              <a:t>EP8，</a:t>
            </a:r>
            <a:r>
              <a:rPr lang="zh-CN" altLang="en-US" dirty="0"/>
              <a:t>整个模型加载速度都比较慢，大概</a:t>
            </a:r>
            <a:r>
              <a:rPr lang="en-US" altLang="zh-CN" dirty="0"/>
              <a:t>25</a:t>
            </a:r>
            <a:r>
              <a:rPr lang="zh-CN" altLang="en-US" dirty="0"/>
              <a:t>分钟左右。从“</a:t>
            </a:r>
            <a:r>
              <a:rPr lang="en-US" dirty="0"/>
              <a:t>loading </a:t>
            </a:r>
            <a:r>
              <a:rPr lang="en-US" dirty="0" err="1"/>
              <a:t>safetensors</a:t>
            </a:r>
            <a:r>
              <a:rPr lang="en-US" dirty="0"/>
              <a:t> checkpoint complete”</a:t>
            </a:r>
            <a:r>
              <a:rPr lang="zh-CN" altLang="en-US" dirty="0"/>
              <a:t>到“</a:t>
            </a:r>
            <a:r>
              <a:rPr lang="en-US" dirty="0"/>
              <a:t>load weight end”</a:t>
            </a:r>
            <a:r>
              <a:rPr lang="zh-CN" altLang="en-US" dirty="0"/>
              <a:t>这个时间要</a:t>
            </a:r>
            <a:r>
              <a:rPr lang="en-US" altLang="zh-CN" dirty="0"/>
              <a:t>25</a:t>
            </a:r>
            <a:r>
              <a:rPr lang="zh-CN" altLang="en-US" dirty="0"/>
              <a:t>分钟，如果“</a:t>
            </a:r>
            <a:r>
              <a:rPr lang="en-US" dirty="0"/>
              <a:t>loading </a:t>
            </a:r>
            <a:r>
              <a:rPr lang="en-US" dirty="0" err="1"/>
              <a:t>safetensors</a:t>
            </a:r>
            <a:r>
              <a:rPr lang="en-US" dirty="0"/>
              <a:t> checkpoint complete”</a:t>
            </a:r>
            <a:r>
              <a:rPr lang="zh-CN" altLang="en-US" dirty="0"/>
              <a:t>表示从存储加载到了系统</a:t>
            </a:r>
            <a:r>
              <a:rPr lang="en-US" dirty="0"/>
              <a:t>RAM，</a:t>
            </a:r>
            <a:r>
              <a:rPr lang="zh-CN" altLang="en-US" dirty="0"/>
              <a:t>那么剩下的时间就是模型</a:t>
            </a:r>
            <a:r>
              <a:rPr lang="en-US" dirty="0"/>
              <a:t>weight </a:t>
            </a:r>
            <a:r>
              <a:rPr lang="zh-CN" altLang="en-US" dirty="0"/>
              <a:t>从系统</a:t>
            </a:r>
            <a:r>
              <a:rPr lang="en-US" dirty="0"/>
              <a:t>RAM shard</a:t>
            </a:r>
            <a:r>
              <a:rPr lang="zh-CN" altLang="en-US" dirty="0"/>
              <a:t>到不同</a:t>
            </a:r>
            <a:r>
              <a:rPr lang="en-US" dirty="0"/>
              <a:t>GPU</a:t>
            </a:r>
            <a:r>
              <a:rPr lang="zh-CN" altLang="en-US" dirty="0"/>
              <a:t>的时间，无论如何不应该这么慢。</a:t>
            </a:r>
            <a:endParaRPr lang="en-US" altLang="zh-CN" dirty="0"/>
          </a:p>
          <a:p>
            <a:pPr lvl="3"/>
            <a:r>
              <a:rPr lang="en-US" b="1" dirty="0"/>
              <a:t>GitHub issue</a:t>
            </a:r>
            <a:r>
              <a:rPr lang="en-US" dirty="0"/>
              <a:t> </a:t>
            </a:r>
            <a:r>
              <a:rPr lang="en-US" dirty="0">
                <a:hlinkClick r:id="rId2"/>
              </a:rPr>
              <a:t>https://github.com/</a:t>
            </a:r>
            <a:r>
              <a:rPr lang="en-US" dirty="0" err="1">
                <a:hlinkClick r:id="rId2"/>
              </a:rPr>
              <a:t>sgl</a:t>
            </a:r>
            <a:r>
              <a:rPr lang="en-US" dirty="0">
                <a:hlinkClick r:id="rId2"/>
              </a:rPr>
              <a:t>-project/</a:t>
            </a:r>
            <a:r>
              <a:rPr lang="en-US" dirty="0" err="1">
                <a:hlinkClick r:id="rId2"/>
              </a:rPr>
              <a:t>sglang</a:t>
            </a:r>
            <a:r>
              <a:rPr lang="en-US" dirty="0">
                <a:hlinkClick r:id="rId2"/>
              </a:rPr>
              <a:t>/issues/17970（</a:t>
            </a:r>
            <a:r>
              <a:rPr lang="zh-CN" altLang="en-US" dirty="0">
                <a:hlinkClick r:id="rId2"/>
              </a:rPr>
              <a:t>针对</a:t>
            </a:r>
            <a:r>
              <a:rPr lang="zh-CN" altLang="en-US" dirty="0"/>
              <a:t> </a:t>
            </a:r>
            <a:r>
              <a:rPr lang="en-US" dirty="0"/>
              <a:t>Kimi-K2.5）</a:t>
            </a:r>
            <a:r>
              <a:rPr lang="zh-CN" altLang="en-US" dirty="0"/>
              <a:t>指出：进度条 </a:t>
            </a:r>
            <a:r>
              <a:rPr lang="en-US" altLang="zh-CN" dirty="0"/>
              <a:t>"</a:t>
            </a:r>
            <a:r>
              <a:rPr lang="en-US" dirty="0"/>
              <a:t>Multi-threaded loading of shards: 100%" </a:t>
            </a:r>
            <a:r>
              <a:rPr lang="zh-CN" altLang="en-US" dirty="0"/>
              <a:t>只反映了 </a:t>
            </a:r>
            <a:r>
              <a:rPr lang="en-US" dirty="0" err="1"/>
              <a:t>mmap</a:t>
            </a:r>
            <a:r>
              <a:rPr lang="en-US" dirty="0"/>
              <a:t> </a:t>
            </a:r>
            <a:r>
              <a:rPr lang="zh-CN" altLang="en-US" dirty="0"/>
              <a:t>映射操作，真正的磁盘读取、</a:t>
            </a:r>
            <a:r>
              <a:rPr lang="en-US" dirty="0"/>
              <a:t>tensor </a:t>
            </a:r>
            <a:r>
              <a:rPr lang="zh-CN" altLang="en-US" dirty="0"/>
              <a:t>映射、</a:t>
            </a:r>
            <a:r>
              <a:rPr lang="en-US" dirty="0"/>
              <a:t>CPU→GPU </a:t>
            </a:r>
            <a:r>
              <a:rPr lang="zh-CN" altLang="en-US" dirty="0"/>
              <a:t>拷贝在进度条 </a:t>
            </a:r>
            <a:r>
              <a:rPr lang="en-US" altLang="zh-CN" dirty="0"/>
              <a:t>100% </a:t>
            </a:r>
            <a:r>
              <a:rPr lang="zh-CN" altLang="en-US" dirty="0"/>
              <a:t>之后才开始，中间会有很长时间的</a:t>
            </a:r>
            <a:r>
              <a:rPr lang="en-US" altLang="zh-CN" dirty="0"/>
              <a:t>"</a:t>
            </a:r>
            <a:r>
              <a:rPr lang="zh-CN" altLang="en-US" dirty="0"/>
              <a:t>假卡住</a:t>
            </a:r>
            <a:r>
              <a:rPr lang="en-US" altLang="zh-CN" dirty="0"/>
              <a:t>"</a:t>
            </a:r>
            <a:r>
              <a:rPr lang="zh-CN" altLang="en-US" dirty="0"/>
              <a:t>。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425369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B6D2D2D-BA1F-7090-A65D-4B6E32EEC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</a:t>
            </a:r>
            <a:r>
              <a:rPr lang="en-US" altLang="zh-CN" dirty="0"/>
              <a:t>ontinue….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1DB2340-4166-74A1-4D4C-301874EE26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解决：</a:t>
            </a:r>
            <a:endParaRPr lang="en-US" altLang="zh-CN" dirty="0"/>
          </a:p>
          <a:p>
            <a:pPr lvl="1"/>
            <a:r>
              <a:rPr lang="zh-CN" altLang="en-US" dirty="0"/>
              <a:t>试了很多办法，最后尝试把模型保存在</a:t>
            </a:r>
            <a:r>
              <a:rPr lang="en-US" dirty="0"/>
              <a:t>local NVME</a:t>
            </a:r>
            <a:r>
              <a:rPr lang="zh-CN" altLang="en-US" dirty="0"/>
              <a:t>，模型加载速度提升非常非常快。</a:t>
            </a:r>
          </a:p>
          <a:p>
            <a:pPr lvl="2"/>
            <a:r>
              <a:rPr lang="zh-CN" altLang="en-US" dirty="0"/>
              <a:t>之前为了省事，把模型保存到了</a:t>
            </a:r>
            <a:r>
              <a:rPr lang="en-US" dirty="0" err="1"/>
              <a:t>Fsx</a:t>
            </a:r>
            <a:r>
              <a:rPr lang="en-US" dirty="0"/>
              <a:t> for </a:t>
            </a:r>
            <a:r>
              <a:rPr lang="en-US" dirty="0" err="1"/>
              <a:t>lustre</a:t>
            </a:r>
            <a:r>
              <a:rPr lang="en-US" dirty="0"/>
              <a:t>（</a:t>
            </a:r>
            <a:r>
              <a:rPr lang="zh-CN" altLang="en-US" dirty="0"/>
              <a:t>没有用</a:t>
            </a:r>
            <a:r>
              <a:rPr lang="en-US" dirty="0"/>
              <a:t>S3 backend）。</a:t>
            </a:r>
            <a:r>
              <a:rPr lang="zh-CN" altLang="en-US" dirty="0"/>
              <a:t>也尝试了提升</a:t>
            </a:r>
            <a:r>
              <a:rPr lang="en-US" dirty="0" err="1"/>
              <a:t>Fsx</a:t>
            </a:r>
            <a:r>
              <a:rPr lang="en-US" dirty="0"/>
              <a:t> </a:t>
            </a:r>
            <a:r>
              <a:rPr lang="zh-CN" altLang="en-US" dirty="0"/>
              <a:t>的吞吐，查看了</a:t>
            </a:r>
            <a:r>
              <a:rPr lang="en-US" dirty="0"/>
              <a:t>Metadata IOPS</a:t>
            </a:r>
            <a:r>
              <a:rPr lang="zh-CN" altLang="en-US" dirty="0"/>
              <a:t>也不是瓶颈。</a:t>
            </a:r>
          </a:p>
          <a:p>
            <a:r>
              <a:rPr lang="en-US" dirty="0"/>
              <a:t>Tips：</a:t>
            </a:r>
          </a:p>
          <a:p>
            <a:pPr lvl="1"/>
            <a:r>
              <a:rPr lang="zh-CN" altLang="en-US" b="1" dirty="0">
                <a:solidFill>
                  <a:srgbClr val="FF0000"/>
                </a:solidFill>
              </a:rPr>
              <a:t>对于参数量比较大的模型，建议在</a:t>
            </a:r>
            <a:r>
              <a:rPr lang="en-US" b="1" dirty="0">
                <a:solidFill>
                  <a:srgbClr val="FF0000"/>
                </a:solidFill>
              </a:rPr>
              <a:t>serving</a:t>
            </a:r>
            <a:r>
              <a:rPr lang="zh-CN" altLang="en-US" b="1" dirty="0">
                <a:solidFill>
                  <a:srgbClr val="FF0000"/>
                </a:solidFill>
              </a:rPr>
              <a:t>框架启动前，把模型从某个共享的文件系统或者对象存储系统下载到</a:t>
            </a:r>
            <a:r>
              <a:rPr lang="en-US" b="1" dirty="0">
                <a:solidFill>
                  <a:srgbClr val="FF0000"/>
                </a:solidFill>
              </a:rPr>
              <a:t>GPU</a:t>
            </a:r>
            <a:r>
              <a:rPr lang="zh-CN" altLang="en-US" b="1" dirty="0">
                <a:solidFill>
                  <a:srgbClr val="FF0000"/>
                </a:solidFill>
              </a:rPr>
              <a:t>实例的</a:t>
            </a:r>
            <a:r>
              <a:rPr lang="en-US" b="1" dirty="0">
                <a:solidFill>
                  <a:srgbClr val="FF0000"/>
                </a:solidFill>
              </a:rPr>
              <a:t>local </a:t>
            </a:r>
            <a:r>
              <a:rPr lang="en-US" b="1" dirty="0" err="1">
                <a:solidFill>
                  <a:srgbClr val="FF0000"/>
                </a:solidFill>
              </a:rPr>
              <a:t>Nvme</a:t>
            </a:r>
            <a:r>
              <a:rPr lang="zh-CN" altLang="en-US" b="1" dirty="0">
                <a:solidFill>
                  <a:srgbClr val="FF0000"/>
                </a:solidFill>
              </a:rPr>
              <a:t>硬盘</a:t>
            </a:r>
            <a:r>
              <a:rPr lang="zh-CN" altLang="en-US" dirty="0"/>
              <a:t>。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193523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AE6A47E-F523-ABFD-1244-94A3D6A95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开源框架和软件库的坑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35FB529-4904-DA97-149A-4574D77CD7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36710"/>
            <a:ext cx="10515600" cy="3909527"/>
          </a:xfrm>
        </p:spPr>
        <p:txBody>
          <a:bodyPr>
            <a:normAutofit/>
          </a:bodyPr>
          <a:lstStyle/>
          <a:p>
            <a:r>
              <a:rPr lang="en-US" altLang="zh-CN" dirty="0"/>
              <a:t>UCCL-EP</a:t>
            </a:r>
            <a:r>
              <a:rPr lang="zh-CN" altLang="en-US" dirty="0"/>
              <a:t>的坑：</a:t>
            </a:r>
            <a:endParaRPr lang="en-US" altLang="zh-CN" dirty="0"/>
          </a:p>
          <a:p>
            <a:pPr lvl="1"/>
            <a:r>
              <a:rPr lang="en-US" dirty="0"/>
              <a:t>UCCL-EP</a:t>
            </a:r>
            <a:r>
              <a:rPr lang="zh-CN" altLang="en-US" dirty="0"/>
              <a:t> </a:t>
            </a:r>
            <a:r>
              <a:rPr lang="en-US" altLang="zh-CN" dirty="0"/>
              <a:t>on G7e</a:t>
            </a:r>
            <a:r>
              <a:rPr lang="zh-CN" altLang="en-US" dirty="0"/>
              <a:t>的坑：</a:t>
            </a:r>
          </a:p>
          <a:p>
            <a:pPr lvl="2"/>
            <a:r>
              <a:rPr lang="en-US" dirty="0"/>
              <a:t>UCCL-EP </a:t>
            </a:r>
            <a:r>
              <a:rPr lang="zh-CN" altLang="en-US" dirty="0"/>
              <a:t>的 </a:t>
            </a:r>
            <a:r>
              <a:rPr lang="en-US" dirty="0"/>
              <a:t>rdma.cpp </a:t>
            </a:r>
            <a:r>
              <a:rPr lang="zh-CN" altLang="en-US" dirty="0"/>
              <a:t>中</a:t>
            </a:r>
            <a:r>
              <a:rPr lang="zh-CN" altLang="en-US" b="1" dirty="0"/>
              <a:t>硬编码了三种 </a:t>
            </a:r>
            <a:r>
              <a:rPr lang="en-US" b="1" dirty="0"/>
              <a:t>EFA </a:t>
            </a:r>
            <a:r>
              <a:rPr lang="zh-CN" altLang="en-US" b="1" dirty="0"/>
              <a:t>拓扑</a:t>
            </a:r>
            <a:r>
              <a:rPr lang="zh-CN" altLang="en-US" dirty="0"/>
              <a:t>：只支持 </a:t>
            </a:r>
            <a:r>
              <a:rPr lang="en-US" altLang="zh-CN" dirty="0"/>
              <a:t>32 </a:t>
            </a:r>
            <a:r>
              <a:rPr lang="en-US" dirty="0"/>
              <a:t>EFA 、16 EFA 、8 EFA 。</a:t>
            </a:r>
            <a:r>
              <a:rPr lang="zh-CN" altLang="en-US" dirty="0"/>
              <a:t>我们的 </a:t>
            </a:r>
            <a:r>
              <a:rPr lang="en-US" dirty="0"/>
              <a:t>G7e.48xlarge </a:t>
            </a:r>
            <a:r>
              <a:rPr lang="zh-CN" altLang="en-US" dirty="0"/>
              <a:t>只有 </a:t>
            </a:r>
            <a:r>
              <a:rPr lang="en-US" altLang="zh-CN" dirty="0"/>
              <a:t>4 </a:t>
            </a:r>
            <a:r>
              <a:rPr lang="en-US" dirty="0"/>
              <a:t>EFA，</a:t>
            </a:r>
            <a:r>
              <a:rPr lang="zh-CN" altLang="en-US" dirty="0"/>
              <a:t>不在支持列表中。</a:t>
            </a:r>
          </a:p>
          <a:p>
            <a:pPr lvl="2"/>
            <a:r>
              <a:rPr lang="en-US" dirty="0"/>
              <a:t>UCCL-EP</a:t>
            </a:r>
            <a:r>
              <a:rPr lang="zh-CN" altLang="en-US" dirty="0"/>
              <a:t>的</a:t>
            </a:r>
            <a:r>
              <a:rPr lang="en-US" altLang="zh-CN" dirty="0"/>
              <a:t>N</a:t>
            </a:r>
            <a:r>
              <a:rPr lang="en-US" dirty="0"/>
              <a:t>ormal mode</a:t>
            </a:r>
            <a:r>
              <a:rPr lang="zh-CN" altLang="en-US" dirty="0"/>
              <a:t>不支持</a:t>
            </a:r>
            <a:r>
              <a:rPr lang="en-US" altLang="zh-CN" dirty="0"/>
              <a:t>N</a:t>
            </a:r>
            <a:r>
              <a:rPr lang="en-US" dirty="0"/>
              <a:t>on-</a:t>
            </a:r>
            <a:r>
              <a:rPr lang="en-US" dirty="0" err="1"/>
              <a:t>Nvlink</a:t>
            </a:r>
            <a:r>
              <a:rPr lang="zh-CN" altLang="en-US" dirty="0"/>
              <a:t>的环境。所以</a:t>
            </a:r>
            <a:r>
              <a:rPr lang="en-US" dirty="0"/>
              <a:t>G7e</a:t>
            </a:r>
            <a:r>
              <a:rPr lang="zh-CN" altLang="en-US" dirty="0"/>
              <a:t>上也不支持</a:t>
            </a:r>
            <a:r>
              <a:rPr lang="en-US" dirty="0"/>
              <a:t>UCCL-EP（</a:t>
            </a:r>
            <a:r>
              <a:rPr lang="zh-CN" altLang="en-US" dirty="0"/>
              <a:t>因为</a:t>
            </a:r>
            <a:r>
              <a:rPr lang="en-US" dirty="0"/>
              <a:t>G7e</a:t>
            </a:r>
            <a:r>
              <a:rPr lang="zh-CN" altLang="en-US" dirty="0"/>
              <a:t>实例没有</a:t>
            </a:r>
            <a:r>
              <a:rPr lang="en-US" altLang="zh-CN" dirty="0" err="1"/>
              <a:t>N</a:t>
            </a:r>
            <a:r>
              <a:rPr lang="en-US" dirty="0" err="1"/>
              <a:t>vlink</a:t>
            </a:r>
            <a:r>
              <a:rPr lang="en-US" dirty="0"/>
              <a:t>）。</a:t>
            </a:r>
          </a:p>
          <a:p>
            <a:pPr lvl="2"/>
            <a:r>
              <a:rPr lang="zh-CN" altLang="en-US" dirty="0"/>
              <a:t>把</a:t>
            </a:r>
            <a:r>
              <a:rPr lang="en-US" altLang="zh-CN" dirty="0"/>
              <a:t>P</a:t>
            </a:r>
            <a:r>
              <a:rPr lang="en-US" dirty="0"/>
              <a:t>refill server</a:t>
            </a:r>
            <a:r>
              <a:rPr lang="zh-CN" altLang="en-US" dirty="0"/>
              <a:t>设置为</a:t>
            </a:r>
            <a:r>
              <a:rPr lang="en-US" altLang="zh-CN" dirty="0"/>
              <a:t>UCCL-EP </a:t>
            </a:r>
            <a:r>
              <a:rPr lang="en-US" dirty="0"/>
              <a:t>low latency mode，</a:t>
            </a:r>
            <a:r>
              <a:rPr lang="zh-CN" altLang="en-US" dirty="0"/>
              <a:t>在</a:t>
            </a:r>
            <a:r>
              <a:rPr lang="en-US" dirty="0"/>
              <a:t>G7e</a:t>
            </a:r>
            <a:r>
              <a:rPr lang="zh-CN" altLang="en-US" dirty="0"/>
              <a:t>上也不</a:t>
            </a:r>
            <a:r>
              <a:rPr lang="en-US" dirty="0"/>
              <a:t>work。</a:t>
            </a:r>
          </a:p>
          <a:p>
            <a:pPr lvl="1"/>
            <a:endParaRPr lang="en-US" altLang="zh-CN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237805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1A2BA74-7197-2352-0138-2DE778ABA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</a:t>
            </a:r>
            <a:r>
              <a:rPr lang="en-US" altLang="zh-CN" dirty="0"/>
              <a:t>ontinue….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5563F00-EDCB-9132-95CA-F5A8E03E66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NIXL</a:t>
            </a:r>
            <a:r>
              <a:rPr lang="zh-CN" altLang="en-US" dirty="0"/>
              <a:t>的坑：</a:t>
            </a:r>
            <a:endParaRPr lang="en-US" altLang="zh-CN" dirty="0"/>
          </a:p>
          <a:p>
            <a:pPr lvl="1"/>
            <a:r>
              <a:rPr lang="zh-CN" altLang="en-US" dirty="0"/>
              <a:t>在测试</a:t>
            </a:r>
            <a:r>
              <a:rPr lang="en-US" altLang="zh-CN" dirty="0"/>
              <a:t>mimo-v2-flash</a:t>
            </a:r>
            <a:r>
              <a:rPr lang="zh-CN" altLang="en-US" dirty="0"/>
              <a:t> </a:t>
            </a:r>
            <a:r>
              <a:rPr lang="en-US" altLang="zh-CN" dirty="0"/>
              <a:t>FP8</a:t>
            </a:r>
            <a:r>
              <a:rPr lang="zh-CN" altLang="en-US" dirty="0"/>
              <a:t> </a:t>
            </a:r>
            <a:r>
              <a:rPr lang="en-US" altLang="zh-CN" dirty="0"/>
              <a:t>on </a:t>
            </a:r>
            <a:r>
              <a:rPr lang="en-US" altLang="zh-CN" dirty="0" err="1"/>
              <a:t>SGLang</a:t>
            </a:r>
            <a:r>
              <a:rPr lang="en-US" altLang="zh-CN" dirty="0"/>
              <a:t> + NIXL</a:t>
            </a:r>
            <a:r>
              <a:rPr lang="zh-CN" altLang="en-US" dirty="0"/>
              <a:t>的时候，发现</a:t>
            </a:r>
            <a:r>
              <a:rPr lang="en-US" altLang="zh-CN" dirty="0"/>
              <a:t>NIXL</a:t>
            </a:r>
            <a:r>
              <a:rPr lang="zh-CN" altLang="en-US" dirty="0"/>
              <a:t>对于</a:t>
            </a:r>
            <a:r>
              <a:rPr lang="en-US" altLang="zh-CN" dirty="0"/>
              <a:t>Mimo-v2</a:t>
            </a:r>
            <a:r>
              <a:rPr lang="zh-CN" altLang="en-US" dirty="0"/>
              <a:t>支持的不太好。</a:t>
            </a:r>
            <a:endParaRPr lang="en-US" altLang="zh-CN" dirty="0"/>
          </a:p>
          <a:p>
            <a:pPr lvl="2"/>
            <a:r>
              <a:rPr lang="zh-CN" altLang="en-US" b="1" dirty="0">
                <a:solidFill>
                  <a:srgbClr val="FF0000"/>
                </a:solidFill>
              </a:rPr>
              <a:t>不仅是有</a:t>
            </a:r>
            <a:r>
              <a:rPr lang="en-US" altLang="zh-CN" b="1" dirty="0">
                <a:solidFill>
                  <a:srgbClr val="FF0000"/>
                </a:solidFill>
              </a:rPr>
              <a:t>KV transfer </a:t>
            </a:r>
            <a:r>
              <a:rPr lang="zh-CN" altLang="en-US" b="1" dirty="0">
                <a:solidFill>
                  <a:srgbClr val="FF0000"/>
                </a:solidFill>
              </a:rPr>
              <a:t>乱码的</a:t>
            </a:r>
            <a:r>
              <a:rPr lang="en-US" altLang="zh-CN" b="1" dirty="0">
                <a:solidFill>
                  <a:srgbClr val="FF0000"/>
                </a:solidFill>
              </a:rPr>
              <a:t>bug</a:t>
            </a:r>
            <a:r>
              <a:rPr lang="zh-CN" altLang="en-US" b="1" dirty="0">
                <a:solidFill>
                  <a:srgbClr val="FF0000"/>
                </a:solidFill>
              </a:rPr>
              <a:t>，性能还很差</a:t>
            </a:r>
            <a:r>
              <a:rPr lang="zh-CN" altLang="en-US" dirty="0"/>
              <a:t>。</a:t>
            </a:r>
            <a:endParaRPr lang="en-US" altLang="zh-CN" dirty="0"/>
          </a:p>
          <a:p>
            <a:pPr lvl="3"/>
            <a:r>
              <a:rPr lang="en-US" altLang="zh-CN" dirty="0"/>
              <a:t>SSA Team</a:t>
            </a:r>
            <a:r>
              <a:rPr lang="zh-CN" altLang="en-US" dirty="0"/>
              <a:t>其他同事尝试了使用新版本</a:t>
            </a:r>
            <a:r>
              <a:rPr lang="en-US" altLang="zh-CN" dirty="0" err="1"/>
              <a:t>SGLang</a:t>
            </a:r>
            <a:r>
              <a:rPr lang="zh-CN" altLang="en-US" dirty="0"/>
              <a:t> </a:t>
            </a:r>
            <a:r>
              <a:rPr lang="en-US" altLang="zh-CN" dirty="0"/>
              <a:t>+</a:t>
            </a:r>
            <a:r>
              <a:rPr lang="zh-CN" altLang="en-US" dirty="0"/>
              <a:t> </a:t>
            </a:r>
            <a:r>
              <a:rPr lang="en-US" altLang="zh-CN" dirty="0"/>
              <a:t>NIXL</a:t>
            </a:r>
            <a:r>
              <a:rPr lang="zh-CN" altLang="en-US" dirty="0"/>
              <a:t>跑</a:t>
            </a:r>
            <a:r>
              <a:rPr lang="en-US" altLang="zh-CN" dirty="0"/>
              <a:t>mimo-v2</a:t>
            </a:r>
            <a:r>
              <a:rPr lang="zh-CN" altLang="en-US" dirty="0"/>
              <a:t>，性能不好。</a:t>
            </a:r>
            <a:endParaRPr lang="en-US" altLang="zh-CN" dirty="0"/>
          </a:p>
          <a:p>
            <a:pPr lvl="3"/>
            <a:r>
              <a:rPr lang="zh-CN" altLang="en-US" b="1" dirty="0"/>
              <a:t>我使用旧版本</a:t>
            </a:r>
            <a:r>
              <a:rPr lang="en-US" altLang="zh-CN" b="1" dirty="0" err="1"/>
              <a:t>SGLang</a:t>
            </a:r>
            <a:r>
              <a:rPr lang="en-US" altLang="zh-CN" b="1" dirty="0"/>
              <a:t> + NIXL</a:t>
            </a:r>
            <a:r>
              <a:rPr lang="zh-CN" altLang="en-US" b="1" dirty="0"/>
              <a:t>，修改了很多</a:t>
            </a:r>
            <a:r>
              <a:rPr lang="en-US" altLang="zh-CN" b="1" dirty="0"/>
              <a:t>NIXL</a:t>
            </a:r>
            <a:r>
              <a:rPr lang="zh-CN" altLang="en-US" b="1" dirty="0"/>
              <a:t>的代码来提升性能达到预期</a:t>
            </a:r>
            <a:r>
              <a:rPr lang="zh-CN" altLang="en-US" dirty="0"/>
              <a:t>。</a:t>
            </a:r>
            <a:endParaRPr lang="en-US" altLang="zh-CN" dirty="0"/>
          </a:p>
          <a:p>
            <a:pPr lvl="1"/>
            <a:r>
              <a:rPr lang="zh-CN" altLang="en-US" dirty="0"/>
              <a:t>当</a:t>
            </a:r>
            <a:r>
              <a:rPr lang="en-US" altLang="zh-CN" dirty="0" err="1"/>
              <a:t>SGLang</a:t>
            </a:r>
            <a:r>
              <a:rPr lang="en-US" altLang="zh-CN" dirty="0"/>
              <a:t>  PD</a:t>
            </a:r>
            <a:r>
              <a:rPr lang="zh-CN" altLang="en-US" dirty="0"/>
              <a:t>分离 </a:t>
            </a:r>
            <a:r>
              <a:rPr lang="en-US" altLang="zh-CN" dirty="0"/>
              <a:t>+ NIXL</a:t>
            </a:r>
            <a:r>
              <a:rPr lang="zh-CN" altLang="en-US" dirty="0"/>
              <a:t> 且两个</a:t>
            </a:r>
            <a:r>
              <a:rPr lang="en-US" altLang="zh-CN" dirty="0"/>
              <a:t>Prefill</a:t>
            </a:r>
            <a:r>
              <a:rPr lang="zh-CN" altLang="en-US" dirty="0"/>
              <a:t>节点配置为</a:t>
            </a:r>
            <a:r>
              <a:rPr lang="en-US" altLang="zh-CN" dirty="0"/>
              <a:t>PP</a:t>
            </a:r>
            <a:r>
              <a:rPr lang="zh-CN" altLang="en-US" dirty="0"/>
              <a:t>并行的时候，会发生</a:t>
            </a:r>
            <a:r>
              <a:rPr lang="en-US" dirty="0"/>
              <a:t>“</a:t>
            </a:r>
            <a:r>
              <a:rPr lang="en-US" b="1" dirty="0"/>
              <a:t>Duplicate fragment</a:t>
            </a:r>
            <a:r>
              <a:rPr lang="en-US" dirty="0"/>
              <a:t>” </a:t>
            </a:r>
            <a:r>
              <a:rPr lang="zh-CN" altLang="en-US" dirty="0"/>
              <a:t>警告 </a:t>
            </a:r>
            <a:r>
              <a:rPr lang="en-US" altLang="zh-CN" dirty="0"/>
              <a:t>+ “</a:t>
            </a:r>
            <a:r>
              <a:rPr lang="en-US" b="1" dirty="0" err="1"/>
              <a:t>waiting_timeout</a:t>
            </a:r>
            <a:r>
              <a:rPr lang="en-US" dirty="0"/>
              <a:t>” </a:t>
            </a:r>
            <a:r>
              <a:rPr lang="zh-CN" altLang="en-US" dirty="0"/>
              <a:t>失败。</a:t>
            </a:r>
            <a:endParaRPr lang="en-US" altLang="zh-CN" dirty="0"/>
          </a:p>
          <a:p>
            <a:pPr lvl="2"/>
            <a:r>
              <a:rPr lang="en-US" altLang="zh-CN" dirty="0"/>
              <a:t>SSA</a:t>
            </a:r>
            <a:r>
              <a:rPr lang="zh-CN" altLang="en-US" dirty="0"/>
              <a:t> </a:t>
            </a:r>
            <a:r>
              <a:rPr lang="en-US" altLang="zh-CN" dirty="0"/>
              <a:t>Team</a:t>
            </a:r>
            <a:r>
              <a:rPr lang="zh-CN" altLang="en-US" dirty="0"/>
              <a:t>其他同事针对</a:t>
            </a:r>
            <a:r>
              <a:rPr lang="en-US" altLang="zh-CN" dirty="0"/>
              <a:t>NIXL</a:t>
            </a:r>
            <a:r>
              <a:rPr lang="zh-CN" altLang="en-US" dirty="0"/>
              <a:t>进行了代码修改并</a:t>
            </a:r>
            <a:r>
              <a:rPr lang="en-US" altLang="zh-CN" dirty="0"/>
              <a:t>FIX</a:t>
            </a:r>
            <a:r>
              <a:rPr lang="zh-CN" altLang="en-US" dirty="0"/>
              <a:t>了这个问题。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002167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61B3896-DE11-31C1-CA66-8CE958A731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</a:t>
            </a:r>
            <a:r>
              <a:rPr lang="en-US" altLang="zh-CN" dirty="0"/>
              <a:t>ontinue….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F15435A-C7EF-A116-87F3-50D9867632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altLang="zh-CN" dirty="0" err="1"/>
              <a:t>SGLang</a:t>
            </a:r>
            <a:r>
              <a:rPr lang="zh-CN" altLang="en-US" dirty="0"/>
              <a:t>的坑：</a:t>
            </a:r>
            <a:endParaRPr lang="en-US" altLang="zh-CN" dirty="0"/>
          </a:p>
          <a:p>
            <a:pPr lvl="1"/>
            <a:r>
              <a:rPr lang="zh-CN" altLang="en-US" dirty="0"/>
              <a:t>问题</a:t>
            </a:r>
            <a:r>
              <a:rPr lang="en-US" altLang="zh-CN" dirty="0"/>
              <a:t>1</a:t>
            </a:r>
            <a:r>
              <a:rPr lang="zh-CN" altLang="en-US" dirty="0"/>
              <a:t>：</a:t>
            </a:r>
            <a:endParaRPr lang="en-US" altLang="zh-CN" dirty="0"/>
          </a:p>
          <a:p>
            <a:pPr lvl="2"/>
            <a:r>
              <a:rPr lang="zh-CN" altLang="en-US" dirty="0"/>
              <a:t>现象：</a:t>
            </a:r>
            <a:endParaRPr lang="en-US" altLang="zh-CN" dirty="0"/>
          </a:p>
          <a:p>
            <a:pPr lvl="3"/>
            <a:r>
              <a:rPr lang="zh-CN" altLang="en-US" dirty="0"/>
              <a:t>当 </a:t>
            </a:r>
            <a:r>
              <a:rPr lang="en-US" dirty="0"/>
              <a:t>Enable DP attention</a:t>
            </a:r>
            <a:r>
              <a:rPr lang="zh-CN" altLang="en-US" dirty="0"/>
              <a:t>，某些 </a:t>
            </a:r>
            <a:r>
              <a:rPr lang="en-US" dirty="0"/>
              <a:t>DP rank </a:t>
            </a:r>
            <a:r>
              <a:rPr lang="zh-CN" altLang="en-US" dirty="0"/>
              <a:t>分到 </a:t>
            </a:r>
            <a:r>
              <a:rPr lang="en-US" altLang="zh-CN" dirty="0"/>
              <a:t>0 </a:t>
            </a:r>
            <a:r>
              <a:rPr lang="zh-CN" altLang="en-US" dirty="0"/>
              <a:t>个 </a:t>
            </a:r>
            <a:r>
              <a:rPr lang="en-US" dirty="0"/>
              <a:t>token </a:t>
            </a:r>
            <a:r>
              <a:rPr lang="zh-CN" altLang="en-US" dirty="0"/>
              <a:t>时，</a:t>
            </a:r>
            <a:r>
              <a:rPr lang="en-US" dirty="0"/>
              <a:t>UCCL EP</a:t>
            </a:r>
            <a:r>
              <a:rPr lang="zh-CN" altLang="en-US" dirty="0"/>
              <a:t>的</a:t>
            </a:r>
            <a:r>
              <a:rPr lang="en-US" dirty="0"/>
              <a:t>C++ </a:t>
            </a:r>
            <a:r>
              <a:rPr lang="zh-CN" altLang="en-US" dirty="0"/>
              <a:t>层实现会触发 </a:t>
            </a:r>
            <a:r>
              <a:rPr lang="en-US" dirty="0" err="1"/>
              <a:t>topk_idx_ptr</a:t>
            </a:r>
            <a:r>
              <a:rPr lang="en-US" dirty="0"/>
              <a:t> != 0 </a:t>
            </a:r>
            <a:r>
              <a:rPr lang="zh-CN" altLang="en-US" dirty="0"/>
              <a:t>断言。</a:t>
            </a:r>
            <a:endParaRPr lang="en-US" altLang="zh-CN" dirty="0"/>
          </a:p>
          <a:p>
            <a:pPr lvl="2"/>
            <a:r>
              <a:rPr lang="zh-CN" altLang="en-US" dirty="0"/>
              <a:t>解决：</a:t>
            </a:r>
            <a:endParaRPr lang="en-US" altLang="zh-CN" dirty="0"/>
          </a:p>
          <a:p>
            <a:pPr lvl="3"/>
            <a:r>
              <a:rPr lang="en-US" altLang="zh-CN" dirty="0"/>
              <a:t>Patch</a:t>
            </a:r>
            <a:r>
              <a:rPr lang="zh-CN" altLang="en-US" dirty="0"/>
              <a:t>代码，这个</a:t>
            </a:r>
            <a:r>
              <a:rPr lang="en-US" dirty="0"/>
              <a:t>Patch</a:t>
            </a:r>
            <a:r>
              <a:rPr lang="zh-CN" altLang="en-US" dirty="0"/>
              <a:t>的实现会在 </a:t>
            </a:r>
            <a:r>
              <a:rPr lang="en-US" dirty="0"/>
              <a:t>dispatch </a:t>
            </a:r>
            <a:r>
              <a:rPr lang="zh-CN" altLang="en-US" dirty="0"/>
              <a:t>前 </a:t>
            </a:r>
            <a:r>
              <a:rPr lang="en-US" dirty="0"/>
              <a:t>pad 1 </a:t>
            </a:r>
            <a:r>
              <a:rPr lang="zh-CN" altLang="en-US" dirty="0"/>
              <a:t>个 </a:t>
            </a:r>
            <a:r>
              <a:rPr lang="en-US" dirty="0"/>
              <a:t>dummy </a:t>
            </a:r>
            <a:r>
              <a:rPr lang="en-US" dirty="0" err="1"/>
              <a:t>token，combine</a:t>
            </a:r>
            <a:r>
              <a:rPr lang="en-US" dirty="0"/>
              <a:t> </a:t>
            </a:r>
            <a:r>
              <a:rPr lang="zh-CN" altLang="en-US" dirty="0"/>
              <a:t>后 </a:t>
            </a:r>
            <a:r>
              <a:rPr lang="en-US" dirty="0"/>
              <a:t>strip </a:t>
            </a:r>
            <a:r>
              <a:rPr lang="zh-CN" altLang="en-US" dirty="0"/>
              <a:t>掉。对应的</a:t>
            </a:r>
            <a:r>
              <a:rPr lang="en-US" altLang="zh-CN" dirty="0"/>
              <a:t>PR </a:t>
            </a:r>
            <a:r>
              <a:rPr lang="en-US" altLang="zh-CN" dirty="0">
                <a:hlinkClick r:id="rId2"/>
              </a:rPr>
              <a:t>https://github.com/sgl-project/sglang/pull/25397</a:t>
            </a:r>
            <a:r>
              <a:rPr lang="en-US" altLang="zh-CN" dirty="0"/>
              <a:t> </a:t>
            </a:r>
            <a:endParaRPr lang="zh-CN" altLang="en-US" dirty="0"/>
          </a:p>
          <a:p>
            <a:pPr lvl="1"/>
            <a:r>
              <a:rPr lang="zh-CN" altLang="en-US" dirty="0"/>
              <a:t>问题</a:t>
            </a:r>
            <a:r>
              <a:rPr lang="en-US" altLang="zh-CN" dirty="0"/>
              <a:t>2</a:t>
            </a:r>
            <a:r>
              <a:rPr lang="zh-CN" altLang="en-US" dirty="0"/>
              <a:t>：</a:t>
            </a:r>
            <a:endParaRPr lang="en-US" altLang="zh-CN" dirty="0"/>
          </a:p>
          <a:p>
            <a:pPr lvl="2"/>
            <a:r>
              <a:rPr lang="zh-CN" altLang="en-US" dirty="0"/>
              <a:t>现象：</a:t>
            </a:r>
            <a:endParaRPr lang="en-US" altLang="zh-CN" dirty="0"/>
          </a:p>
          <a:p>
            <a:pPr lvl="3"/>
            <a:r>
              <a:rPr lang="zh-CN" altLang="en-US" dirty="0"/>
              <a:t>在</a:t>
            </a:r>
            <a:r>
              <a:rPr lang="en-US" dirty="0"/>
              <a:t>DP=16 </a:t>
            </a:r>
            <a:r>
              <a:rPr lang="zh-CN" altLang="en-US" dirty="0"/>
              <a:t>的</a:t>
            </a:r>
            <a:r>
              <a:rPr lang="en-US" altLang="zh-CN" dirty="0"/>
              <a:t>PD</a:t>
            </a:r>
            <a:r>
              <a:rPr lang="zh-CN" altLang="en-US" dirty="0"/>
              <a:t>分离</a:t>
            </a:r>
            <a:r>
              <a:rPr lang="en-US" dirty="0"/>
              <a:t> decode </a:t>
            </a:r>
            <a:r>
              <a:rPr lang="zh-CN" altLang="en-US" dirty="0"/>
              <a:t>中，所有 </a:t>
            </a:r>
            <a:r>
              <a:rPr lang="en-US" altLang="zh-CN" dirty="0"/>
              <a:t>16 </a:t>
            </a:r>
            <a:r>
              <a:rPr lang="zh-CN" altLang="en-US" dirty="0"/>
              <a:t>个 </a:t>
            </a:r>
            <a:r>
              <a:rPr lang="en-US" dirty="0"/>
              <a:t>rank </a:t>
            </a:r>
            <a:r>
              <a:rPr lang="zh-CN" altLang="en-US" dirty="0"/>
              <a:t>必须在 </a:t>
            </a:r>
            <a:r>
              <a:rPr lang="en-US" dirty="0" err="1"/>
              <a:t>prepare_mlp_sync_batch_raw</a:t>
            </a:r>
            <a:r>
              <a:rPr lang="en-US" dirty="0"/>
              <a:t>() </a:t>
            </a:r>
            <a:r>
              <a:rPr lang="zh-CN" altLang="en-US" dirty="0"/>
              <a:t>中参与 </a:t>
            </a:r>
            <a:r>
              <a:rPr lang="en-US" dirty="0" err="1"/>
              <a:t>all_gather</a:t>
            </a:r>
            <a:r>
              <a:rPr lang="en-US" dirty="0"/>
              <a:t> </a:t>
            </a:r>
            <a:r>
              <a:rPr lang="zh-CN" altLang="en-US" dirty="0"/>
              <a:t>集合通信。当某些 </a:t>
            </a:r>
            <a:r>
              <a:rPr lang="en-US" dirty="0"/>
              <a:t>rank </a:t>
            </a:r>
            <a:r>
              <a:rPr lang="zh-CN" altLang="en-US" dirty="0"/>
              <a:t>有 </a:t>
            </a:r>
            <a:r>
              <a:rPr lang="en-US" dirty="0"/>
              <a:t>decode </a:t>
            </a:r>
            <a:r>
              <a:rPr lang="zh-CN" altLang="en-US" dirty="0"/>
              <a:t>工作而其他 </a:t>
            </a:r>
            <a:r>
              <a:rPr lang="en-US" dirty="0"/>
              <a:t>rank </a:t>
            </a:r>
            <a:r>
              <a:rPr lang="zh-CN" altLang="en-US" dirty="0"/>
              <a:t>空闲（</a:t>
            </a:r>
            <a:r>
              <a:rPr lang="en-US" dirty="0"/>
              <a:t>idle batch）</a:t>
            </a:r>
            <a:r>
              <a:rPr lang="zh-CN" altLang="en-US" dirty="0"/>
              <a:t>时就会</a:t>
            </a:r>
            <a:r>
              <a:rPr lang="en-US" dirty="0"/>
              <a:t>hung</a:t>
            </a:r>
            <a:r>
              <a:rPr lang="zh-CN" altLang="en-US" dirty="0"/>
              <a:t>住。</a:t>
            </a:r>
            <a:endParaRPr lang="en-US" altLang="zh-CN" dirty="0"/>
          </a:p>
          <a:p>
            <a:pPr lvl="2"/>
            <a:r>
              <a:rPr lang="zh-CN" altLang="en-US" dirty="0"/>
              <a:t>解决：</a:t>
            </a:r>
            <a:endParaRPr lang="en-US" altLang="zh-CN" dirty="0"/>
          </a:p>
          <a:p>
            <a:pPr lvl="3"/>
            <a:r>
              <a:rPr lang="en-US" altLang="zh-CN" dirty="0"/>
              <a:t>Patch</a:t>
            </a:r>
            <a:r>
              <a:rPr lang="zh-CN" altLang="en-US" dirty="0"/>
              <a:t>代码。</a:t>
            </a:r>
            <a:r>
              <a:rPr lang="en-US" dirty="0"/>
              <a:t>idle batch </a:t>
            </a:r>
            <a:r>
              <a:rPr lang="zh-CN" altLang="en-US" dirty="0"/>
              <a:t>走 </a:t>
            </a:r>
            <a:r>
              <a:rPr lang="en-US" dirty="0" err="1"/>
              <a:t>num_tokens</a:t>
            </a:r>
            <a:r>
              <a:rPr lang="en-US" dirty="0"/>
              <a:t> = 0 </a:t>
            </a:r>
            <a:r>
              <a:rPr lang="zh-CN" altLang="en-US" dirty="0"/>
              <a:t>路径 → 正确参与 </a:t>
            </a:r>
            <a:r>
              <a:rPr lang="en-US" dirty="0" err="1"/>
              <a:t>all_gather</a:t>
            </a:r>
            <a:r>
              <a:rPr lang="en-US" dirty="0"/>
              <a:t> </a:t>
            </a:r>
            <a:r>
              <a:rPr lang="zh-CN" altLang="en-US" dirty="0"/>
              <a:t>同步 → 集合通信正常完成 → 系统继续运行。 对应的</a:t>
            </a:r>
            <a:r>
              <a:rPr lang="en-US" altLang="zh-CN" dirty="0"/>
              <a:t>patch PR </a:t>
            </a:r>
            <a:r>
              <a:rPr lang="en-US" altLang="zh-CN" dirty="0">
                <a:hlinkClick r:id="rId3"/>
              </a:rPr>
              <a:t>https://github.com/sgl-project/sglang/pull/25404</a:t>
            </a:r>
            <a:r>
              <a:rPr lang="en-US" altLang="zh-CN" dirty="0"/>
              <a:t> </a:t>
            </a:r>
            <a:r>
              <a:rPr lang="zh-CN" altLang="en-US" dirty="0"/>
              <a:t>已经</a:t>
            </a:r>
            <a:r>
              <a:rPr lang="en-US" altLang="zh-CN" dirty="0"/>
              <a:t>merged</a:t>
            </a:r>
            <a:r>
              <a:rPr lang="zh-CN" altLang="en-US" dirty="0"/>
              <a:t>到主干了。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824253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BBDD9E-78FF-8BD9-9FB6-12BC85876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</a:t>
            </a:r>
            <a:r>
              <a:rPr lang="en-US" altLang="zh-CN" dirty="0"/>
              <a:t>ontinue….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7583FAF-70D4-1E0E-C686-7D2BC76483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1091"/>
            <a:ext cx="10515600" cy="4375872"/>
          </a:xfrm>
        </p:spPr>
        <p:txBody>
          <a:bodyPr>
            <a:normAutofit/>
          </a:bodyPr>
          <a:lstStyle/>
          <a:p>
            <a:r>
              <a:rPr lang="en-US" altLang="zh-CN" dirty="0"/>
              <a:t>Mooncake TE</a:t>
            </a:r>
            <a:r>
              <a:rPr lang="zh-CN" altLang="en-US" dirty="0"/>
              <a:t>的坑：</a:t>
            </a:r>
            <a:endParaRPr lang="en-US" altLang="zh-CN" dirty="0"/>
          </a:p>
          <a:p>
            <a:pPr lvl="1"/>
            <a:r>
              <a:rPr lang="zh-CN" altLang="en-US" dirty="0"/>
              <a:t>现象：</a:t>
            </a:r>
            <a:endParaRPr lang="en-US" altLang="zh-CN" dirty="0"/>
          </a:p>
          <a:p>
            <a:pPr lvl="2"/>
            <a:r>
              <a:rPr lang="en-US" altLang="zh-CN" dirty="0" err="1"/>
              <a:t>SGLang</a:t>
            </a:r>
            <a:r>
              <a:rPr lang="en-US" altLang="zh-CN" dirty="0"/>
              <a:t> + Deepseek-v4-Pro on H200</a:t>
            </a:r>
            <a:r>
              <a:rPr lang="zh-CN" altLang="en-US" dirty="0"/>
              <a:t> </a:t>
            </a:r>
            <a:r>
              <a:rPr lang="en-US" altLang="zh-CN" dirty="0"/>
              <a:t>+</a:t>
            </a:r>
            <a:r>
              <a:rPr lang="zh-CN" altLang="en-US" dirty="0"/>
              <a:t> </a:t>
            </a:r>
            <a:r>
              <a:rPr lang="en-US" altLang="zh-CN" dirty="0"/>
              <a:t>PD</a:t>
            </a:r>
            <a:r>
              <a:rPr lang="zh-CN" altLang="en-US" dirty="0"/>
              <a:t>分离部署 </a:t>
            </a:r>
            <a:r>
              <a:rPr lang="en-US" altLang="zh-CN" dirty="0"/>
              <a:t>+</a:t>
            </a:r>
            <a:r>
              <a:rPr lang="zh-CN" altLang="en-US" dirty="0"/>
              <a:t> </a:t>
            </a:r>
            <a:r>
              <a:rPr lang="en-US" altLang="zh-CN" dirty="0"/>
              <a:t>UCCL-EP</a:t>
            </a:r>
            <a:r>
              <a:rPr lang="zh-CN" altLang="en-US" dirty="0"/>
              <a:t>，</a:t>
            </a:r>
            <a:r>
              <a:rPr lang="en-US" altLang="zh-CN" dirty="0"/>
              <a:t>KV</a:t>
            </a:r>
            <a:r>
              <a:rPr lang="zh-CN" altLang="en-US" dirty="0"/>
              <a:t> </a:t>
            </a:r>
            <a:r>
              <a:rPr lang="en-US" altLang="zh-CN" dirty="0"/>
              <a:t>transfer engine</a:t>
            </a:r>
            <a:r>
              <a:rPr lang="zh-CN" altLang="en-US" dirty="0"/>
              <a:t>使用</a:t>
            </a:r>
            <a:r>
              <a:rPr lang="en-US" altLang="zh-CN" dirty="0"/>
              <a:t>NIXL</a:t>
            </a:r>
            <a:r>
              <a:rPr lang="zh-CN" altLang="en-US" dirty="0"/>
              <a:t>没有问题，但是使用</a:t>
            </a:r>
            <a:r>
              <a:rPr lang="en-US" altLang="zh-CN" dirty="0"/>
              <a:t>Mooncake TE</a:t>
            </a:r>
            <a:r>
              <a:rPr lang="zh-CN" altLang="en-US" dirty="0"/>
              <a:t>就非常慢。</a:t>
            </a:r>
            <a:endParaRPr lang="en-US" altLang="zh-CN" dirty="0"/>
          </a:p>
          <a:p>
            <a:pPr lvl="1"/>
            <a:r>
              <a:rPr lang="zh-CN" altLang="en-US" dirty="0"/>
              <a:t>原因：</a:t>
            </a:r>
            <a:endParaRPr lang="en-US" altLang="zh-CN" dirty="0"/>
          </a:p>
          <a:p>
            <a:pPr lvl="2"/>
            <a:r>
              <a:rPr lang="zh-CN" altLang="en-US" dirty="0"/>
              <a:t>仔细定位发现是</a:t>
            </a:r>
            <a:r>
              <a:rPr lang="en-US" altLang="zh-CN" b="1" dirty="0"/>
              <a:t>Mooncake TE</a:t>
            </a:r>
            <a:r>
              <a:rPr lang="zh-CN" altLang="en-US" b="1" dirty="0"/>
              <a:t>和</a:t>
            </a:r>
            <a:r>
              <a:rPr lang="en-US" altLang="zh-CN" b="1" dirty="0"/>
              <a:t>UCCL-EP</a:t>
            </a:r>
            <a:r>
              <a:rPr lang="zh-CN" altLang="en-US" b="1" dirty="0"/>
              <a:t>的</a:t>
            </a:r>
            <a:r>
              <a:rPr lang="en-US" altLang="zh-CN" b="1" dirty="0"/>
              <a:t>CPU</a:t>
            </a:r>
            <a:r>
              <a:rPr lang="zh-CN" altLang="en-US" b="1" dirty="0"/>
              <a:t>争抢导致的</a:t>
            </a:r>
            <a:r>
              <a:rPr lang="zh-CN" altLang="en-US" dirty="0"/>
              <a:t>。</a:t>
            </a:r>
            <a:endParaRPr lang="en-US" altLang="zh-CN" dirty="0"/>
          </a:p>
          <a:p>
            <a:pPr lvl="1"/>
            <a:r>
              <a:rPr lang="zh-CN" altLang="en-US" dirty="0"/>
              <a:t>解决：</a:t>
            </a:r>
            <a:endParaRPr lang="en-US" altLang="zh-CN" dirty="0"/>
          </a:p>
          <a:p>
            <a:pPr lvl="2"/>
            <a:r>
              <a:rPr lang="zh-CN" altLang="en-US" dirty="0"/>
              <a:t>修改</a:t>
            </a:r>
            <a:r>
              <a:rPr lang="en-US" altLang="zh-CN" dirty="0"/>
              <a:t>Mooncake TE</a:t>
            </a:r>
            <a:r>
              <a:rPr lang="zh-CN" altLang="en-US" dirty="0"/>
              <a:t>的源代码来使用环境变量来设定</a:t>
            </a:r>
            <a:r>
              <a:rPr lang="en-US" altLang="zh-CN" dirty="0"/>
              <a:t>CQ polling thread</a:t>
            </a:r>
            <a:r>
              <a:rPr lang="zh-CN" altLang="en-US" dirty="0"/>
              <a:t>的数量来限定</a:t>
            </a:r>
            <a:r>
              <a:rPr lang="en-US" altLang="zh-CN" dirty="0"/>
              <a:t>mooncake TE</a:t>
            </a:r>
            <a:r>
              <a:rPr lang="zh-CN" altLang="en-US" dirty="0"/>
              <a:t>，从而让</a:t>
            </a:r>
            <a:r>
              <a:rPr lang="en-US" altLang="zh-CN" dirty="0"/>
              <a:t>UCCL-EP</a:t>
            </a:r>
            <a:r>
              <a:rPr lang="zh-CN" altLang="en-US" dirty="0"/>
              <a:t>的</a:t>
            </a:r>
            <a:r>
              <a:rPr lang="en-US" altLang="zh-CN" dirty="0" err="1"/>
              <a:t>cpu</a:t>
            </a:r>
            <a:r>
              <a:rPr lang="en-US" altLang="zh-CN" dirty="0"/>
              <a:t> proxy</a:t>
            </a:r>
            <a:r>
              <a:rPr lang="zh-CN" altLang="en-US" dirty="0"/>
              <a:t>不至于长时间饥饿。</a:t>
            </a:r>
            <a:endParaRPr lang="en-US" altLang="zh-CN" dirty="0"/>
          </a:p>
          <a:p>
            <a:pPr lvl="2"/>
            <a:r>
              <a:rPr lang="zh-CN" altLang="en-US" dirty="0"/>
              <a:t>相应的</a:t>
            </a:r>
            <a:r>
              <a:rPr lang="en-US" altLang="zh-CN" dirty="0"/>
              <a:t>PR</a:t>
            </a:r>
            <a:r>
              <a:rPr lang="zh-CN" altLang="en-US" dirty="0"/>
              <a:t>：</a:t>
            </a:r>
            <a:r>
              <a:rPr lang="en-US" altLang="zh-CN" dirty="0">
                <a:hlinkClick r:id="rId3"/>
              </a:rPr>
              <a:t>https://github.com/kvcache-ai/Mooncake/pull/2113</a:t>
            </a:r>
            <a:r>
              <a:rPr lang="en-US" altLang="zh-CN" dirty="0"/>
              <a:t> </a:t>
            </a:r>
          </a:p>
          <a:p>
            <a:pPr lvl="1"/>
            <a:endParaRPr lang="en-US" altLang="zh-CN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166237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F040B-6B1A-15E9-67D6-CBC1E03248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C2696D4-031A-E6AB-63CC-B6C7DF401F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0978"/>
            <a:ext cx="10515600" cy="1325563"/>
          </a:xfrm>
        </p:spPr>
        <p:txBody>
          <a:bodyPr/>
          <a:lstStyle/>
          <a:p>
            <a:pPr algn="ctr"/>
            <a:r>
              <a:rPr lang="zh-CN" altLang="en-US" dirty="0"/>
              <a:t>客户常见问题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275480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11E338E-ED98-BF5F-BCF4-C1FEA2A547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NCCL </a:t>
            </a:r>
            <a:r>
              <a:rPr lang="en-US" altLang="zh-CN" dirty="0"/>
              <a:t>test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D9CA151-B0F3-0DB5-E786-B5B2A7654D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>
            <a:normAutofit/>
          </a:bodyPr>
          <a:lstStyle/>
          <a:p>
            <a:r>
              <a:rPr lang="zh-CN" altLang="en-US" dirty="0"/>
              <a:t>在做</a:t>
            </a:r>
            <a:r>
              <a:rPr lang="en-US" altLang="zh-CN" dirty="0"/>
              <a:t>NCCL test</a:t>
            </a:r>
            <a:r>
              <a:rPr lang="zh-CN" altLang="en-US" dirty="0"/>
              <a:t>的时候，如何设定</a:t>
            </a:r>
            <a:r>
              <a:rPr lang="en-US" altLang="zh-CN" dirty="0"/>
              <a:t>NCCL</a:t>
            </a:r>
            <a:r>
              <a:rPr lang="zh-CN" altLang="en-US" dirty="0"/>
              <a:t>和</a:t>
            </a:r>
            <a:r>
              <a:rPr lang="en-US" altLang="zh-CN" dirty="0"/>
              <a:t>EFA</a:t>
            </a:r>
            <a:r>
              <a:rPr lang="zh-CN" altLang="en-US" dirty="0"/>
              <a:t>相关环境变量？</a:t>
            </a:r>
            <a:endParaRPr lang="en-US" altLang="zh-CN" dirty="0"/>
          </a:p>
          <a:p>
            <a:pPr lvl="1"/>
            <a:r>
              <a:rPr lang="zh-CN" altLang="en-US" b="1" dirty="0"/>
              <a:t>最基本的一组：</a:t>
            </a:r>
            <a:endParaRPr lang="en-US" altLang="zh-CN" b="1" dirty="0"/>
          </a:p>
          <a:p>
            <a:pPr lvl="2"/>
            <a:r>
              <a:rPr lang="it-IT" dirty="0"/>
              <a:t>FI_PROVIDER=efa</a:t>
            </a:r>
          </a:p>
          <a:p>
            <a:pPr lvl="2"/>
            <a:r>
              <a:rPr lang="it-IT" dirty="0"/>
              <a:t>FI_EFA_USE_DEVICE_RDMA=1</a:t>
            </a:r>
          </a:p>
          <a:p>
            <a:pPr lvl="2"/>
            <a:r>
              <a:rPr lang="en-US" dirty="0"/>
              <a:t>FI_EFA_FORK_SAFE=1 </a:t>
            </a:r>
          </a:p>
          <a:p>
            <a:pPr lvl="2"/>
            <a:r>
              <a:rPr lang="en-US" dirty="0"/>
              <a:t>NCCL_PROTO=Simple</a:t>
            </a:r>
          </a:p>
          <a:p>
            <a:pPr lvl="2"/>
            <a:r>
              <a:rPr lang="en-US" dirty="0"/>
              <a:t>NCCL_DEBUG=INFO</a:t>
            </a:r>
          </a:p>
          <a:p>
            <a:pPr lvl="2"/>
            <a:r>
              <a:rPr lang="en-US" dirty="0"/>
              <a:t>NCCL_SOCKET_IFNAME=^lo,docker0 </a:t>
            </a:r>
          </a:p>
          <a:p>
            <a:pPr lvl="1"/>
            <a:r>
              <a:rPr lang="zh-CN" altLang="en-US" b="1" dirty="0">
                <a:solidFill>
                  <a:srgbClr val="FF0000"/>
                </a:solidFill>
              </a:rPr>
              <a:t>其余的环境变量让对应的库自动设定</a:t>
            </a:r>
            <a:r>
              <a:rPr lang="zh-CN" altLang="en-US" dirty="0"/>
              <a:t>。</a:t>
            </a:r>
            <a:endParaRPr lang="en-US" altLang="zh-CN" dirty="0"/>
          </a:p>
          <a:p>
            <a:pPr lvl="1"/>
            <a:r>
              <a:rPr lang="en-US" altLang="zh-CN" b="1" dirty="0"/>
              <a:t>Case by case</a:t>
            </a:r>
            <a:r>
              <a:rPr lang="zh-CN" altLang="en-US" b="1" dirty="0"/>
              <a:t>来设定某些具体的环境变量</a:t>
            </a:r>
            <a:r>
              <a:rPr lang="zh-CN" altLang="en-US" dirty="0"/>
              <a:t>。</a:t>
            </a:r>
            <a:endParaRPr lang="en-US" altLang="zh-CN" dirty="0"/>
          </a:p>
          <a:p>
            <a:pPr lvl="2"/>
            <a:r>
              <a:rPr lang="en-US" dirty="0"/>
              <a:t>NCCL_TUNER_PLUGIN</a:t>
            </a:r>
            <a:r>
              <a:rPr lang="zh-CN" altLang="en-US" dirty="0"/>
              <a:t> </a:t>
            </a:r>
            <a:r>
              <a:rPr lang="en-US" altLang="zh-CN" dirty="0"/>
              <a:t>---</a:t>
            </a:r>
            <a:r>
              <a:rPr lang="zh-CN" altLang="en-US" dirty="0"/>
              <a:t> 这个环境变量要设定为对应</a:t>
            </a:r>
            <a:r>
              <a:rPr lang="en-US" altLang="zh-CN" dirty="0"/>
              <a:t>runtime</a:t>
            </a:r>
            <a:r>
              <a:rPr lang="zh-CN" altLang="en-US" dirty="0"/>
              <a:t>中的</a:t>
            </a:r>
            <a:r>
              <a:rPr lang="en-US" dirty="0"/>
              <a:t>libnccl-ofi-tuner.so</a:t>
            </a:r>
            <a:r>
              <a:rPr lang="zh-CN" altLang="en-US" dirty="0"/>
              <a:t>路径，比如</a:t>
            </a:r>
            <a:r>
              <a:rPr lang="en-US" dirty="0"/>
              <a:t>/opt/amazon/ofi-nccl/lib/libnccl-ofi-tuner.so</a:t>
            </a:r>
          </a:p>
          <a:p>
            <a:pPr lvl="2"/>
            <a:endParaRPr lang="en-US" dirty="0"/>
          </a:p>
          <a:p>
            <a:pPr lvl="2"/>
            <a:endParaRPr lang="en-US" altLang="zh-CN" dirty="0"/>
          </a:p>
          <a:p>
            <a:pPr lvl="1"/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pPr lvl="1"/>
            <a:endParaRPr lang="en-US" altLang="zh-CN" dirty="0"/>
          </a:p>
          <a:p>
            <a:endParaRPr lang="en-US" dirty="0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6E61C123-644F-CA24-A83A-1A58045E8C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5559" y="49495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4610361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3454C66-B332-B424-A02F-C14337E5E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</a:t>
            </a:r>
            <a:r>
              <a:rPr lang="en-US" altLang="zh-CN" dirty="0"/>
              <a:t>ontinue…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C3F29EB-0D2F-8CC1-3351-7E373A74AA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err="1"/>
              <a:t>A</a:t>
            </a:r>
            <a:r>
              <a:rPr lang="en-US" altLang="zh-CN" dirty="0" err="1"/>
              <a:t>llReduce</a:t>
            </a:r>
            <a:r>
              <a:rPr lang="zh-CN" altLang="en-US" dirty="0"/>
              <a:t>测试（</a:t>
            </a:r>
            <a:r>
              <a:rPr lang="en-US" altLang="zh-CN" dirty="0"/>
              <a:t>2</a:t>
            </a:r>
            <a:r>
              <a:rPr lang="zh-CN" altLang="en-US" dirty="0"/>
              <a:t>个</a:t>
            </a:r>
            <a:r>
              <a:rPr lang="en-US" altLang="zh-CN" dirty="0"/>
              <a:t>B200</a:t>
            </a:r>
            <a:r>
              <a:rPr lang="zh-CN" altLang="en-US" dirty="0"/>
              <a:t>节点 ）：</a:t>
            </a:r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pPr lvl="1"/>
            <a:endParaRPr lang="en-US" altLang="zh-CN" dirty="0"/>
          </a:p>
          <a:p>
            <a:pPr lvl="1"/>
            <a:r>
              <a:rPr lang="en-US" altLang="zh-CN" dirty="0"/>
              <a:t>Default</a:t>
            </a:r>
            <a:r>
              <a:rPr lang="zh-CN" altLang="en-US" dirty="0"/>
              <a:t>配置下，</a:t>
            </a:r>
            <a:r>
              <a:rPr lang="en-US" altLang="zh-CN" dirty="0"/>
              <a:t>Peak </a:t>
            </a:r>
            <a:r>
              <a:rPr lang="en-US" altLang="zh-CN" dirty="0" err="1"/>
              <a:t>Busbw</a:t>
            </a:r>
            <a:r>
              <a:rPr lang="zh-CN" altLang="en-US" dirty="0"/>
              <a:t>能到</a:t>
            </a:r>
            <a:r>
              <a:rPr lang="en-US" altLang="zh-CN" dirty="0"/>
              <a:t>402GB/s</a:t>
            </a:r>
            <a:r>
              <a:rPr lang="zh-CN" altLang="en-US" dirty="0"/>
              <a:t>，接近</a:t>
            </a:r>
            <a:r>
              <a:rPr lang="en-US" altLang="zh-CN" dirty="0"/>
              <a:t>3.2Tbps</a:t>
            </a:r>
            <a:r>
              <a:rPr lang="zh-CN" altLang="en-US" dirty="0"/>
              <a:t>的物理带宽（但是因为这个</a:t>
            </a:r>
            <a:r>
              <a:rPr lang="en-US" altLang="zh-CN" dirty="0" err="1"/>
              <a:t>busbw</a:t>
            </a:r>
            <a:r>
              <a:rPr lang="zh-CN" altLang="en-US" dirty="0"/>
              <a:t>的计算方式，也可能超过物理带宽），符合预期。</a:t>
            </a:r>
          </a:p>
          <a:p>
            <a:pPr lvl="1"/>
            <a:r>
              <a:rPr lang="zh-CN" altLang="en-US" dirty="0"/>
              <a:t>注意：</a:t>
            </a:r>
          </a:p>
          <a:p>
            <a:pPr lvl="2"/>
            <a:r>
              <a:rPr lang="zh-CN" altLang="en-US" dirty="0"/>
              <a:t>上面提到的</a:t>
            </a:r>
            <a:r>
              <a:rPr lang="en-US" altLang="zh-CN" dirty="0"/>
              <a:t>config</a:t>
            </a:r>
            <a:r>
              <a:rPr lang="zh-CN" altLang="en-US" dirty="0"/>
              <a:t>指的是</a:t>
            </a:r>
            <a:r>
              <a:rPr lang="en-US" altLang="zh-CN" dirty="0"/>
              <a:t>NCCL_PROTO</a:t>
            </a:r>
            <a:r>
              <a:rPr lang="zh-CN" altLang="en-US" dirty="0"/>
              <a:t>和</a:t>
            </a:r>
            <a:r>
              <a:rPr lang="en-US" altLang="zh-CN" dirty="0"/>
              <a:t>NCCL_ALGO</a:t>
            </a:r>
            <a:r>
              <a:rPr lang="zh-CN" altLang="en-US" dirty="0"/>
              <a:t>的配置（</a:t>
            </a:r>
            <a:r>
              <a:rPr lang="zh-CN" altLang="en-US" b="1" dirty="0"/>
              <a:t>一般情况下，建议使用默认的</a:t>
            </a:r>
            <a:r>
              <a:rPr lang="en-US" altLang="zh-CN" b="1" dirty="0"/>
              <a:t>auto</a:t>
            </a:r>
            <a:r>
              <a:rPr lang="zh-CN" altLang="en-US" b="1" dirty="0"/>
              <a:t>让</a:t>
            </a:r>
            <a:r>
              <a:rPr lang="en-US" altLang="zh-CN" b="1" dirty="0"/>
              <a:t>NCCL</a:t>
            </a:r>
            <a:r>
              <a:rPr lang="zh-CN" altLang="en-US" b="1" dirty="0"/>
              <a:t>来根据消息大小和网络拓扑来自动选择</a:t>
            </a:r>
            <a:r>
              <a:rPr lang="zh-CN" altLang="en-US" dirty="0"/>
              <a:t>）。</a:t>
            </a:r>
          </a:p>
          <a:p>
            <a:pPr lvl="3"/>
            <a:r>
              <a:rPr lang="en-US" altLang="zh-CN" dirty="0"/>
              <a:t>NCCL_ALGO</a:t>
            </a:r>
            <a:r>
              <a:rPr lang="zh-CN" altLang="en-US" dirty="0"/>
              <a:t>：控制集合通信的拓扑结构</a:t>
            </a:r>
            <a:r>
              <a:rPr lang="en-US" altLang="zh-CN" dirty="0"/>
              <a:t>——</a:t>
            </a:r>
            <a:r>
              <a:rPr lang="zh-CN" altLang="en-US" dirty="0"/>
              <a:t>数据怎么在 </a:t>
            </a:r>
            <a:r>
              <a:rPr lang="en-US" altLang="zh-CN" dirty="0"/>
              <a:t>GPU </a:t>
            </a:r>
            <a:r>
              <a:rPr lang="zh-CN" altLang="en-US" dirty="0"/>
              <a:t>之间流动。</a:t>
            </a:r>
          </a:p>
          <a:p>
            <a:pPr lvl="3"/>
            <a:r>
              <a:rPr lang="en-US" altLang="zh-CN" dirty="0"/>
              <a:t>NCCL_PROTO</a:t>
            </a:r>
            <a:r>
              <a:rPr lang="zh-CN" altLang="en-US" dirty="0"/>
              <a:t>：控制数据传输的搬运方式</a:t>
            </a:r>
            <a:r>
              <a:rPr lang="en-US" altLang="zh-CN" dirty="0"/>
              <a:t>——GPU </a:t>
            </a:r>
            <a:r>
              <a:rPr lang="zh-CN" altLang="en-US" dirty="0"/>
              <a:t>之间怎么搬字节。</a:t>
            </a:r>
          </a:p>
          <a:p>
            <a:endParaRPr lang="en-US" altLang="zh-CN" dirty="0"/>
          </a:p>
          <a:p>
            <a:pPr lvl="1"/>
            <a:endParaRPr lang="en-US" dirty="0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A25BE8E9-6DED-C597-8FFA-6243795D9C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7559" y="2313089"/>
            <a:ext cx="6315075" cy="1587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6353588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386768E-E2DA-481E-E2DC-2FFD83A515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02281"/>
          </a:xfrm>
        </p:spPr>
        <p:txBody>
          <a:bodyPr/>
          <a:lstStyle/>
          <a:p>
            <a:r>
              <a:rPr lang="en-US" dirty="0"/>
              <a:t>C</a:t>
            </a:r>
            <a:r>
              <a:rPr lang="en-US" altLang="zh-CN" dirty="0"/>
              <a:t>ontinue…..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DF7FB7B-A273-0FD7-B5B8-4639B9421F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7130"/>
            <a:ext cx="10515600" cy="5117285"/>
          </a:xfrm>
        </p:spPr>
        <p:txBody>
          <a:bodyPr>
            <a:normAutofit/>
          </a:bodyPr>
          <a:lstStyle/>
          <a:p>
            <a:r>
              <a:rPr lang="zh-CN" altLang="en-US" dirty="0"/>
              <a:t>某客户测试</a:t>
            </a:r>
            <a:r>
              <a:rPr lang="en-US" altLang="zh-CN" dirty="0"/>
              <a:t>256</a:t>
            </a:r>
            <a:r>
              <a:rPr lang="zh-CN" altLang="en-US" dirty="0"/>
              <a:t>个</a:t>
            </a:r>
            <a:r>
              <a:rPr lang="en-US" dirty="0"/>
              <a:t>P6-B300.48xlarge</a:t>
            </a:r>
            <a:r>
              <a:rPr lang="zh-CN" altLang="en-US" dirty="0"/>
              <a:t>节点的</a:t>
            </a:r>
            <a:r>
              <a:rPr lang="en-US" dirty="0" err="1"/>
              <a:t>Nccl</a:t>
            </a:r>
            <a:r>
              <a:rPr lang="en-US" dirty="0"/>
              <a:t>-test</a:t>
            </a:r>
            <a:r>
              <a:rPr lang="zh-CN" altLang="en-US" dirty="0"/>
              <a:t>的</a:t>
            </a:r>
            <a:r>
              <a:rPr lang="en-US" dirty="0" err="1"/>
              <a:t>allreduce</a:t>
            </a:r>
            <a:r>
              <a:rPr lang="en-US" dirty="0"/>
              <a:t>，</a:t>
            </a:r>
            <a:r>
              <a:rPr lang="zh-CN" altLang="en-US" dirty="0"/>
              <a:t>设置了下面两个</a:t>
            </a:r>
            <a:r>
              <a:rPr lang="en-US" altLang="zh-CN" dirty="0" err="1"/>
              <a:t>openmpi</a:t>
            </a:r>
            <a:r>
              <a:rPr lang="zh-CN" altLang="en-US" dirty="0"/>
              <a:t>参数后，</a:t>
            </a:r>
            <a:r>
              <a:rPr lang="en-US" dirty="0" err="1"/>
              <a:t>busbw</a:t>
            </a:r>
            <a:r>
              <a:rPr lang="zh-CN" altLang="en-US" dirty="0"/>
              <a:t>基本上能达到预期</a:t>
            </a:r>
            <a:r>
              <a:rPr lang="en-US" dirty="0"/>
              <a:t>。</a:t>
            </a:r>
          </a:p>
          <a:p>
            <a:pPr lvl="2"/>
            <a:r>
              <a:rPr lang="en-US" dirty="0"/>
              <a:t>--</a:t>
            </a:r>
            <a:r>
              <a:rPr lang="en-US" dirty="0" err="1"/>
              <a:t>mca</a:t>
            </a:r>
            <a:r>
              <a:rPr lang="en-US" dirty="0"/>
              <a:t> </a:t>
            </a:r>
            <a:r>
              <a:rPr lang="en-US" dirty="0" err="1"/>
              <a:t>routed_radix</a:t>
            </a:r>
            <a:r>
              <a:rPr lang="en-US" dirty="0"/>
              <a:t> "256"</a:t>
            </a:r>
          </a:p>
          <a:p>
            <a:pPr lvl="3"/>
            <a:r>
              <a:rPr lang="zh-CN" altLang="en-US" dirty="0"/>
              <a:t>该参数控制 </a:t>
            </a:r>
            <a:r>
              <a:rPr lang="en-US" dirty="0" err="1"/>
              <a:t>OpenMPI</a:t>
            </a:r>
            <a:r>
              <a:rPr lang="en-US" dirty="0"/>
              <a:t> </a:t>
            </a:r>
            <a:r>
              <a:rPr lang="zh-CN" altLang="en-US" dirty="0"/>
              <a:t>内部 </a:t>
            </a:r>
            <a:r>
              <a:rPr lang="en-US" dirty="0"/>
              <a:t>RPC </a:t>
            </a:r>
            <a:r>
              <a:rPr lang="zh-CN" altLang="en-US" dirty="0"/>
              <a:t>路由树的扇出度（</a:t>
            </a:r>
            <a:r>
              <a:rPr lang="en-US" dirty="0"/>
              <a:t>fan-out）。</a:t>
            </a:r>
          </a:p>
          <a:p>
            <a:pPr lvl="2"/>
            <a:r>
              <a:rPr lang="en-US" dirty="0"/>
              <a:t>--</a:t>
            </a:r>
            <a:r>
              <a:rPr lang="en-US" dirty="0" err="1"/>
              <a:t>mca</a:t>
            </a:r>
            <a:r>
              <a:rPr lang="en-US" dirty="0"/>
              <a:t> </a:t>
            </a:r>
            <a:r>
              <a:rPr lang="en-US" dirty="0" err="1"/>
              <a:t>plm_rsh_num_concurrent</a:t>
            </a:r>
            <a:r>
              <a:rPr lang="en-US" dirty="0"/>
              <a:t> "256"</a:t>
            </a:r>
          </a:p>
          <a:p>
            <a:pPr lvl="3"/>
            <a:r>
              <a:rPr lang="zh-CN" altLang="en-US" dirty="0"/>
              <a:t>该参数控制</a:t>
            </a:r>
            <a:r>
              <a:rPr lang="en-US" dirty="0" err="1"/>
              <a:t>PLM（Process</a:t>
            </a:r>
            <a:r>
              <a:rPr lang="en-US" dirty="0"/>
              <a:t> Launch Module）</a:t>
            </a:r>
            <a:r>
              <a:rPr lang="zh-CN" altLang="en-US" dirty="0"/>
              <a:t>的 </a:t>
            </a:r>
            <a:r>
              <a:rPr lang="en-US" dirty="0"/>
              <a:t>RSH/SSH </a:t>
            </a:r>
            <a:r>
              <a:rPr lang="zh-CN" altLang="en-US" dirty="0"/>
              <a:t>并发启动连接数上限。粒度是节点而不是进程（一般把该参数设置为节点数最合理）</a:t>
            </a:r>
          </a:p>
          <a:p>
            <a:r>
              <a:rPr lang="zh-CN" altLang="en-US" b="1" dirty="0"/>
              <a:t>更多节点的</a:t>
            </a:r>
            <a:r>
              <a:rPr lang="en-US" b="1" dirty="0"/>
              <a:t>NCCL test </a:t>
            </a:r>
            <a:r>
              <a:rPr lang="en-US" b="1" dirty="0" err="1"/>
              <a:t>allreduce</a:t>
            </a:r>
            <a:r>
              <a:rPr lang="zh-CN" altLang="en-US" b="1" dirty="0"/>
              <a:t>带宽会不会变小</a:t>
            </a:r>
            <a:r>
              <a:rPr lang="zh-CN" altLang="en-US" dirty="0"/>
              <a:t>？</a:t>
            </a:r>
          </a:p>
          <a:p>
            <a:pPr lvl="1"/>
            <a:r>
              <a:rPr lang="zh-CN" altLang="en-US" dirty="0"/>
              <a:t>来自某客户的实际测试数据</a:t>
            </a:r>
            <a:r>
              <a:rPr lang="en-US" altLang="zh-CN" dirty="0"/>
              <a:t>on B300</a:t>
            </a:r>
            <a:r>
              <a:rPr lang="zh-CN" altLang="en-US" dirty="0"/>
              <a:t>（供参考）：</a:t>
            </a:r>
          </a:p>
          <a:p>
            <a:pPr lvl="2"/>
            <a:r>
              <a:rPr lang="en-US" altLang="zh-CN" dirty="0"/>
              <a:t>8</a:t>
            </a:r>
            <a:r>
              <a:rPr lang="zh-CN" altLang="en-US" dirty="0"/>
              <a:t>台 </a:t>
            </a:r>
            <a:r>
              <a:rPr lang="en-US" altLang="zh-CN" dirty="0"/>
              <a:t>--- 759</a:t>
            </a:r>
            <a:r>
              <a:rPr lang="en-US" dirty="0"/>
              <a:t>GB/s</a:t>
            </a:r>
          </a:p>
          <a:p>
            <a:pPr lvl="2"/>
            <a:r>
              <a:rPr lang="en-US" dirty="0"/>
              <a:t>64</a:t>
            </a:r>
            <a:r>
              <a:rPr lang="zh-CN" altLang="en-US" dirty="0"/>
              <a:t>台 </a:t>
            </a:r>
            <a:r>
              <a:rPr lang="en-US" altLang="zh-CN" dirty="0"/>
              <a:t>--- 687</a:t>
            </a:r>
            <a:r>
              <a:rPr lang="en-US" dirty="0"/>
              <a:t>GB/s</a:t>
            </a:r>
          </a:p>
          <a:p>
            <a:pPr lvl="2"/>
            <a:r>
              <a:rPr lang="en-US" dirty="0"/>
              <a:t>128</a:t>
            </a:r>
            <a:r>
              <a:rPr lang="zh-CN" altLang="en-US" dirty="0"/>
              <a:t>台 </a:t>
            </a:r>
            <a:r>
              <a:rPr lang="en-US" altLang="zh-CN" dirty="0"/>
              <a:t>--- 686</a:t>
            </a:r>
            <a:r>
              <a:rPr lang="en-US" dirty="0"/>
              <a:t>GB/s</a:t>
            </a:r>
          </a:p>
          <a:p>
            <a:pPr lvl="2"/>
            <a:r>
              <a:rPr lang="en-US" dirty="0"/>
              <a:t>256</a:t>
            </a:r>
            <a:r>
              <a:rPr lang="zh-CN" altLang="en-US" dirty="0"/>
              <a:t>台 </a:t>
            </a:r>
            <a:r>
              <a:rPr lang="en-US" altLang="zh-CN" dirty="0"/>
              <a:t>--- 539</a:t>
            </a:r>
            <a:r>
              <a:rPr lang="en-US" dirty="0"/>
              <a:t>GB/s</a:t>
            </a:r>
          </a:p>
        </p:txBody>
      </p:sp>
    </p:spTree>
    <p:extLst>
      <p:ext uri="{BB962C8B-B14F-4D97-AF65-F5344CB8AC3E}">
        <p14:creationId xmlns:p14="http://schemas.microsoft.com/office/powerpoint/2010/main" val="242527941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0C4EBFB-1DF2-EF62-0F0A-EEEBA5CAE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</a:t>
            </a:r>
            <a:r>
              <a:rPr lang="en-US" altLang="zh-CN" dirty="0"/>
              <a:t>ontinue….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AF24EF0-1E18-B44C-5F57-3C5A2BAC66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CN" dirty="0"/>
              <a:t>Tips</a:t>
            </a:r>
            <a:r>
              <a:rPr lang="zh-CN" altLang="en-US" dirty="0"/>
              <a:t>：</a:t>
            </a:r>
          </a:p>
          <a:p>
            <a:pPr lvl="1"/>
            <a:r>
              <a:rPr lang="zh-CN" altLang="en-US" b="1" dirty="0"/>
              <a:t>不同的参数或者环境变量，可能会导致</a:t>
            </a:r>
            <a:r>
              <a:rPr lang="en-US" altLang="zh-CN" b="1" dirty="0" err="1"/>
              <a:t>busbw</a:t>
            </a:r>
            <a:r>
              <a:rPr lang="zh-CN" altLang="en-US" b="1" dirty="0"/>
              <a:t>差别很大</a:t>
            </a:r>
            <a:r>
              <a:rPr lang="en-US" altLang="zh-CN" b="1" dirty="0"/>
              <a:t>.</a:t>
            </a:r>
          </a:p>
          <a:p>
            <a:pPr lvl="2"/>
            <a:r>
              <a:rPr lang="zh-CN" altLang="en-US" dirty="0"/>
              <a:t>最好是有客户之前在比如</a:t>
            </a:r>
            <a:r>
              <a:rPr lang="en-US" altLang="zh-CN" dirty="0"/>
              <a:t>IDC</a:t>
            </a:r>
            <a:r>
              <a:rPr lang="zh-CN" altLang="en-US" dirty="0"/>
              <a:t>的测试完整命令和参数</a:t>
            </a:r>
            <a:r>
              <a:rPr lang="en-US" altLang="zh-CN" dirty="0"/>
              <a:t>/</a:t>
            </a:r>
            <a:r>
              <a:rPr lang="zh-CN" altLang="en-US" dirty="0"/>
              <a:t>环境变量的设定。</a:t>
            </a:r>
            <a:endParaRPr lang="en-US" altLang="zh-CN" dirty="0"/>
          </a:p>
          <a:p>
            <a:pPr lvl="2"/>
            <a:r>
              <a:rPr lang="zh-CN" altLang="en-US" dirty="0"/>
              <a:t>如果没有这样的对比，最好是开</a:t>
            </a:r>
            <a:r>
              <a:rPr lang="en-US" altLang="zh-CN" dirty="0"/>
              <a:t>TT</a:t>
            </a:r>
            <a:r>
              <a:rPr lang="zh-CN" altLang="en-US" dirty="0"/>
              <a:t>找</a:t>
            </a:r>
            <a:r>
              <a:rPr lang="en-US" altLang="zh-CN" dirty="0"/>
              <a:t>ST</a:t>
            </a:r>
            <a:r>
              <a:rPr lang="zh-CN" altLang="en-US" dirty="0"/>
              <a:t>来得到一个不错的测试结果。</a:t>
            </a:r>
          </a:p>
          <a:p>
            <a:pPr lvl="1"/>
            <a:r>
              <a:rPr lang="en-US" b="1" dirty="0" err="1"/>
              <a:t>Nccl</a:t>
            </a:r>
            <a:r>
              <a:rPr lang="en-US" b="1" dirty="0"/>
              <a:t>-test all2all</a:t>
            </a:r>
            <a:r>
              <a:rPr lang="zh-CN" altLang="en-US" b="1" dirty="0"/>
              <a:t>的</a:t>
            </a:r>
            <a:r>
              <a:rPr lang="en-US" b="1" dirty="0" err="1"/>
              <a:t>busbw</a:t>
            </a:r>
            <a:r>
              <a:rPr lang="zh-CN" altLang="en-US" b="1" dirty="0"/>
              <a:t>要比</a:t>
            </a:r>
            <a:r>
              <a:rPr lang="en-US" b="1" dirty="0" err="1"/>
              <a:t>allreduce</a:t>
            </a:r>
            <a:r>
              <a:rPr lang="zh-CN" altLang="en-US" b="1" dirty="0"/>
              <a:t>少很多</a:t>
            </a:r>
            <a:r>
              <a:rPr lang="zh-CN" altLang="en-US" dirty="0"/>
              <a:t>，这个属于正常的。</a:t>
            </a:r>
            <a:endParaRPr lang="en-US" altLang="zh-CN" dirty="0"/>
          </a:p>
          <a:p>
            <a:pPr lvl="2"/>
            <a:r>
              <a:rPr lang="zh-CN" altLang="en-US" dirty="0"/>
              <a:t>建议</a:t>
            </a:r>
            <a:r>
              <a:rPr lang="en-US" dirty="0" err="1"/>
              <a:t>Nccl</a:t>
            </a:r>
            <a:r>
              <a:rPr lang="en-US" dirty="0"/>
              <a:t>-test</a:t>
            </a:r>
            <a:r>
              <a:rPr lang="zh-CN" altLang="en-US" dirty="0"/>
              <a:t>的</a:t>
            </a:r>
            <a:r>
              <a:rPr lang="en-US" dirty="0"/>
              <a:t>all2all </a:t>
            </a:r>
            <a:r>
              <a:rPr lang="zh-CN" altLang="en-US" dirty="0"/>
              <a:t>的测试开</a:t>
            </a:r>
            <a:r>
              <a:rPr lang="en-US" dirty="0"/>
              <a:t>TT</a:t>
            </a:r>
            <a:r>
              <a:rPr lang="zh-CN" altLang="en-US" dirty="0"/>
              <a:t>让</a:t>
            </a:r>
            <a:r>
              <a:rPr lang="en-US" dirty="0"/>
              <a:t>ST</a:t>
            </a:r>
            <a:r>
              <a:rPr lang="zh-CN" altLang="en-US" dirty="0"/>
              <a:t>来调优找到一组更好的环境变量</a:t>
            </a:r>
            <a:r>
              <a:rPr lang="en-US" altLang="zh-CN" dirty="0"/>
              <a:t>/</a:t>
            </a:r>
            <a:r>
              <a:rPr lang="zh-CN" altLang="en-US" dirty="0"/>
              <a:t>参数。</a:t>
            </a:r>
            <a:endParaRPr lang="en-US" altLang="zh-CN" dirty="0"/>
          </a:p>
          <a:p>
            <a:pPr lvl="2"/>
            <a:r>
              <a:rPr lang="en-US" b="1" dirty="0"/>
              <a:t> </a:t>
            </a:r>
            <a:r>
              <a:rPr lang="en-US" b="1" dirty="0" err="1"/>
              <a:t>alltoall</a:t>
            </a:r>
            <a:r>
              <a:rPr lang="en-US" b="1" dirty="0"/>
              <a:t> </a:t>
            </a:r>
            <a:r>
              <a:rPr lang="zh-CN" altLang="en-US" b="1" dirty="0"/>
              <a:t>在</a:t>
            </a:r>
            <a:r>
              <a:rPr lang="en-US" b="1" dirty="0"/>
              <a:t> NCCL </a:t>
            </a:r>
            <a:r>
              <a:rPr lang="zh-CN" altLang="en-US" b="1" dirty="0"/>
              <a:t>中没有专用的集合通信算法（不像</a:t>
            </a:r>
            <a:r>
              <a:rPr lang="en-US" b="1" dirty="0"/>
              <a:t> </a:t>
            </a:r>
            <a:r>
              <a:rPr lang="en-US" b="1" dirty="0" err="1"/>
              <a:t>AllReduce</a:t>
            </a:r>
            <a:r>
              <a:rPr lang="en-US" b="1" dirty="0"/>
              <a:t> </a:t>
            </a:r>
            <a:r>
              <a:rPr lang="zh-CN" altLang="en-US" b="1" dirty="0"/>
              <a:t>有</a:t>
            </a:r>
            <a:r>
              <a:rPr lang="en-US" b="1" dirty="0"/>
              <a:t> Ring/Tree</a:t>
            </a:r>
            <a:r>
              <a:rPr lang="zh-CN" altLang="en-US" b="1" dirty="0"/>
              <a:t>）</a:t>
            </a:r>
            <a:r>
              <a:rPr lang="zh-CN" altLang="en-US" dirty="0"/>
              <a:t>，它被分解为</a:t>
            </a:r>
            <a:r>
              <a:rPr lang="en-US" dirty="0"/>
              <a:t> N</a:t>
            </a:r>
            <a:r>
              <a:rPr lang="en-US" altLang="zh-CN" dirty="0"/>
              <a:t>×</a:t>
            </a:r>
            <a:r>
              <a:rPr lang="en-US" dirty="0"/>
              <a:t>N </a:t>
            </a:r>
            <a:r>
              <a:rPr lang="zh-CN" altLang="en-US" dirty="0"/>
              <a:t>组</a:t>
            </a:r>
            <a:r>
              <a:rPr lang="en-US" dirty="0"/>
              <a:t> </a:t>
            </a:r>
            <a:r>
              <a:rPr lang="en-US" dirty="0" err="1"/>
              <a:t>ncclSend</a:t>
            </a:r>
            <a:r>
              <a:rPr lang="en-US" dirty="0"/>
              <a:t> + </a:t>
            </a:r>
            <a:r>
              <a:rPr lang="en-US" dirty="0" err="1"/>
              <a:t>ncclRecv</a:t>
            </a:r>
            <a:r>
              <a:rPr lang="zh-CN" altLang="en-US" dirty="0"/>
              <a:t>，底层用统一的</a:t>
            </a:r>
            <a:r>
              <a:rPr lang="en-US" dirty="0"/>
              <a:t>  </a:t>
            </a:r>
            <a:r>
              <a:rPr lang="en-US" dirty="0" err="1"/>
              <a:t>ncclDevKernel_SendRecv</a:t>
            </a:r>
            <a:r>
              <a:rPr lang="en-US" dirty="0"/>
              <a:t> kernel </a:t>
            </a:r>
            <a:r>
              <a:rPr lang="zh-CN" altLang="en-US" dirty="0"/>
              <a:t>执行所有点对点传输。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687384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801C915-B369-8101-962C-CC822E721D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EFA NIC</a:t>
            </a:r>
            <a:r>
              <a:rPr lang="zh-CN" altLang="en-US" dirty="0"/>
              <a:t>支持的两种</a:t>
            </a:r>
            <a:r>
              <a:rPr lang="en-US" altLang="zh-CN" dirty="0"/>
              <a:t>EFA</a:t>
            </a:r>
            <a:r>
              <a:rPr lang="en-US" dirty="0"/>
              <a:t> type</a:t>
            </a:r>
            <a:r>
              <a:rPr lang="zh-CN" altLang="en-US" dirty="0"/>
              <a:t>的对比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BAAFF68-25DB-8CA5-EE7F-6280663E7D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8208"/>
            <a:ext cx="10515600" cy="4351338"/>
          </a:xfrm>
        </p:spPr>
        <p:txBody>
          <a:bodyPr/>
          <a:lstStyle/>
          <a:p>
            <a:endParaRPr lang="en-US" dirty="0"/>
          </a:p>
          <a:p>
            <a:endParaRPr lang="en-US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5AA47184-0B9B-EBE4-3F1B-2517640434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925727"/>
            <a:ext cx="10368280" cy="4567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694605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92D5E4E-536A-434E-A9C6-29DBD3B0AA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130300"/>
          </a:xfrm>
        </p:spPr>
        <p:txBody>
          <a:bodyPr>
            <a:normAutofit fontScale="90000"/>
          </a:bodyPr>
          <a:lstStyle/>
          <a:p>
            <a:r>
              <a:rPr lang="en-US" dirty="0"/>
              <a:t>EFA</a:t>
            </a:r>
            <a:r>
              <a:rPr lang="zh-CN" altLang="en-US" dirty="0"/>
              <a:t>提供两套</a:t>
            </a:r>
            <a:r>
              <a:rPr lang="en-US" altLang="zh-CN" dirty="0"/>
              <a:t>API: </a:t>
            </a:r>
            <a:r>
              <a:rPr lang="en-US" altLang="zh-CN" dirty="0" err="1"/>
              <a:t>libibverbs</a:t>
            </a:r>
            <a:r>
              <a:rPr lang="en-US" altLang="zh-CN" dirty="0"/>
              <a:t> API</a:t>
            </a:r>
            <a:r>
              <a:rPr lang="zh-CN" altLang="en-US" dirty="0"/>
              <a:t>和</a:t>
            </a:r>
            <a:r>
              <a:rPr lang="en-US" altLang="zh-CN" dirty="0" err="1"/>
              <a:t>libfabric</a:t>
            </a:r>
            <a:r>
              <a:rPr lang="en-US" altLang="zh-CN" dirty="0"/>
              <a:t> API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AB8897AF-353F-30D0-9B29-F013A33DB7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440" y="1704975"/>
            <a:ext cx="9560560" cy="5030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6818306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A160C9A-F555-F083-0578-31B9940662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158875"/>
          </a:xfrm>
        </p:spPr>
        <p:txBody>
          <a:bodyPr/>
          <a:lstStyle/>
          <a:p>
            <a:r>
              <a:rPr lang="zh-CN" altLang="en-US" dirty="0"/>
              <a:t>如何做</a:t>
            </a:r>
            <a:r>
              <a:rPr lang="en-US" altLang="zh-CN" dirty="0"/>
              <a:t>EFA</a:t>
            </a:r>
            <a:r>
              <a:rPr lang="zh-CN" altLang="en-US" dirty="0"/>
              <a:t>网卡分离？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61B065F-9939-04D9-9FFC-3AC6B623CA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8171"/>
            <a:ext cx="10515600" cy="4478792"/>
          </a:xfrm>
        </p:spPr>
        <p:txBody>
          <a:bodyPr/>
          <a:lstStyle/>
          <a:p>
            <a:r>
              <a:rPr lang="zh-CN" altLang="en-US" dirty="0"/>
              <a:t>如何针对</a:t>
            </a:r>
            <a:r>
              <a:rPr lang="en-US" altLang="zh-CN" dirty="0"/>
              <a:t>NCCL, </a:t>
            </a:r>
            <a:r>
              <a:rPr lang="en-US" altLang="zh-CN" dirty="0" err="1"/>
              <a:t>DeepEP</a:t>
            </a:r>
            <a:r>
              <a:rPr lang="en-US" altLang="zh-CN" dirty="0"/>
              <a:t>/</a:t>
            </a:r>
            <a:r>
              <a:rPr lang="en-US" altLang="zh-CN" dirty="0" err="1"/>
              <a:t>Uccl</a:t>
            </a:r>
            <a:r>
              <a:rPr lang="en-US" altLang="zh-CN" dirty="0"/>
              <a:t>-EP</a:t>
            </a:r>
            <a:r>
              <a:rPr lang="zh-CN" altLang="en-US" dirty="0"/>
              <a:t>，</a:t>
            </a:r>
            <a:r>
              <a:rPr lang="en-US" altLang="zh-CN" dirty="0"/>
              <a:t>NIXL KV transfer/Mooncake Transfer engine</a:t>
            </a:r>
            <a:r>
              <a:rPr lang="zh-CN" altLang="en-US" dirty="0"/>
              <a:t>设定使用不同的</a:t>
            </a:r>
            <a:r>
              <a:rPr lang="en-US" altLang="zh-CN" dirty="0"/>
              <a:t>EFA</a:t>
            </a:r>
            <a:r>
              <a:rPr lang="zh-CN" altLang="en-US" dirty="0"/>
              <a:t>网卡？</a:t>
            </a:r>
            <a:r>
              <a:rPr lang="en-US" altLang="zh-CN" dirty="0"/>
              <a:t>(</a:t>
            </a:r>
            <a:r>
              <a:rPr lang="zh-CN" altLang="en-US" dirty="0"/>
              <a:t>下面这个是</a:t>
            </a:r>
            <a:r>
              <a:rPr lang="en-US" altLang="zh-CN" dirty="0"/>
              <a:t>P5en.48xlarge</a:t>
            </a:r>
            <a:r>
              <a:rPr lang="zh-CN" altLang="en-US" dirty="0"/>
              <a:t>的</a:t>
            </a:r>
            <a:r>
              <a:rPr lang="en-US" altLang="zh-CN" dirty="0"/>
              <a:t>PCIE</a:t>
            </a:r>
            <a:r>
              <a:rPr lang="zh-CN" altLang="en-US" dirty="0"/>
              <a:t>拓扑</a:t>
            </a:r>
            <a:r>
              <a:rPr lang="en-US" altLang="zh-CN" dirty="0"/>
              <a:t> )</a:t>
            </a:r>
          </a:p>
          <a:p>
            <a:pPr lvl="1"/>
            <a:r>
              <a:rPr lang="zh-CN" altLang="en-US" b="1" dirty="0">
                <a:solidFill>
                  <a:srgbClr val="FF0000"/>
                </a:solidFill>
              </a:rPr>
              <a:t>思考：</a:t>
            </a:r>
            <a:r>
              <a:rPr lang="en-US" altLang="zh-CN" b="1" dirty="0">
                <a:solidFill>
                  <a:srgbClr val="FF0000"/>
                </a:solidFill>
              </a:rPr>
              <a:t>EFA NIC</a:t>
            </a:r>
            <a:r>
              <a:rPr lang="zh-CN" altLang="en-US" b="1" dirty="0">
                <a:solidFill>
                  <a:srgbClr val="FF0000"/>
                </a:solidFill>
              </a:rPr>
              <a:t>分离的效果一定更好嘛？</a:t>
            </a:r>
            <a:endParaRPr lang="en-US" altLang="zh-CN" b="1" dirty="0">
              <a:solidFill>
                <a:srgbClr val="FF0000"/>
              </a:solidFill>
            </a:endParaRPr>
          </a:p>
          <a:p>
            <a:pPr lvl="1"/>
            <a:endParaRPr lang="en-US" altLang="zh-CN" dirty="0"/>
          </a:p>
          <a:p>
            <a:pPr lvl="1"/>
            <a:endParaRPr lang="en-US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FBE4B1A9-ADED-514B-F2AB-501485FD86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7495" y="3305908"/>
            <a:ext cx="9033468" cy="3376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962940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CBA6B82-A422-933A-105B-0298A11A5A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80498"/>
          </a:xfrm>
        </p:spPr>
        <p:txBody>
          <a:bodyPr>
            <a:normAutofit/>
          </a:bodyPr>
          <a:lstStyle/>
          <a:p>
            <a:r>
              <a:rPr lang="zh-CN" altLang="en-US" dirty="0"/>
              <a:t>单个</a:t>
            </a:r>
            <a:r>
              <a:rPr lang="en-US" dirty="0"/>
              <a:t>EFA</a:t>
            </a:r>
            <a:r>
              <a:rPr lang="zh-CN" altLang="en-US" dirty="0"/>
              <a:t>设备能支持最多的</a:t>
            </a:r>
            <a:r>
              <a:rPr lang="en-US" dirty="0"/>
              <a:t>QP</a:t>
            </a:r>
            <a:r>
              <a:rPr lang="zh-CN" altLang="en-US" dirty="0"/>
              <a:t>是多少？</a:t>
            </a:r>
            <a:endParaRPr lang="en-US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56CC0636-300D-FB51-F68E-1468011E87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2328" y="1764254"/>
            <a:ext cx="9448828" cy="4728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727720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8C96608-5880-E703-11E6-3E4E2D5BBD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162461"/>
          </a:xfrm>
        </p:spPr>
        <p:txBody>
          <a:bodyPr>
            <a:normAutofit fontScale="90000"/>
          </a:bodyPr>
          <a:lstStyle/>
          <a:p>
            <a:r>
              <a:rPr lang="en-US" dirty="0"/>
              <a:t>EFA </a:t>
            </a:r>
            <a:r>
              <a:rPr lang="en-US" dirty="0" err="1"/>
              <a:t>libfabric</a:t>
            </a:r>
            <a:r>
              <a:rPr lang="en-US" dirty="0"/>
              <a:t> provider </a:t>
            </a:r>
            <a:r>
              <a:rPr lang="zh-CN" altLang="en-US" dirty="0"/>
              <a:t>有两条独立的</a:t>
            </a:r>
            <a:r>
              <a:rPr lang="en-US" dirty="0"/>
              <a:t> GPU </a:t>
            </a:r>
            <a:r>
              <a:rPr lang="zh-CN" altLang="en-US" dirty="0"/>
              <a:t>零拷贝</a:t>
            </a:r>
            <a:r>
              <a:rPr lang="en-US" dirty="0"/>
              <a:t> RDMA </a:t>
            </a:r>
            <a:r>
              <a:rPr lang="zh-CN" altLang="en-US" dirty="0"/>
              <a:t>路径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558FBCB-51A7-A2D2-D73D-33F2C5D9C3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54711"/>
            <a:ext cx="10515600" cy="4122252"/>
          </a:xfrm>
        </p:spPr>
        <p:txBody>
          <a:bodyPr/>
          <a:lstStyle/>
          <a:p>
            <a:r>
              <a:rPr lang="zh-CN" altLang="en-US" dirty="0"/>
              <a:t> 路径 </a:t>
            </a:r>
            <a:r>
              <a:rPr lang="en-US" altLang="zh-CN" dirty="0"/>
              <a:t>1: </a:t>
            </a:r>
            <a:r>
              <a:rPr lang="en-US" dirty="0" err="1"/>
              <a:t>dmabuf</a:t>
            </a:r>
            <a:r>
              <a:rPr lang="en-US" dirty="0"/>
              <a:t> (</a:t>
            </a:r>
            <a:r>
              <a:rPr lang="zh-CN" altLang="en-US" dirty="0"/>
              <a:t>内核原生，不需要 </a:t>
            </a:r>
            <a:r>
              <a:rPr lang="en-US" dirty="0" err="1"/>
              <a:t>efa_nv_peermem</a:t>
            </a:r>
            <a:r>
              <a:rPr lang="en-US" dirty="0"/>
              <a:t>)                                                                                              </a:t>
            </a:r>
          </a:p>
          <a:p>
            <a:pPr lvl="1"/>
            <a:r>
              <a:rPr lang="en-US" sz="2000" dirty="0"/>
              <a:t>GPU Memory → NVIDIA </a:t>
            </a:r>
            <a:r>
              <a:rPr lang="en-US" sz="2000" dirty="0" err="1"/>
              <a:t>dmabuf</a:t>
            </a:r>
            <a:r>
              <a:rPr lang="en-US" sz="2000" dirty="0"/>
              <a:t> export → EFA driver </a:t>
            </a:r>
            <a:r>
              <a:rPr lang="en-US" sz="2000" dirty="0" err="1"/>
              <a:t>dmabuf</a:t>
            </a:r>
            <a:r>
              <a:rPr lang="en-US" sz="2000" dirty="0"/>
              <a:t> import → EFA NIC DMA → RDMA</a:t>
            </a:r>
          </a:p>
          <a:p>
            <a:r>
              <a:rPr lang="zh-CN" altLang="en-US" sz="2400" dirty="0"/>
              <a:t>路径</a:t>
            </a:r>
            <a:r>
              <a:rPr lang="en-US" sz="2400" dirty="0"/>
              <a:t> 2: </a:t>
            </a:r>
            <a:r>
              <a:rPr lang="en-US" sz="2400" dirty="0" err="1"/>
              <a:t>peer_memory</a:t>
            </a:r>
            <a:r>
              <a:rPr lang="en-US" sz="2400" dirty="0"/>
              <a:t> </a:t>
            </a:r>
            <a:r>
              <a:rPr lang="en-US" dirty="0"/>
              <a:t>(</a:t>
            </a:r>
            <a:r>
              <a:rPr lang="zh-CN" altLang="en-US" dirty="0"/>
              <a:t>需要</a:t>
            </a:r>
            <a:r>
              <a:rPr lang="en-US" dirty="0"/>
              <a:t> </a:t>
            </a:r>
            <a:r>
              <a:rPr lang="en-US" dirty="0" err="1"/>
              <a:t>efa_nv_peermem</a:t>
            </a:r>
            <a:r>
              <a:rPr lang="en-US" dirty="0"/>
              <a:t>)</a:t>
            </a:r>
          </a:p>
          <a:p>
            <a:pPr lvl="1"/>
            <a:r>
              <a:rPr lang="en-US" sz="2000" dirty="0"/>
              <a:t>GPU Memory </a:t>
            </a:r>
            <a:r>
              <a:rPr lang="zh-CN" altLang="en-US" sz="2000" dirty="0"/>
              <a:t>→</a:t>
            </a:r>
            <a:r>
              <a:rPr lang="en-US" sz="2000" dirty="0"/>
              <a:t> </a:t>
            </a:r>
            <a:r>
              <a:rPr lang="en-US" sz="2000" dirty="0" err="1"/>
              <a:t>efa_nv_peermem</a:t>
            </a:r>
            <a:r>
              <a:rPr lang="en-US" sz="2000" dirty="0"/>
              <a:t> callback </a:t>
            </a:r>
            <a:r>
              <a:rPr lang="zh-CN" altLang="en-US" sz="2000" dirty="0"/>
              <a:t>→</a:t>
            </a:r>
            <a:r>
              <a:rPr lang="en-US" sz="2000" dirty="0"/>
              <a:t> EFA driver pin GPU pages </a:t>
            </a:r>
            <a:r>
              <a:rPr lang="zh-CN" altLang="en-US" sz="2000" dirty="0"/>
              <a:t>→</a:t>
            </a:r>
            <a:r>
              <a:rPr lang="en-US" sz="2000" dirty="0"/>
              <a:t> EFA NIC DMA </a:t>
            </a:r>
            <a:r>
              <a:rPr lang="zh-CN" altLang="en-US" sz="2000" dirty="0"/>
              <a:t>→</a:t>
            </a:r>
            <a:r>
              <a:rPr lang="en-US" sz="2000" dirty="0"/>
              <a:t> RDMA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9AD3B5BF-69B6-687E-EEA0-47E8BB9500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6039" y="4260028"/>
            <a:ext cx="8858271" cy="2346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2748401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E02D904-9FC6-8872-673D-65E21C19BF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推理框架如何选择？（</a:t>
            </a:r>
            <a:r>
              <a:rPr lang="en-US" altLang="zh-CN" b="1" dirty="0" err="1"/>
              <a:t>SGLang</a:t>
            </a:r>
            <a:r>
              <a:rPr lang="en-US" altLang="zh-CN" b="1" dirty="0"/>
              <a:t> or VLLM</a:t>
            </a:r>
            <a:r>
              <a:rPr lang="zh-CN" altLang="en-US" dirty="0"/>
              <a:t>）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6641321-451E-AA18-658F-A3AF1281CA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79525"/>
            <a:ext cx="10515600" cy="4197438"/>
          </a:xfrm>
        </p:spPr>
        <p:txBody>
          <a:bodyPr>
            <a:normAutofit lnSpcReduction="10000"/>
          </a:bodyPr>
          <a:lstStyle/>
          <a:p>
            <a:r>
              <a:rPr lang="zh-CN" altLang="en-US" b="1" dirty="0">
                <a:solidFill>
                  <a:srgbClr val="FF0000"/>
                </a:solidFill>
              </a:rPr>
              <a:t>生态和流行度</a:t>
            </a:r>
            <a:r>
              <a:rPr lang="zh-CN" altLang="en-US" dirty="0"/>
              <a:t>：</a:t>
            </a:r>
            <a:endParaRPr lang="en-US" altLang="zh-CN" dirty="0"/>
          </a:p>
          <a:p>
            <a:pPr lvl="1"/>
            <a:r>
              <a:rPr lang="en-US" dirty="0" err="1"/>
              <a:t>SGL</a:t>
            </a:r>
            <a:r>
              <a:rPr lang="en-US" altLang="zh-CN" dirty="0" err="1"/>
              <a:t>ang</a:t>
            </a:r>
            <a:r>
              <a:rPr lang="zh-CN" altLang="en-US" dirty="0"/>
              <a:t>和</a:t>
            </a:r>
            <a:r>
              <a:rPr lang="en-US" altLang="zh-CN" dirty="0"/>
              <a:t>VLLM</a:t>
            </a:r>
            <a:r>
              <a:rPr lang="zh-CN" altLang="en-US" dirty="0"/>
              <a:t>是当前最主流的。</a:t>
            </a:r>
            <a:endParaRPr lang="en-US" altLang="zh-CN" dirty="0"/>
          </a:p>
          <a:p>
            <a:pPr lvl="1"/>
            <a:r>
              <a:rPr lang="en-US" dirty="0" err="1"/>
              <a:t>SGL</a:t>
            </a:r>
            <a:r>
              <a:rPr lang="en-US" altLang="zh-CN" dirty="0" err="1"/>
              <a:t>ang</a:t>
            </a:r>
            <a:r>
              <a:rPr lang="zh-CN" altLang="en-US" dirty="0"/>
              <a:t>是我见过国内客户用的最多的。</a:t>
            </a:r>
            <a:endParaRPr lang="en-US" altLang="zh-CN" dirty="0"/>
          </a:p>
          <a:p>
            <a:pPr lvl="1"/>
            <a:r>
              <a:rPr lang="zh-CN" altLang="en-US" dirty="0"/>
              <a:t>有些客户还用</a:t>
            </a:r>
            <a:r>
              <a:rPr lang="en-US" altLang="zh-CN" dirty="0"/>
              <a:t>TRT-LLM</a:t>
            </a:r>
            <a:r>
              <a:rPr lang="zh-CN" altLang="en-US" dirty="0"/>
              <a:t>跑</a:t>
            </a:r>
            <a:r>
              <a:rPr lang="en-US" altLang="zh-CN" dirty="0"/>
              <a:t>benchmark</a:t>
            </a:r>
            <a:r>
              <a:rPr lang="zh-CN" altLang="en-US" dirty="0"/>
              <a:t>。</a:t>
            </a:r>
            <a:endParaRPr lang="en-US" altLang="zh-CN" dirty="0"/>
          </a:p>
          <a:p>
            <a:r>
              <a:rPr lang="zh-CN" altLang="en-US" b="1" dirty="0">
                <a:solidFill>
                  <a:srgbClr val="FF0000"/>
                </a:solidFill>
              </a:rPr>
              <a:t>迭代速度</a:t>
            </a:r>
            <a:r>
              <a:rPr lang="zh-CN" altLang="en-US" b="1" dirty="0"/>
              <a:t>：</a:t>
            </a:r>
            <a:endParaRPr lang="en-US" altLang="zh-CN" b="1" dirty="0"/>
          </a:p>
          <a:p>
            <a:pPr lvl="1"/>
            <a:r>
              <a:rPr lang="zh-CN" altLang="en-US" dirty="0"/>
              <a:t>对于新的</a:t>
            </a:r>
            <a:r>
              <a:rPr lang="en-US" altLang="zh-CN" dirty="0"/>
              <a:t>feature</a:t>
            </a:r>
            <a:r>
              <a:rPr lang="zh-CN" altLang="en-US" dirty="0"/>
              <a:t>的支持速度。</a:t>
            </a:r>
            <a:endParaRPr lang="en-US" altLang="zh-CN" dirty="0"/>
          </a:p>
          <a:p>
            <a:pPr lvl="1"/>
            <a:r>
              <a:rPr lang="zh-CN" altLang="en-US" b="1" dirty="0"/>
              <a:t>对于新模型的支持，不同框架的支持速度可能不一样</a:t>
            </a:r>
            <a:r>
              <a:rPr lang="zh-CN" altLang="en-US" dirty="0"/>
              <a:t>。</a:t>
            </a:r>
            <a:endParaRPr lang="en-US" altLang="zh-CN" dirty="0"/>
          </a:p>
          <a:p>
            <a:pPr lvl="2"/>
            <a:r>
              <a:rPr lang="zh-CN" altLang="en-US" dirty="0"/>
              <a:t>比如对于</a:t>
            </a:r>
            <a:r>
              <a:rPr lang="en-US" altLang="zh-CN" dirty="0"/>
              <a:t>Deepseek-v4-pro FP4 </a:t>
            </a:r>
            <a:r>
              <a:rPr lang="en-US" altLang="zh-CN" dirty="0" err="1"/>
              <a:t>moe</a:t>
            </a:r>
            <a:r>
              <a:rPr lang="zh-CN" altLang="en-US" dirty="0"/>
              <a:t>版本的支持，</a:t>
            </a:r>
            <a:r>
              <a:rPr lang="en-US" altLang="zh-CN" dirty="0" err="1"/>
              <a:t>vllm</a:t>
            </a:r>
            <a:r>
              <a:rPr lang="zh-CN" altLang="en-US" dirty="0"/>
              <a:t>支持的并行策略</a:t>
            </a:r>
            <a:r>
              <a:rPr lang="en-US" altLang="zh-CN" dirty="0"/>
              <a:t>feature</a:t>
            </a:r>
            <a:r>
              <a:rPr lang="zh-CN" altLang="en-US" dirty="0"/>
              <a:t>比</a:t>
            </a:r>
            <a:r>
              <a:rPr lang="en-US" altLang="zh-CN" dirty="0" err="1"/>
              <a:t>SGLang</a:t>
            </a:r>
            <a:r>
              <a:rPr lang="zh-CN" altLang="en-US" dirty="0"/>
              <a:t>更多更快。</a:t>
            </a:r>
            <a:endParaRPr lang="en-US" altLang="zh-CN" dirty="0"/>
          </a:p>
          <a:p>
            <a:r>
              <a:rPr lang="zh-CN" altLang="en-US" b="1" dirty="0">
                <a:solidFill>
                  <a:srgbClr val="FF0000"/>
                </a:solidFill>
              </a:rPr>
              <a:t>成熟度：</a:t>
            </a:r>
            <a:endParaRPr lang="en-US" altLang="zh-CN" b="1" dirty="0">
              <a:solidFill>
                <a:srgbClr val="FF0000"/>
              </a:solidFill>
            </a:endParaRPr>
          </a:p>
          <a:p>
            <a:pPr lvl="1"/>
            <a:r>
              <a:rPr lang="en-US" altLang="zh-CN" b="1" dirty="0" err="1"/>
              <a:t>SGLang</a:t>
            </a:r>
            <a:r>
              <a:rPr lang="zh-CN" altLang="en-US" b="1" dirty="0"/>
              <a:t>已经是生产级别的推理框架</a:t>
            </a:r>
            <a:r>
              <a:rPr lang="zh-CN" altLang="en-US" dirty="0"/>
              <a:t>。</a:t>
            </a:r>
            <a:endParaRPr lang="en-US" altLang="zh-CN" dirty="0"/>
          </a:p>
          <a:p>
            <a:pPr lvl="1"/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820757599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528CEC5-776B-898E-610C-37BCACC8E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相关参考：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20BEE62-6AD8-10B7-6785-E01C8A0E89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zh-CN" altLang="en-US" dirty="0"/>
              <a:t>很多</a:t>
            </a:r>
            <a:r>
              <a:rPr lang="en-US" dirty="0" err="1"/>
              <a:t>SGLang</a:t>
            </a:r>
            <a:r>
              <a:rPr lang="zh-CN" altLang="en-US" dirty="0"/>
              <a:t>相关的环境变量可以参考：</a:t>
            </a:r>
            <a:r>
              <a:rPr lang="en-US" u="sng" dirty="0">
                <a:hlinkClick r:id="rId3"/>
              </a:rPr>
              <a:t>https://gist.github.com/trevor-m/e0833a26586cb032f0c359253ae78c91</a:t>
            </a:r>
            <a:endParaRPr lang="en-US" dirty="0"/>
          </a:p>
          <a:p>
            <a:pPr lvl="0"/>
            <a:r>
              <a:rPr lang="en-US" dirty="0" err="1"/>
              <a:t>Libfabric</a:t>
            </a:r>
            <a:r>
              <a:rPr lang="en-US" dirty="0"/>
              <a:t> on EFA</a:t>
            </a:r>
            <a:r>
              <a:rPr lang="zh-CN" altLang="en-US" dirty="0"/>
              <a:t>相关的环境变量：</a:t>
            </a:r>
            <a:r>
              <a:rPr lang="en-US" u="sng" dirty="0">
                <a:hlinkClick r:id="rId4"/>
              </a:rPr>
              <a:t>https://ofiwg.github.io/libfabric/main/man/fi_efa.7.html</a:t>
            </a:r>
            <a:endParaRPr lang="en-US" dirty="0"/>
          </a:p>
          <a:p>
            <a:r>
              <a:rPr lang="en-US" dirty="0"/>
              <a:t>AWS OFI NCCL</a:t>
            </a:r>
            <a:r>
              <a:rPr lang="zh-CN" altLang="en-US" dirty="0"/>
              <a:t>的相关环境变量：</a:t>
            </a:r>
            <a:r>
              <a:rPr lang="en-US" u="sng" dirty="0">
                <a:hlinkClick r:id="rId5"/>
              </a:rPr>
              <a:t>https://github.com/aws/aws-ofi-nccl/wiki/Environment-Variables</a:t>
            </a:r>
            <a:endParaRPr lang="en-US" u="sng" dirty="0"/>
          </a:p>
          <a:p>
            <a:r>
              <a:rPr lang="zh-CN" altLang="en-US" dirty="0"/>
              <a:t>很多实践过程我整理成了</a:t>
            </a:r>
            <a:r>
              <a:rPr lang="en-US" dirty="0"/>
              <a:t>Claude code skill，</a:t>
            </a:r>
            <a:r>
              <a:rPr lang="zh-CN" altLang="en-US" dirty="0"/>
              <a:t>具体可以参考：</a:t>
            </a:r>
            <a:r>
              <a:rPr lang="en-US" dirty="0">
                <a:hlinkClick r:id="rId6"/>
              </a:rPr>
              <a:t>https://github.com/yuhuiaws/ML-study/blob/main/%E7%94%9F%E6%88%90%E5%BC%8FAI/Claude-code-Skills</a:t>
            </a:r>
            <a:r>
              <a:rPr lang="en-US" dirty="0"/>
              <a:t> </a:t>
            </a:r>
          </a:p>
          <a:p>
            <a:endParaRPr lang="pt-BR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91925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11771</TotalTime>
  <Words>7222</Words>
  <Application>Microsoft Office PowerPoint</Application>
  <PresentationFormat>宽屏</PresentationFormat>
  <Paragraphs>705</Paragraphs>
  <Slides>78</Slides>
  <Notes>33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78</vt:i4>
      </vt:variant>
    </vt:vector>
  </HeadingPairs>
  <TitlesOfParts>
    <vt:vector size="83" baseType="lpstr">
      <vt:lpstr>Aptos</vt:lpstr>
      <vt:lpstr>Aptos Display</vt:lpstr>
      <vt:lpstr>Arial</vt:lpstr>
      <vt:lpstr>Wingdings</vt:lpstr>
      <vt:lpstr>Office 主题​​</vt:lpstr>
      <vt:lpstr>大模型推理的项目实践</vt:lpstr>
      <vt:lpstr>Agenda</vt:lpstr>
      <vt:lpstr>背景与挑战</vt:lpstr>
      <vt:lpstr>背景</vt:lpstr>
      <vt:lpstr>挑战</vt:lpstr>
      <vt:lpstr>Continue…..</vt:lpstr>
      <vt:lpstr>测试先行 ----- 大模型Benchmark方法论</vt:lpstr>
      <vt:lpstr>大模型Benchmark方法论</vt:lpstr>
      <vt:lpstr>Continue…..</vt:lpstr>
      <vt:lpstr>Continue…..</vt:lpstr>
      <vt:lpstr>Benchmark实践Tips</vt:lpstr>
      <vt:lpstr>Continue…..</vt:lpstr>
      <vt:lpstr>Continue….</vt:lpstr>
      <vt:lpstr>Continue…..</vt:lpstr>
      <vt:lpstr>部署方案1：单机部署</vt:lpstr>
      <vt:lpstr>核心决策：模型能否放进单机？</vt:lpstr>
      <vt:lpstr>为什么单机也需要 EP？</vt:lpstr>
      <vt:lpstr>Continue…..</vt:lpstr>
      <vt:lpstr>Continue…..</vt:lpstr>
      <vt:lpstr>单机部署和多机部署的对比</vt:lpstr>
      <vt:lpstr>部署方案2：多机Non-PD 分离</vt:lpstr>
      <vt:lpstr>核心决策</vt:lpstr>
      <vt:lpstr>2节点并行策略组合矩阵的配置举例</vt:lpstr>
      <vt:lpstr>Non-PD方案 vs PD分离方案</vt:lpstr>
      <vt:lpstr>Continue…..</vt:lpstr>
      <vt:lpstr>Continue…..</vt:lpstr>
      <vt:lpstr>部署方案3：多节点PD 分离</vt:lpstr>
      <vt:lpstr>Prefill-Decode 分离方案中涉及到的role</vt:lpstr>
      <vt:lpstr>PD分离的架构总览</vt:lpstr>
      <vt:lpstr>Router的LB策略</vt:lpstr>
      <vt:lpstr>xPxD的选择</vt:lpstr>
      <vt:lpstr>KV  transfer engine的选择</vt:lpstr>
      <vt:lpstr>PD 分离性能对比</vt:lpstr>
      <vt:lpstr>Continue….</vt:lpstr>
      <vt:lpstr>Continue….</vt:lpstr>
      <vt:lpstr>Continue…..</vt:lpstr>
      <vt:lpstr>Continue…..</vt:lpstr>
      <vt:lpstr>大模型部署方案选型建议</vt:lpstr>
      <vt:lpstr>方案选型核心原则</vt:lpstr>
      <vt:lpstr>方案选型决策树</vt:lpstr>
      <vt:lpstr>一个完整的模型不同部署方案的benchmark性能对比</vt:lpstr>
      <vt:lpstr>测试环境</vt:lpstr>
      <vt:lpstr>Output throughput（tokens/s）对比</vt:lpstr>
      <vt:lpstr>TTFT对比</vt:lpstr>
      <vt:lpstr>TPOT对比</vt:lpstr>
      <vt:lpstr>Rate 32（request rate和max concurrency都是32）的核心性能metric对比</vt:lpstr>
      <vt:lpstr>实验观察小结（对于当前这个测试场景和已测试过的方案）</vt:lpstr>
      <vt:lpstr>Debug 与调优</vt:lpstr>
      <vt:lpstr>关键 Metrics 监控</vt:lpstr>
      <vt:lpstr>EFA常见问题</vt:lpstr>
      <vt:lpstr>常见问题排查以及优化</vt:lpstr>
      <vt:lpstr>Continue….</vt:lpstr>
      <vt:lpstr>Continue…..</vt:lpstr>
      <vt:lpstr>Continue…..</vt:lpstr>
      <vt:lpstr>项目过程中常见的坑</vt:lpstr>
      <vt:lpstr>在EKS平台上，B200 实例的EFA RDMA表现不正常？</vt:lpstr>
      <vt:lpstr>NVLink Xid=145 错误导致 GPU 标记为不健康（可分配 GPU &lt; 8）  </vt:lpstr>
      <vt:lpstr>AWS能提供Golden container image吗？</vt:lpstr>
      <vt:lpstr>DeepGemm的使用</vt:lpstr>
      <vt:lpstr>SGLang server初始化阶段DeepEP timeout</vt:lpstr>
      <vt:lpstr>模型存储的影响</vt:lpstr>
      <vt:lpstr>Continue….</vt:lpstr>
      <vt:lpstr>开源框架和软件库的坑</vt:lpstr>
      <vt:lpstr>Continue….</vt:lpstr>
      <vt:lpstr>Continue….</vt:lpstr>
      <vt:lpstr>Continue….</vt:lpstr>
      <vt:lpstr>客户常见问题</vt:lpstr>
      <vt:lpstr>NCCL test</vt:lpstr>
      <vt:lpstr>Continue…</vt:lpstr>
      <vt:lpstr>Continue…..</vt:lpstr>
      <vt:lpstr>Continue….</vt:lpstr>
      <vt:lpstr>EFA NIC支持的两种EFA type的对比</vt:lpstr>
      <vt:lpstr>EFA提供两套API: libibverbs API和libfabric API</vt:lpstr>
      <vt:lpstr>如何做EFA网卡分离？</vt:lpstr>
      <vt:lpstr>单个EFA设备能支持最多的QP是多少？</vt:lpstr>
      <vt:lpstr>EFA libfabric provider 有两条独立的 GPU 零拷贝 RDMA 路径</vt:lpstr>
      <vt:lpstr>推理框架如何选择？（SGLang or VLLM）</vt:lpstr>
      <vt:lpstr>相关参考：</vt:lpstr>
    </vt:vector>
  </TitlesOfParts>
  <Company>Amazon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Liang, Yuhui</dc:creator>
  <cp:lastModifiedBy>Liang, Yuhui</cp:lastModifiedBy>
  <cp:revision>439</cp:revision>
  <dcterms:created xsi:type="dcterms:W3CDTF">2026-05-20T12:08:39Z</dcterms:created>
  <dcterms:modified xsi:type="dcterms:W3CDTF">2026-07-14T07:45:52Z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9e68092-05df-4271-8e3e-b2a4c82ba797_Enabled">
    <vt:lpwstr>true</vt:lpwstr>
  </property>
  <property fmtid="{D5CDD505-2E9C-101B-9397-08002B2CF9AE}" pid="3" name="MSIP_Label_19e68092-05df-4271-8e3e-b2a4c82ba797_SetDate">
    <vt:lpwstr>2026-05-20T12:10:25Z</vt:lpwstr>
  </property>
  <property fmtid="{D5CDD505-2E9C-101B-9397-08002B2CF9AE}" pid="4" name="MSIP_Label_19e68092-05df-4271-8e3e-b2a4c82ba797_Method">
    <vt:lpwstr>Standard</vt:lpwstr>
  </property>
  <property fmtid="{D5CDD505-2E9C-101B-9397-08002B2CF9AE}" pid="5" name="MSIP_Label_19e68092-05df-4271-8e3e-b2a4c82ba797_Name">
    <vt:lpwstr>Amazon Confidential</vt:lpwstr>
  </property>
  <property fmtid="{D5CDD505-2E9C-101B-9397-08002B2CF9AE}" pid="6" name="MSIP_Label_19e68092-05df-4271-8e3e-b2a4c82ba797_SiteId">
    <vt:lpwstr>5280104a-472d-4538-9ccf-1e1d0efe8b1b</vt:lpwstr>
  </property>
  <property fmtid="{D5CDD505-2E9C-101B-9397-08002B2CF9AE}" pid="7" name="MSIP_Label_19e68092-05df-4271-8e3e-b2a4c82ba797_ActionId">
    <vt:lpwstr>0b72ed6a-15f6-4633-af90-9a7fd991204a</vt:lpwstr>
  </property>
  <property fmtid="{D5CDD505-2E9C-101B-9397-08002B2CF9AE}" pid="8" name="MSIP_Label_19e68092-05df-4271-8e3e-b2a4c82ba797_ContentBits">
    <vt:lpwstr>0</vt:lpwstr>
  </property>
  <property fmtid="{D5CDD505-2E9C-101B-9397-08002B2CF9AE}" pid="9" name="MSIP_Label_19e68092-05df-4271-8e3e-b2a4c82ba797_Tag">
    <vt:lpwstr>10, 3, 0, 1</vt:lpwstr>
  </property>
</Properties>
</file>