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82" r:id="rId24"/>
    <p:sldId id="279" r:id="rId25"/>
    <p:sldId id="283" r:id="rId26"/>
    <p:sldId id="280" r:id="rId27"/>
    <p:sldId id="28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418" autoAdjust="0"/>
  </p:normalViewPr>
  <p:slideViewPr>
    <p:cSldViewPr snapToGrid="0">
      <p:cViewPr varScale="1">
        <p:scale>
          <a:sx n="54" d="100"/>
          <a:sy n="54" d="100"/>
        </p:scale>
        <p:origin x="1122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FF6ED8-32B5-4868-ADC4-BC87527B73D7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5B668E-E76F-4057-ABD9-490A815D4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544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/>
              <a:t>上面的</a:t>
            </a:r>
            <a:r>
              <a:rPr lang="en-US" altLang="zh-CN" dirty="0"/>
              <a:t>2</a:t>
            </a:r>
            <a:r>
              <a:rPr lang="en-US" dirty="0"/>
              <a:t>N-UCCL</a:t>
            </a:r>
            <a:r>
              <a:rPr lang="zh-CN" altLang="en-US" dirty="0"/>
              <a:t>表示的是</a:t>
            </a:r>
            <a:r>
              <a:rPr lang="en-US" altLang="zh-CN" dirty="0"/>
              <a:t>2</a:t>
            </a:r>
            <a:r>
              <a:rPr lang="zh-CN" altLang="en-US" dirty="0"/>
              <a:t>节点 </a:t>
            </a:r>
            <a:r>
              <a:rPr lang="en-US" dirty="0"/>
              <a:t>UCCL-EP</a:t>
            </a:r>
            <a:r>
              <a:rPr lang="zh-CN" altLang="en-US" dirty="0"/>
              <a:t>的测试数据。</a:t>
            </a:r>
          </a:p>
          <a:p>
            <a:pPr lvl="1"/>
            <a:r>
              <a:rPr lang="zh-CN" altLang="en-US" dirty="0"/>
              <a:t>当并发比较大了以后，在</a:t>
            </a:r>
            <a:r>
              <a:rPr lang="en-US" dirty="0"/>
              <a:t>disable prefix cache</a:t>
            </a:r>
            <a:r>
              <a:rPr lang="zh-CN" altLang="en-US" dirty="0"/>
              <a:t>的情况下，当前测试环境的</a:t>
            </a:r>
            <a:r>
              <a:rPr lang="en-US" dirty="0" err="1"/>
              <a:t>sglang</a:t>
            </a:r>
            <a:r>
              <a:rPr lang="en-US" dirty="0"/>
              <a:t> server</a:t>
            </a:r>
            <a:r>
              <a:rPr lang="zh-CN" altLang="en-US" dirty="0"/>
              <a:t>会出问题。但是在</a:t>
            </a:r>
            <a:r>
              <a:rPr lang="en-US" dirty="0"/>
              <a:t>enable prefix cache</a:t>
            </a:r>
            <a:r>
              <a:rPr lang="zh-CN" altLang="en-US" dirty="0"/>
              <a:t>的情况下，并发到</a:t>
            </a:r>
            <a:r>
              <a:rPr lang="en-US" altLang="zh-CN" dirty="0"/>
              <a:t>32</a:t>
            </a:r>
            <a:r>
              <a:rPr lang="zh-CN" altLang="en-US" dirty="0"/>
              <a:t>，</a:t>
            </a:r>
            <a:r>
              <a:rPr lang="en-US" dirty="0" err="1"/>
              <a:t>sglang</a:t>
            </a:r>
            <a:r>
              <a:rPr lang="en-US" dirty="0"/>
              <a:t> server</a:t>
            </a:r>
            <a:r>
              <a:rPr lang="zh-CN" altLang="en-US" dirty="0"/>
              <a:t>能正常工作。</a:t>
            </a: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B668E-E76F-4057-ABD9-490A815D4B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56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B668E-E76F-4057-ABD9-490A815D4B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95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B668E-E76F-4057-ABD9-490A815D4B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850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我上面的设定用的默认的</a:t>
            </a:r>
            <a:r>
              <a:rPr lang="en-US" altLang="zh-CN" dirty="0" err="1"/>
              <a:t>Uccl</a:t>
            </a:r>
            <a:r>
              <a:rPr lang="en-US" altLang="zh-CN" dirty="0"/>
              <a:t>-ep</a:t>
            </a:r>
            <a:r>
              <a:rPr lang="zh-CN" altLang="en-US" dirty="0"/>
              <a:t>的配置，并没有设定下面的环境变量（参考：</a:t>
            </a:r>
            <a:r>
              <a:rPr lang="en-US" altLang="zh-CN" dirty="0"/>
              <a:t>https://github.com/uccl-project/uccl/blob/60f4c94443912df2722f01ab14efb556bd6e3ae0/ep/bench/sglang/common_env.sh</a:t>
            </a:r>
            <a:r>
              <a:rPr lang="zh-CN" altLang="en-US" dirty="0"/>
              <a:t>）：</a:t>
            </a:r>
            <a:br>
              <a:rPr lang="en-US" altLang="zh-CN" dirty="0"/>
            </a:br>
            <a:r>
              <a:rPr lang="en-US" altLang="zh-CN" dirty="0"/>
              <a:t># ============================</a:t>
            </a:r>
          </a:p>
          <a:p>
            <a:r>
              <a:rPr lang="en-US" altLang="zh-CN" dirty="0"/>
              <a:t># NVSHMEM configuration</a:t>
            </a:r>
          </a:p>
          <a:p>
            <a:r>
              <a:rPr lang="en-US" altLang="zh-CN" dirty="0"/>
              <a:t># ============================</a:t>
            </a:r>
          </a:p>
          <a:p>
            <a:r>
              <a:rPr lang="en-US" altLang="zh-CN" dirty="0"/>
              <a:t>export NVSHMEM_REMOTE_TRANSPORT=</a:t>
            </a:r>
            <a:r>
              <a:rPr lang="en-US" altLang="zh-CN" dirty="0" err="1"/>
              <a:t>libfabric</a:t>
            </a:r>
            <a:endParaRPr lang="en-US" altLang="zh-CN" dirty="0"/>
          </a:p>
          <a:p>
            <a:r>
              <a:rPr lang="en-US" altLang="zh-CN" dirty="0"/>
              <a:t>export NVSHMEM_LIBFABRIC_PROVIDER=</a:t>
            </a:r>
            <a:r>
              <a:rPr lang="en-US" altLang="zh-CN" dirty="0" err="1"/>
              <a:t>efa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也没有设定特别的</a:t>
            </a:r>
            <a:r>
              <a:rPr lang="en-US" altLang="zh-CN" dirty="0" err="1"/>
              <a:t>deepep</a:t>
            </a:r>
            <a:r>
              <a:rPr lang="en-US" altLang="zh-CN" dirty="0"/>
              <a:t> config</a:t>
            </a:r>
            <a:r>
              <a:rPr lang="zh-CN" altLang="en-US" dirty="0"/>
              <a:t>（类似：</a:t>
            </a:r>
            <a:r>
              <a:rPr lang="en-US" altLang="zh-CN" dirty="0"/>
              <a:t>https://github.com/uccl-project/uccl/blob/60f4c94443912df2722f01ab14efb556bd6e3ae0/ep/bench/sglang/common_deepep_config.sh </a:t>
            </a:r>
            <a:r>
              <a:rPr lang="zh-CN" altLang="en-US" dirty="0"/>
              <a:t>）。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br>
              <a:rPr lang="en-US" altLang="zh-CN" dirty="0"/>
            </a:b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B668E-E76F-4057-ABD9-490A815D4BD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216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sglang</a:t>
            </a:r>
            <a:r>
              <a:rPr lang="en-US" dirty="0"/>
              <a:t> </a:t>
            </a:r>
            <a:r>
              <a:rPr lang="en-US" dirty="0" err="1"/>
              <a:t>bench_serving</a:t>
            </a:r>
            <a:r>
              <a:rPr lang="en-US" dirty="0"/>
              <a:t> </a:t>
            </a:r>
            <a:r>
              <a:rPr lang="zh-CN" altLang="en-US" dirty="0"/>
              <a:t>的参数</a:t>
            </a:r>
            <a:r>
              <a:rPr lang="en-US" dirty="0" err="1"/>
              <a:t>disable_ignore_eos</a:t>
            </a:r>
            <a:r>
              <a:rPr lang="en-US" dirty="0"/>
              <a:t>=False，</a:t>
            </a:r>
            <a:r>
              <a:rPr lang="zh-CN" altLang="en-US" dirty="0"/>
              <a:t>默认的</a:t>
            </a:r>
            <a:r>
              <a:rPr lang="en-US" dirty="0"/>
              <a:t>random-range-ratio</a:t>
            </a:r>
            <a:r>
              <a:rPr lang="zh-CN" altLang="en-US" dirty="0"/>
              <a:t>为</a:t>
            </a:r>
            <a:r>
              <a:rPr lang="en-US" altLang="zh-CN" dirty="0"/>
              <a:t>0</a:t>
            </a:r>
            <a:r>
              <a:rPr lang="zh-CN" altLang="en-US" dirty="0"/>
              <a:t>，这两个参数配合使用等价于使用固定的</a:t>
            </a:r>
            <a:r>
              <a:rPr lang="en-US" dirty="0"/>
              <a:t>input token</a:t>
            </a:r>
            <a:r>
              <a:rPr lang="zh-CN" altLang="en-US" dirty="0"/>
              <a:t>长度和固定的</a:t>
            </a:r>
            <a:r>
              <a:rPr lang="en-US" dirty="0"/>
              <a:t>output token</a:t>
            </a:r>
            <a:r>
              <a:rPr lang="zh-CN" altLang="en-US" dirty="0"/>
              <a:t>长度。</a:t>
            </a: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B668E-E76F-4057-ABD9-490A815D4BD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61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之前为了省事，把模型保存到了</a:t>
            </a:r>
            <a:r>
              <a:rPr lang="en-US" dirty="0" err="1"/>
              <a:t>Fsx</a:t>
            </a:r>
            <a:r>
              <a:rPr lang="en-US" dirty="0"/>
              <a:t> for </a:t>
            </a:r>
            <a:r>
              <a:rPr lang="en-US" dirty="0" err="1"/>
              <a:t>lustre</a:t>
            </a:r>
            <a:r>
              <a:rPr lang="en-US" dirty="0"/>
              <a:t>（</a:t>
            </a:r>
            <a:r>
              <a:rPr lang="zh-CN" altLang="en-US" dirty="0"/>
              <a:t>没有用</a:t>
            </a:r>
            <a:r>
              <a:rPr lang="en-US" dirty="0"/>
              <a:t>S3 backend）。</a:t>
            </a:r>
            <a:r>
              <a:rPr lang="zh-CN" altLang="en-US" dirty="0"/>
              <a:t>也尝试了提升</a:t>
            </a:r>
            <a:r>
              <a:rPr lang="en-US" dirty="0" err="1"/>
              <a:t>Fsx</a:t>
            </a:r>
            <a:r>
              <a:rPr lang="en-US" dirty="0"/>
              <a:t> </a:t>
            </a:r>
            <a:r>
              <a:rPr lang="zh-CN" altLang="en-US" dirty="0"/>
              <a:t>的吞吐，查看了</a:t>
            </a:r>
            <a:r>
              <a:rPr lang="en-US" dirty="0"/>
              <a:t>Metadata IOPS</a:t>
            </a:r>
            <a:r>
              <a:rPr lang="zh-CN" altLang="en-US" dirty="0"/>
              <a:t>是否是瓶颈。</a:t>
            </a: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B668E-E76F-4057-ABD9-490A815D4BD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571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C03E85-A344-1D86-104F-216158F16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BA7BCF4-C451-0844-363B-601884E8C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71870D-3F05-5DEE-D08B-DD5FAB32F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84B9-E112-4BA4-BC19-BDC07AD4960D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206BE4-13B7-56E1-8C58-76FE90237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EB38EA-08CB-DBDB-0C94-5C63286C2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7CF4-B7EF-42D2-94CB-7E9A73E72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61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727910-7AEF-C24F-D751-5ADAA7D97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8C25CD-18D5-1FE5-0F9F-D9A88D914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321C43-888D-0D8F-3D47-9E6CA7746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84B9-E112-4BA4-BC19-BDC07AD4960D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254FE1-2F54-3A6D-B6CC-ECB64B1B0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E91FD4-8B08-8BC6-821B-5685B7219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7CF4-B7EF-42D2-94CB-7E9A73E72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495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BCD10C-A008-ADC9-BBAF-111B1205E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98FA4A-5838-5E01-6B4B-5C8CF8FE3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9C470F-6BE7-1B03-43C5-D5798EC1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84B9-E112-4BA4-BC19-BDC07AD4960D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860170-AE47-5386-3730-E50BCA971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28DB19-6488-4D29-7AB5-A9A0F7FA2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7CF4-B7EF-42D2-94CB-7E9A73E72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671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D65015-8075-34BC-64CD-D93086EB1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C0F957-9CEB-515A-9240-D0BBA19BFB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7455D5-5F44-C8E8-64EA-F5F844A2C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56212B-7530-A799-92A4-F9FD1390A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84B9-E112-4BA4-BC19-BDC07AD4960D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6319EB-2C2E-8CC5-A331-9BE6B5820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CFF9DB-D068-FD5E-3488-BA85650F1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7CF4-B7EF-42D2-94CB-7E9A73E72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4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4064CF-54FB-B5A9-27A9-4893947FE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D4638D-F319-AD4B-2677-ED695BE3C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89B9FA-9044-CF1B-7F13-81E296BED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12F3106-7C7A-B2B7-8526-152C14CF7E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377F523-521E-0731-CF8F-026A561AAA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52EC8AA-13DC-CE90-3C63-58C2C6594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84B9-E112-4BA4-BC19-BDC07AD4960D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361E268-E7CA-2509-CE81-E04B7010E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74FB49F-9554-BE24-DD25-35272ADAF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7CF4-B7EF-42D2-94CB-7E9A73E72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02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0C2978-BDA6-8FF0-9397-2D4D5A874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246A639-8B72-0EEE-17E2-1E0C22D65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84B9-E112-4BA4-BC19-BDC07AD4960D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210053E-1F23-26CA-855F-E4E315F02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DFC71FA-C7BB-19B3-DFC4-7D43DA75B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7CF4-B7EF-42D2-94CB-7E9A73E72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13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9A9F34-D7EB-8961-4524-6FA1EC1DA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84B9-E112-4BA4-BC19-BDC07AD4960D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7DA3A78-FAF0-3912-6698-311B26FA8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14237F-DDD3-F70A-5615-84598DB55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7CF4-B7EF-42D2-94CB-7E9A73E72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611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4A8E4E-9BFA-5BDA-D7DD-854F1DD57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CB377C-CA76-2D94-D8BE-2E5F2A355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C84083-D58A-35C0-7487-1B6F11433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E85F83-E471-8A73-C920-29397EA82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84B9-E112-4BA4-BC19-BDC07AD4960D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DE6AAC-CFE3-3617-343B-E9F5E6241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D06265-2012-AE9B-850D-8028AC735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7CF4-B7EF-42D2-94CB-7E9A73E72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2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E43C57-7A46-3D1B-B97F-F351F45DA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2AFEE5A-733C-699F-9C3D-C674C35F1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9A9E24-31F2-AA35-0C0D-E08549CE9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4EA38E-37BC-89BA-C41A-89A57FF52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84B9-E112-4BA4-BC19-BDC07AD4960D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A637AE-CB63-5AED-69AA-34CAC8591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B6449C-3A8B-290C-8FB5-E6CFCF80F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7CF4-B7EF-42D2-94CB-7E9A73E72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74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F97D0-FE9D-D982-D612-D9231E717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656260-4FD3-D6C1-D9DD-D13579830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823E36-867E-0C12-596A-F4CBC5A7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84B9-E112-4BA4-BC19-BDC07AD4960D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61F02B-39BB-5924-3CB3-A8F589D23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3D7B32-D7CD-F52E-7271-990C0D38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7CF4-B7EF-42D2-94CB-7E9A73E72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02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5846FD-C2A1-8D45-25B1-2CC56E5E1B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B35FBA-A196-E1D0-3D33-5EFB999F1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734191-3B2C-1130-2BC2-2500E893C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84B9-E112-4BA4-BC19-BDC07AD4960D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CB948F-8E43-8FE9-AC30-FFD0E0FCF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956AA3-4546-7C1E-3CE8-1A61C9C42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7CF4-B7EF-42D2-94CB-7E9A73E72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58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418E4BD-09B2-7DA5-7C57-11CE2A5FB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0B24BE-3C42-FE72-7450-727A53A33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C56854-A412-1783-026D-0367899958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684B9-E112-4BA4-BC19-BDC07AD4960D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3417F5-7FFB-8D4B-D7EC-86231FDC67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8C1A23-1DD2-DA08-1D6C-C349C6DB0E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7CF4-B7EF-42D2-94CB-7E9A73E72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041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tgroup/sglang/pull/4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gl-project/sglang/issues/17970&#65288;&#38024;&#23545;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huiaws/ML-study/tree/main/%E7%94%9F%E6%88%90%E5%BC%8FAI/Claude-code-Skills" TargetMode="External"/><Relationship Id="rId2" Type="http://schemas.openxmlformats.org/officeDocument/2006/relationships/hyperlink" Target="https://quip-amazon.com/vVdNAUtgvFQU/GPU-Infra-As-Claude-Code-Skills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6E2419-8322-94EB-1168-5B256CCE8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2952" y="1130455"/>
            <a:ext cx="10150110" cy="1928334"/>
          </a:xfrm>
        </p:spPr>
        <p:txBody>
          <a:bodyPr/>
          <a:lstStyle/>
          <a:p>
            <a:r>
              <a:rPr lang="en-US" dirty="0"/>
              <a:t>GPU I</a:t>
            </a:r>
            <a:r>
              <a:rPr lang="en-US" altLang="zh-CN" dirty="0"/>
              <a:t>nfra As Claude Code Skills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DC9EAFC-657A-9BF0-8074-ACAD32322D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3607" y="3329466"/>
            <a:ext cx="9144000" cy="1655762"/>
          </a:xfrm>
        </p:spPr>
        <p:txBody>
          <a:bodyPr/>
          <a:lstStyle/>
          <a:p>
            <a:r>
              <a:rPr lang="zh-CN" altLang="en-US" dirty="0"/>
              <a:t>梁宇辉 </a:t>
            </a:r>
            <a:endParaRPr lang="en-US" altLang="zh-CN" dirty="0"/>
          </a:p>
          <a:p>
            <a:r>
              <a:rPr lang="en-US" altLang="zh-CN" dirty="0"/>
              <a:t>SSO ML SSA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695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D11EA5-DA6C-125A-E3D1-DB8E191CB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altLang="zh-CN" dirty="0"/>
              <a:t>genda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7E746D-C663-8CB8-EF6D-382F795EF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0179"/>
            <a:ext cx="10515600" cy="3951653"/>
          </a:xfrm>
        </p:spPr>
        <p:txBody>
          <a:bodyPr/>
          <a:lstStyle/>
          <a:p>
            <a:r>
              <a:rPr lang="zh-CN" altLang="en-US" dirty="0"/>
              <a:t>背景与目标</a:t>
            </a:r>
          </a:p>
          <a:p>
            <a:r>
              <a:rPr lang="zh-CN" altLang="en-US" dirty="0"/>
              <a:t>部署方案介绍</a:t>
            </a:r>
            <a:endParaRPr lang="en-US" altLang="zh-CN" dirty="0"/>
          </a:p>
          <a:p>
            <a:r>
              <a:rPr lang="zh-CN" altLang="en-US" dirty="0"/>
              <a:t>方案性能对比</a:t>
            </a:r>
          </a:p>
          <a:p>
            <a:r>
              <a:rPr lang="zh-CN" altLang="en-US" dirty="0"/>
              <a:t>实验中遇到的问题</a:t>
            </a:r>
          </a:p>
          <a:p>
            <a:r>
              <a:rPr lang="zh-CN" altLang="en-US" dirty="0"/>
              <a:t>实践</a:t>
            </a:r>
            <a:r>
              <a:rPr lang="en-US" dirty="0"/>
              <a:t>les</a:t>
            </a:r>
            <a:r>
              <a:rPr lang="en-US" altLang="zh-CN" dirty="0"/>
              <a:t>s</a:t>
            </a:r>
            <a:r>
              <a:rPr lang="en-US" dirty="0"/>
              <a:t>on learn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735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5ABC9B-A980-5952-4327-58C7D4CF7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背景与目标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034232-8055-B9BB-16F7-D2E0AE9B5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背景：</a:t>
            </a:r>
            <a:endParaRPr lang="en-US" altLang="zh-CN" dirty="0"/>
          </a:p>
          <a:p>
            <a:pPr lvl="1"/>
            <a:r>
              <a:rPr lang="zh-CN" altLang="en-US" dirty="0"/>
              <a:t>开源模型上新的速度</a:t>
            </a:r>
            <a:endParaRPr lang="en-US" altLang="zh-CN" dirty="0"/>
          </a:p>
          <a:p>
            <a:pPr lvl="1"/>
            <a:r>
              <a:rPr lang="zh-CN" altLang="en-US" dirty="0"/>
              <a:t>更多的模型推理</a:t>
            </a:r>
            <a:r>
              <a:rPr lang="en-US" altLang="zh-CN" dirty="0"/>
              <a:t>benchmark</a:t>
            </a:r>
            <a:r>
              <a:rPr lang="zh-CN" altLang="en-US" dirty="0"/>
              <a:t>的需求</a:t>
            </a:r>
            <a:endParaRPr lang="en-US" altLang="zh-CN" dirty="0"/>
          </a:p>
          <a:p>
            <a:pPr lvl="1"/>
            <a:r>
              <a:rPr lang="zh-CN" altLang="en-US" dirty="0"/>
              <a:t>流行的大模型</a:t>
            </a:r>
            <a:r>
              <a:rPr lang="en-US" altLang="zh-CN" dirty="0"/>
              <a:t>serving</a:t>
            </a:r>
            <a:r>
              <a:rPr lang="zh-CN" altLang="en-US" dirty="0"/>
              <a:t>框架的新的</a:t>
            </a:r>
            <a:r>
              <a:rPr lang="en-US" altLang="zh-CN" dirty="0"/>
              <a:t>feature</a:t>
            </a:r>
            <a:r>
              <a:rPr lang="zh-CN" altLang="en-US" dirty="0"/>
              <a:t>的迭代速度</a:t>
            </a:r>
            <a:endParaRPr lang="en-US" altLang="zh-CN" dirty="0"/>
          </a:p>
          <a:p>
            <a:pPr lvl="1"/>
            <a:r>
              <a:rPr lang="zh-CN" altLang="en-US" dirty="0"/>
              <a:t>不同部署方案的选择建议</a:t>
            </a:r>
            <a:endParaRPr lang="en-US" altLang="zh-CN" dirty="0"/>
          </a:p>
          <a:p>
            <a:pPr lvl="1"/>
            <a:r>
              <a:rPr lang="zh-CN" altLang="en-US" dirty="0"/>
              <a:t>快速的</a:t>
            </a:r>
            <a:r>
              <a:rPr lang="en-US" altLang="zh-CN" dirty="0"/>
              <a:t>Benchmark</a:t>
            </a:r>
            <a:r>
              <a:rPr lang="zh-CN" altLang="en-US" dirty="0"/>
              <a:t>结果复现的痛点</a:t>
            </a:r>
            <a:endParaRPr lang="en-US" altLang="zh-CN" dirty="0"/>
          </a:p>
          <a:p>
            <a:pPr lvl="1"/>
            <a:r>
              <a:rPr lang="en-US" altLang="zh-CN" dirty="0"/>
              <a:t>Benchmark</a:t>
            </a:r>
            <a:r>
              <a:rPr lang="zh-CN" altLang="en-US" dirty="0"/>
              <a:t>结果的可信度</a:t>
            </a:r>
            <a:endParaRPr lang="en-US" altLang="zh-CN" dirty="0"/>
          </a:p>
          <a:p>
            <a:pPr lvl="1"/>
            <a:r>
              <a:rPr lang="zh-CN" altLang="en-US" dirty="0"/>
              <a:t>如何更有效率的做更多的实验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545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1D3446-9F3B-E289-F7D9-17046CA94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067147-B111-428C-DAEF-2A1B4251F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1168"/>
            <a:ext cx="10515600" cy="4631707"/>
          </a:xfrm>
        </p:spPr>
        <p:txBody>
          <a:bodyPr>
            <a:normAutofit/>
          </a:bodyPr>
          <a:lstStyle/>
          <a:p>
            <a:r>
              <a:rPr lang="zh-CN" altLang="en-US" dirty="0"/>
              <a:t>目标：</a:t>
            </a:r>
            <a:endParaRPr lang="en-US" altLang="zh-CN" dirty="0"/>
          </a:p>
          <a:p>
            <a:pPr lvl="1"/>
            <a:r>
              <a:rPr lang="zh-CN" altLang="en-US" dirty="0"/>
              <a:t>把</a:t>
            </a:r>
            <a:r>
              <a:rPr lang="zh-CN" altLang="en-US" b="1" dirty="0"/>
              <a:t>繁琐</a:t>
            </a:r>
            <a:r>
              <a:rPr lang="en-US" altLang="zh-CN" b="1" dirty="0"/>
              <a:t>/</a:t>
            </a:r>
            <a:r>
              <a:rPr lang="zh-CN" altLang="en-US" b="1" dirty="0"/>
              <a:t>复杂</a:t>
            </a:r>
            <a:r>
              <a:rPr lang="en-US" altLang="zh-CN" b="1" dirty="0"/>
              <a:t>/</a:t>
            </a:r>
            <a:r>
              <a:rPr lang="zh-CN" altLang="en-US" b="1" dirty="0"/>
              <a:t>耗时的</a:t>
            </a:r>
            <a:r>
              <a:rPr lang="en-US" altLang="zh-CN" dirty="0"/>
              <a:t>GPU infra</a:t>
            </a:r>
            <a:r>
              <a:rPr lang="zh-CN" altLang="en-US" b="1" dirty="0"/>
              <a:t>环境搭建</a:t>
            </a:r>
            <a:r>
              <a:rPr lang="zh-CN" altLang="en-US" dirty="0"/>
              <a:t>（尤其是软件环境的</a:t>
            </a:r>
            <a:r>
              <a:rPr lang="zh-CN" altLang="en-US" b="1" dirty="0"/>
              <a:t>版本兼容性问题</a:t>
            </a:r>
            <a:r>
              <a:rPr lang="zh-CN" altLang="en-US" dirty="0"/>
              <a:t>）</a:t>
            </a:r>
            <a:r>
              <a:rPr lang="en-US" altLang="zh-CN" b="1" dirty="0"/>
              <a:t>build</a:t>
            </a:r>
            <a:r>
              <a:rPr lang="zh-CN" altLang="en-US" b="1" dirty="0"/>
              <a:t>为</a:t>
            </a:r>
            <a:r>
              <a:rPr lang="en-US" altLang="zh-CN" b="1" dirty="0"/>
              <a:t>Claude code Skill</a:t>
            </a:r>
            <a:r>
              <a:rPr lang="zh-CN" altLang="en-US" dirty="0"/>
              <a:t>，从而很快的复用这些实践经验和</a:t>
            </a:r>
            <a:r>
              <a:rPr lang="en-US" altLang="zh-CN" dirty="0"/>
              <a:t>debug</a:t>
            </a:r>
            <a:r>
              <a:rPr lang="zh-CN" altLang="en-US" dirty="0"/>
              <a:t>实践，而且大大节省时间。</a:t>
            </a:r>
          </a:p>
          <a:p>
            <a:pPr lvl="1"/>
            <a:r>
              <a:rPr lang="zh-CN" altLang="en-US" dirty="0"/>
              <a:t>尽量能</a:t>
            </a:r>
            <a:r>
              <a:rPr lang="zh-CN" altLang="en-US" b="1" dirty="0"/>
              <a:t>稳定的复现</a:t>
            </a:r>
            <a:r>
              <a:rPr lang="en-US" altLang="zh-CN" b="1" dirty="0"/>
              <a:t>benchmark</a:t>
            </a:r>
            <a:r>
              <a:rPr lang="zh-CN" altLang="en-US" b="1" dirty="0"/>
              <a:t>测试结果</a:t>
            </a:r>
            <a:r>
              <a:rPr lang="zh-CN" altLang="en-US" dirty="0"/>
              <a:t>，从而给到客户做可能的参考。</a:t>
            </a:r>
          </a:p>
          <a:p>
            <a:pPr lvl="1"/>
            <a:r>
              <a:rPr lang="zh-CN" altLang="en-US" dirty="0"/>
              <a:t>能快速针对</a:t>
            </a:r>
            <a:r>
              <a:rPr lang="en-US" altLang="zh-CN" dirty="0"/>
              <a:t>large size</a:t>
            </a:r>
            <a:r>
              <a:rPr lang="zh-CN" altLang="en-US" dirty="0"/>
              <a:t>的模型的各种不同部署方案进行性能测试对比，从而</a:t>
            </a:r>
            <a:r>
              <a:rPr lang="zh-CN" altLang="en-US" b="1" dirty="0"/>
              <a:t>针对性的根据客户的实际</a:t>
            </a:r>
            <a:r>
              <a:rPr lang="en-US" altLang="zh-CN" b="1" dirty="0"/>
              <a:t>workload</a:t>
            </a:r>
            <a:r>
              <a:rPr lang="zh-CN" altLang="en-US" dirty="0"/>
              <a:t>（比如不同的</a:t>
            </a:r>
            <a:r>
              <a:rPr lang="en-US" altLang="zh-CN" dirty="0"/>
              <a:t>input token</a:t>
            </a:r>
            <a:r>
              <a:rPr lang="zh-CN" altLang="en-US" dirty="0"/>
              <a:t>长度和</a:t>
            </a:r>
            <a:r>
              <a:rPr lang="en-US" altLang="zh-CN" dirty="0"/>
              <a:t>output token</a:t>
            </a:r>
            <a:r>
              <a:rPr lang="zh-CN" altLang="en-US" dirty="0"/>
              <a:t>长度，不同的请求并发情况等）</a:t>
            </a:r>
            <a:r>
              <a:rPr lang="zh-CN" altLang="en-US" b="1" dirty="0"/>
              <a:t>给出部署方案建议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能利用</a:t>
            </a:r>
            <a:r>
              <a:rPr lang="en-US" altLang="zh-CN" dirty="0"/>
              <a:t>Claude code</a:t>
            </a:r>
            <a:r>
              <a:rPr lang="zh-CN" altLang="en-US" dirty="0"/>
              <a:t>以及已有的这些</a:t>
            </a:r>
            <a:r>
              <a:rPr lang="en-US" altLang="zh-CN" dirty="0"/>
              <a:t>Skill</a:t>
            </a:r>
            <a:r>
              <a:rPr lang="zh-CN" altLang="en-US" dirty="0"/>
              <a:t>，</a:t>
            </a:r>
            <a:r>
              <a:rPr lang="zh-CN" altLang="en-US" b="1" dirty="0"/>
              <a:t>迅速的迭代出更多不同的细分测试场景</a:t>
            </a:r>
            <a:r>
              <a:rPr lang="zh-CN" altLang="en-US" dirty="0"/>
              <a:t>。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363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3BD87F-F297-80F0-D343-A7CA7DC7C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部署方案介绍（用</a:t>
            </a:r>
            <a:r>
              <a:rPr lang="en-US" altLang="zh-CN" dirty="0"/>
              <a:t>Deepseek-v3</a:t>
            </a:r>
            <a:r>
              <a:rPr lang="zh-CN" altLang="en-US" dirty="0"/>
              <a:t>举例）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A2B75F-0FAF-47D7-BEB5-182F8DA40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单节点部署：</a:t>
            </a:r>
            <a:endParaRPr lang="en-US" altLang="zh-CN" dirty="0"/>
          </a:p>
          <a:p>
            <a:pPr lvl="1"/>
            <a:r>
              <a:rPr lang="en-US" dirty="0"/>
              <a:t>NCCL EP 8 + TP8</a:t>
            </a:r>
          </a:p>
          <a:p>
            <a:pPr lvl="1"/>
            <a:r>
              <a:rPr lang="en-US" dirty="0"/>
              <a:t>NCCL TP8 + EP1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节点部署：</a:t>
            </a:r>
            <a:endParaRPr lang="en-US" altLang="zh-CN" dirty="0"/>
          </a:p>
          <a:p>
            <a:pPr lvl="1"/>
            <a:r>
              <a:rPr lang="en-US" dirty="0"/>
              <a:t>NCCL EP + TP</a:t>
            </a:r>
          </a:p>
          <a:p>
            <a:pPr lvl="2"/>
            <a:r>
              <a:rPr lang="en-US" dirty="0"/>
              <a:t>NCCL EP8 + TP16</a:t>
            </a:r>
          </a:p>
          <a:p>
            <a:pPr lvl="2"/>
            <a:r>
              <a:rPr lang="en-US" dirty="0"/>
              <a:t>NCCL EP16 + TP16</a:t>
            </a:r>
          </a:p>
          <a:p>
            <a:pPr lvl="2"/>
            <a:r>
              <a:rPr lang="en-US" dirty="0"/>
              <a:t>NCCL EP1 + TP16 </a:t>
            </a:r>
            <a:r>
              <a:rPr lang="zh-CN" altLang="en-US" dirty="0"/>
              <a:t>（</a:t>
            </a:r>
            <a:r>
              <a:rPr lang="en-US" altLang="zh-CN" dirty="0"/>
              <a:t>-/+</a:t>
            </a:r>
            <a:r>
              <a:rPr lang="zh-CN" altLang="en-US" dirty="0"/>
              <a:t> </a:t>
            </a:r>
            <a:r>
              <a:rPr lang="en-US" altLang="zh-CN" dirty="0"/>
              <a:t>DP attention</a:t>
            </a:r>
            <a:r>
              <a:rPr lang="zh-CN" altLang="en-US" dirty="0"/>
              <a:t>）</a:t>
            </a:r>
            <a:endParaRPr lang="en-US" dirty="0"/>
          </a:p>
          <a:p>
            <a:pPr lvl="1"/>
            <a:r>
              <a:rPr lang="en-US" dirty="0"/>
              <a:t>UCCL-EP EP16 + TP16</a:t>
            </a:r>
          </a:p>
          <a:p>
            <a:pPr lvl="1"/>
            <a:r>
              <a:rPr lang="en-US" dirty="0"/>
              <a:t>PD</a:t>
            </a:r>
            <a:r>
              <a:rPr lang="zh-CN" altLang="en-US" dirty="0"/>
              <a:t>分离（</a:t>
            </a:r>
            <a:r>
              <a:rPr lang="en-US" altLang="zh-CN" dirty="0"/>
              <a:t>1</a:t>
            </a:r>
            <a:r>
              <a:rPr lang="en-US" dirty="0"/>
              <a:t>P1D）</a:t>
            </a:r>
            <a:r>
              <a:rPr lang="zh-CN" altLang="en-US" dirty="0"/>
              <a:t>：</a:t>
            </a:r>
            <a:endParaRPr lang="en-US" altLang="zh-CN" dirty="0"/>
          </a:p>
          <a:p>
            <a:pPr lvl="2"/>
            <a:r>
              <a:rPr lang="en-US" dirty="0"/>
              <a:t>NIXL KV transfer engine</a:t>
            </a:r>
          </a:p>
          <a:p>
            <a:pPr lvl="3"/>
            <a:r>
              <a:rPr lang="en-US" dirty="0"/>
              <a:t>NIXL UCX backend</a:t>
            </a:r>
          </a:p>
          <a:p>
            <a:pPr lvl="3"/>
            <a:r>
              <a:rPr lang="en-US" dirty="0"/>
              <a:t>NIXL </a:t>
            </a:r>
            <a:r>
              <a:rPr lang="en-US" dirty="0" err="1"/>
              <a:t>Libfabric</a:t>
            </a:r>
            <a:r>
              <a:rPr lang="en-US" dirty="0"/>
              <a:t> backend</a:t>
            </a:r>
          </a:p>
          <a:p>
            <a:pPr lvl="2"/>
            <a:r>
              <a:rPr lang="en-US" dirty="0"/>
              <a:t>Mooncake KV transfer engine（</a:t>
            </a:r>
            <a:r>
              <a:rPr lang="zh-CN" altLang="en-US" b="1" dirty="0"/>
              <a:t>待测试</a:t>
            </a:r>
            <a:r>
              <a:rPr lang="zh-CN" altLang="en-US" dirty="0"/>
              <a:t>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272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BABB88-7C82-59DB-D4A9-774599E44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2489AF-1B1B-7125-7F3F-9A397C3D3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3</a:t>
            </a:r>
            <a:r>
              <a:rPr lang="zh-CN" altLang="en-US" dirty="0"/>
              <a:t>节点部署（</a:t>
            </a:r>
            <a:r>
              <a:rPr lang="zh-CN" altLang="en-US" b="1" dirty="0"/>
              <a:t>没有测试</a:t>
            </a:r>
            <a:r>
              <a:rPr lang="zh-CN" altLang="en-US" dirty="0"/>
              <a:t>）：</a:t>
            </a:r>
            <a:endParaRPr lang="en-US" altLang="zh-CN" dirty="0"/>
          </a:p>
          <a:p>
            <a:pPr lvl="1"/>
            <a:r>
              <a:rPr lang="en-US" altLang="zh-CN" dirty="0"/>
              <a:t>Non-PD</a:t>
            </a:r>
          </a:p>
          <a:p>
            <a:pPr lvl="1"/>
            <a:r>
              <a:rPr lang="en-US" altLang="zh-CN" dirty="0"/>
              <a:t>2P1D</a:t>
            </a:r>
            <a:r>
              <a:rPr lang="zh-CN" altLang="en-US" dirty="0"/>
              <a:t>（</a:t>
            </a:r>
            <a:r>
              <a:rPr lang="en-US" altLang="zh-CN" dirty="0"/>
              <a:t>P</a:t>
            </a:r>
            <a:r>
              <a:rPr lang="zh-CN" altLang="en-US" dirty="0"/>
              <a:t>是否独立）</a:t>
            </a:r>
            <a:endParaRPr lang="en-US" altLang="zh-CN" dirty="0"/>
          </a:p>
          <a:p>
            <a:pPr lvl="1"/>
            <a:r>
              <a:rPr lang="en-US" altLang="zh-CN" dirty="0"/>
              <a:t>1P2D</a:t>
            </a:r>
            <a:r>
              <a:rPr lang="zh-CN" altLang="en-US" dirty="0"/>
              <a:t>（</a:t>
            </a:r>
            <a:r>
              <a:rPr lang="en-US" altLang="zh-CN" dirty="0"/>
              <a:t>D</a:t>
            </a:r>
            <a:r>
              <a:rPr lang="zh-CN" altLang="en-US" dirty="0"/>
              <a:t>是否独立）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节点部署：</a:t>
            </a:r>
            <a:endParaRPr lang="en-US" altLang="zh-CN" dirty="0"/>
          </a:p>
          <a:p>
            <a:pPr lvl="1"/>
            <a:r>
              <a:rPr lang="en-US" dirty="0"/>
              <a:t>2P2D + NIXL </a:t>
            </a:r>
            <a:r>
              <a:rPr lang="en-US" dirty="0" err="1"/>
              <a:t>libfabric</a:t>
            </a:r>
            <a:r>
              <a:rPr lang="en-US" dirty="0"/>
              <a:t> KV transfer:</a:t>
            </a:r>
          </a:p>
          <a:p>
            <a:pPr lvl="2"/>
            <a:r>
              <a:rPr lang="en-US" dirty="0"/>
              <a:t>2P</a:t>
            </a:r>
            <a:r>
              <a:rPr lang="zh-CN" altLang="en-US" dirty="0"/>
              <a:t>之间使用</a:t>
            </a:r>
            <a:r>
              <a:rPr lang="en-US" dirty="0"/>
              <a:t>NCCL，2D</a:t>
            </a:r>
            <a:r>
              <a:rPr lang="zh-CN" altLang="en-US" dirty="0"/>
              <a:t>之间使用</a:t>
            </a:r>
            <a:r>
              <a:rPr lang="en-US" dirty="0"/>
              <a:t>NCCL</a:t>
            </a:r>
          </a:p>
          <a:p>
            <a:pPr lvl="2"/>
            <a:r>
              <a:rPr lang="en-US" dirty="0"/>
              <a:t>2P</a:t>
            </a:r>
            <a:r>
              <a:rPr lang="zh-CN" altLang="en-US" dirty="0"/>
              <a:t>之间使用</a:t>
            </a:r>
            <a:r>
              <a:rPr lang="en-US" dirty="0"/>
              <a:t>UCCL-EP normal mode，2D</a:t>
            </a:r>
            <a:r>
              <a:rPr lang="zh-CN" altLang="en-US" dirty="0"/>
              <a:t>之间使用</a:t>
            </a:r>
            <a:r>
              <a:rPr lang="en-US" dirty="0"/>
              <a:t>UCCL-EP low latency mode</a:t>
            </a:r>
          </a:p>
          <a:p>
            <a:pPr lvl="2"/>
            <a:r>
              <a:rPr lang="en-US" dirty="0"/>
              <a:t>2P</a:t>
            </a:r>
            <a:r>
              <a:rPr lang="zh-CN" altLang="en-US" dirty="0"/>
              <a:t>是单独的，</a:t>
            </a:r>
            <a:r>
              <a:rPr lang="en-US" altLang="zh-CN" dirty="0"/>
              <a:t>2</a:t>
            </a:r>
            <a:r>
              <a:rPr lang="en-US" dirty="0"/>
              <a:t>D</a:t>
            </a:r>
            <a:r>
              <a:rPr lang="zh-CN" altLang="en-US" dirty="0"/>
              <a:t>之间使用</a:t>
            </a:r>
            <a:r>
              <a:rPr lang="en-US" dirty="0"/>
              <a:t>UCCL-EP low latency mode </a:t>
            </a:r>
          </a:p>
          <a:p>
            <a:pPr lvl="1"/>
            <a:r>
              <a:rPr lang="en-US" dirty="0"/>
              <a:t>2P2D + Mooncake KV transfer（</a:t>
            </a:r>
            <a:r>
              <a:rPr lang="zh-CN" altLang="en-US" b="1" dirty="0"/>
              <a:t>待测试</a:t>
            </a:r>
            <a:r>
              <a:rPr lang="zh-CN" altLang="en-US" dirty="0"/>
              <a:t>）</a:t>
            </a:r>
            <a:r>
              <a:rPr lang="en-US" altLang="zh-CN" dirty="0"/>
              <a:t>:</a:t>
            </a:r>
          </a:p>
          <a:p>
            <a:pPr lvl="2"/>
            <a:r>
              <a:rPr lang="en-US" altLang="zh-CN" dirty="0"/>
              <a:t>2</a:t>
            </a:r>
            <a:r>
              <a:rPr lang="en-US" dirty="0"/>
              <a:t>P</a:t>
            </a:r>
            <a:r>
              <a:rPr lang="zh-CN" altLang="en-US" dirty="0"/>
              <a:t>之间使用</a:t>
            </a:r>
            <a:r>
              <a:rPr lang="en-US" dirty="0"/>
              <a:t>NCCL，2D</a:t>
            </a:r>
            <a:r>
              <a:rPr lang="zh-CN" altLang="en-US" dirty="0"/>
              <a:t>之间使用</a:t>
            </a:r>
            <a:r>
              <a:rPr lang="en-US" dirty="0"/>
              <a:t>NCCL</a:t>
            </a:r>
          </a:p>
          <a:p>
            <a:pPr lvl="2"/>
            <a:r>
              <a:rPr lang="en-US" dirty="0"/>
              <a:t>2P</a:t>
            </a:r>
            <a:r>
              <a:rPr lang="zh-CN" altLang="en-US" dirty="0"/>
              <a:t>之间使用</a:t>
            </a:r>
            <a:r>
              <a:rPr lang="en-US" dirty="0"/>
              <a:t>UCCL-EP normal mode，2D</a:t>
            </a:r>
            <a:r>
              <a:rPr lang="zh-CN" altLang="en-US" dirty="0"/>
              <a:t>之间使用</a:t>
            </a:r>
            <a:r>
              <a:rPr lang="en-US" dirty="0"/>
              <a:t>UCCL-EP low latency mode</a:t>
            </a:r>
          </a:p>
          <a:p>
            <a:pPr lvl="2"/>
            <a:r>
              <a:rPr lang="en-US" dirty="0"/>
              <a:t>2P</a:t>
            </a:r>
            <a:r>
              <a:rPr lang="zh-CN" altLang="en-US" dirty="0"/>
              <a:t>是单独的，</a:t>
            </a:r>
            <a:r>
              <a:rPr lang="en-US" altLang="zh-CN" dirty="0"/>
              <a:t>2</a:t>
            </a:r>
            <a:r>
              <a:rPr lang="en-US" dirty="0"/>
              <a:t>D</a:t>
            </a:r>
            <a:r>
              <a:rPr lang="zh-CN" altLang="en-US" dirty="0"/>
              <a:t>之间使用</a:t>
            </a:r>
            <a:r>
              <a:rPr lang="en-US" dirty="0"/>
              <a:t>UCCL-EP low latency mode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745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5022F3-657B-7477-5862-90B439FDF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方案性能对比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4D8108-C681-2355-777B-8BB3CED1A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9745"/>
            <a:ext cx="10515600" cy="4373130"/>
          </a:xfrm>
        </p:spPr>
        <p:txBody>
          <a:bodyPr/>
          <a:lstStyle/>
          <a:p>
            <a:r>
              <a:rPr lang="zh-CN" altLang="en-US" dirty="0"/>
              <a:t>环境：</a:t>
            </a:r>
          </a:p>
          <a:p>
            <a:pPr lvl="1"/>
            <a:r>
              <a:rPr lang="zh-CN" altLang="en-US" dirty="0"/>
              <a:t>硬件</a:t>
            </a:r>
            <a:r>
              <a:rPr lang="en-US" altLang="zh-CN" dirty="0"/>
              <a:t>: </a:t>
            </a:r>
            <a:r>
              <a:rPr lang="en-US" dirty="0"/>
              <a:t>P5en.48xlarge (H200 141GB)</a:t>
            </a:r>
          </a:p>
          <a:p>
            <a:pPr lvl="1"/>
            <a:r>
              <a:rPr lang="zh-CN" altLang="en-US" dirty="0"/>
              <a:t>模型</a:t>
            </a:r>
            <a:r>
              <a:rPr lang="en-US" altLang="zh-CN" dirty="0"/>
              <a:t>: </a:t>
            </a:r>
            <a:r>
              <a:rPr lang="en-US" dirty="0"/>
              <a:t>DeepSeek-V3 671B </a:t>
            </a:r>
            <a:r>
              <a:rPr lang="en-US" dirty="0" err="1"/>
              <a:t>MoE</a:t>
            </a:r>
            <a:r>
              <a:rPr lang="en-US" dirty="0"/>
              <a:t> FP8</a:t>
            </a:r>
          </a:p>
          <a:p>
            <a:pPr lvl="1"/>
            <a:r>
              <a:rPr lang="en-US" dirty="0"/>
              <a:t>GPU</a:t>
            </a:r>
            <a:r>
              <a:rPr lang="zh-CN" altLang="en-US" dirty="0"/>
              <a:t>平台：</a:t>
            </a:r>
            <a:r>
              <a:rPr lang="en-US" dirty="0"/>
              <a:t>SMHP on EKS</a:t>
            </a:r>
          </a:p>
          <a:p>
            <a:pPr lvl="1"/>
            <a:r>
              <a:rPr lang="zh-CN" altLang="en-US" dirty="0"/>
              <a:t>推理框架：</a:t>
            </a:r>
            <a:r>
              <a:rPr lang="en-US" dirty="0" err="1"/>
              <a:t>SGLang</a:t>
            </a:r>
            <a:r>
              <a:rPr lang="en-US" dirty="0"/>
              <a:t> 0.5.8 </a:t>
            </a:r>
          </a:p>
          <a:p>
            <a:pPr lvl="1"/>
            <a:r>
              <a:rPr lang="zh-CN" altLang="en-US" dirty="0"/>
              <a:t>测试框架：</a:t>
            </a:r>
            <a:r>
              <a:rPr lang="en-US" dirty="0" err="1"/>
              <a:t>SGLang</a:t>
            </a:r>
            <a:r>
              <a:rPr lang="en-US" dirty="0"/>
              <a:t> </a:t>
            </a:r>
            <a:r>
              <a:rPr lang="en-US" dirty="0" err="1"/>
              <a:t>bench_serving</a:t>
            </a:r>
            <a:r>
              <a:rPr lang="en-US" dirty="0"/>
              <a:t> </a:t>
            </a:r>
          </a:p>
          <a:p>
            <a:pPr lvl="1"/>
            <a:r>
              <a:rPr lang="zh-CN" altLang="en-US" dirty="0"/>
              <a:t>测试参数</a:t>
            </a:r>
            <a:r>
              <a:rPr lang="en-US" altLang="zh-CN" dirty="0"/>
              <a:t>:  </a:t>
            </a:r>
            <a:r>
              <a:rPr lang="en-US" dirty="0"/>
              <a:t>random-input-</a:t>
            </a:r>
            <a:r>
              <a:rPr lang="en-US" dirty="0" err="1"/>
              <a:t>len</a:t>
            </a:r>
            <a:r>
              <a:rPr lang="en-US" dirty="0"/>
              <a:t>=2048, random-output-</a:t>
            </a:r>
            <a:r>
              <a:rPr lang="en-US" dirty="0" err="1"/>
              <a:t>len</a:t>
            </a:r>
            <a:r>
              <a:rPr lang="en-US" dirty="0"/>
              <a:t>=256, random-range-ratio=0.5, num-prompts=100，</a:t>
            </a:r>
            <a:r>
              <a:rPr lang="zh-CN" altLang="en-US" dirty="0"/>
              <a:t>总 </a:t>
            </a:r>
            <a:r>
              <a:rPr lang="en-US" dirty="0"/>
              <a:t>input ~154K </a:t>
            </a:r>
            <a:r>
              <a:rPr lang="en-US" dirty="0" err="1"/>
              <a:t>tokens，output</a:t>
            </a:r>
            <a:r>
              <a:rPr lang="en-US" dirty="0"/>
              <a:t> ~19K tokens。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751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2CC733-004D-2217-AB79-599383165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5785"/>
          </a:xfrm>
        </p:spPr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ontinue…..</a:t>
            </a:r>
            <a:endParaRPr 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C9BCD8A-25C3-EC8A-1BE0-FA520354C2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36" y="1595171"/>
            <a:ext cx="10236424" cy="503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ACFD05-1F30-CBE2-9106-B6943473F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</a:t>
            </a:r>
            <a:endParaRPr 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EAA0F87-3C9B-DF95-C49C-15BD2981A9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77" y="1624614"/>
            <a:ext cx="10218198" cy="486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061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B62B5D-07A6-7AC8-268F-178052E35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</a:t>
            </a:r>
            <a:endParaRPr 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EB61986-6E1D-2093-2261-8D65DE3AC3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421" y="1588957"/>
            <a:ext cx="10368379" cy="490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851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3366BB-16EE-713A-7ED1-BCE9BB72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A078E2-2F70-6ED8-7722-633AA6290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3473004-E5E6-F3A4-D645-95787AF47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796" y="1657336"/>
            <a:ext cx="10662407" cy="496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594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BF1AF8-D4BE-8543-FFC2-89B0E00E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57A18F-F61D-8BDB-C6D3-5B495E5C4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小结</a:t>
            </a:r>
            <a:r>
              <a:rPr lang="zh-CN" altLang="en-US" dirty="0"/>
              <a:t>（</a:t>
            </a:r>
            <a:r>
              <a:rPr lang="zh-CN" altLang="en-US" b="1" dirty="0"/>
              <a:t>对于当前这个测试场景和已测试过的方案</a:t>
            </a:r>
            <a:r>
              <a:rPr lang="zh-CN" altLang="en-US" dirty="0"/>
              <a:t>）：</a:t>
            </a:r>
          </a:p>
          <a:p>
            <a:pPr lvl="1"/>
            <a:r>
              <a:rPr lang="zh-CN" altLang="en-US" b="1" dirty="0"/>
              <a:t>用单机部署性能最好，性价比最高</a:t>
            </a:r>
            <a:r>
              <a:rPr lang="zh-CN" altLang="en-US" dirty="0"/>
              <a:t>。</a:t>
            </a:r>
          </a:p>
          <a:p>
            <a:pPr lvl="2"/>
            <a:r>
              <a:rPr lang="en-US" altLang="zh-CN" dirty="0"/>
              <a:t>1-</a:t>
            </a:r>
            <a:r>
              <a:rPr lang="en-US" dirty="0"/>
              <a:t>node EP8 TP8 — </a:t>
            </a:r>
            <a:r>
              <a:rPr lang="zh-CN" altLang="en-US" dirty="0"/>
              <a:t>仅 </a:t>
            </a:r>
            <a:r>
              <a:rPr lang="en-US" altLang="zh-CN" dirty="0"/>
              <a:t>1 </a:t>
            </a:r>
            <a:r>
              <a:rPr lang="zh-CN" altLang="en-US" dirty="0"/>
              <a:t>台机器就能达到 </a:t>
            </a:r>
            <a:r>
              <a:rPr lang="en-US" altLang="zh-CN" dirty="0"/>
              <a:t>687 </a:t>
            </a:r>
            <a:r>
              <a:rPr lang="en-US" dirty="0" err="1"/>
              <a:t>tok</a:t>
            </a:r>
            <a:r>
              <a:rPr lang="en-US" dirty="0"/>
              <a:t>/</a:t>
            </a:r>
            <a:r>
              <a:rPr lang="en-US" dirty="0" err="1"/>
              <a:t>s，TPOT</a:t>
            </a:r>
            <a:r>
              <a:rPr lang="en-US" dirty="0"/>
              <a:t> 12ms。</a:t>
            </a:r>
          </a:p>
          <a:p>
            <a:pPr lvl="2"/>
            <a:r>
              <a:rPr lang="zh-CN" altLang="en-US" dirty="0"/>
              <a:t>注意：</a:t>
            </a:r>
            <a:r>
              <a:rPr lang="zh-CN" altLang="en-US" b="1" dirty="0"/>
              <a:t>那是不是针对这个测试</a:t>
            </a:r>
            <a:r>
              <a:rPr lang="en-US" b="1" dirty="0"/>
              <a:t>workload，</a:t>
            </a:r>
            <a:r>
              <a:rPr lang="zh-CN" altLang="en-US" b="1" dirty="0"/>
              <a:t>就一定是单机部署性价比最好？</a:t>
            </a:r>
            <a:endParaRPr lang="zh-CN" altLang="en-US" dirty="0"/>
          </a:p>
          <a:p>
            <a:pPr lvl="3"/>
            <a:r>
              <a:rPr lang="zh-CN" altLang="en-US" b="1" dirty="0"/>
              <a:t>不一定。因为我们并没有穷尽的去测试</a:t>
            </a:r>
            <a:r>
              <a:rPr lang="en-US" altLang="zh-CN" b="1" dirty="0" err="1"/>
              <a:t>x</a:t>
            </a:r>
            <a:r>
              <a:rPr lang="en-US" b="1" dirty="0" err="1"/>
              <a:t>P</a:t>
            </a:r>
            <a:r>
              <a:rPr lang="en-US" altLang="zh-CN" b="1" dirty="0" err="1"/>
              <a:t>x</a:t>
            </a:r>
            <a:r>
              <a:rPr lang="en-US" b="1" dirty="0" err="1"/>
              <a:t>D</a:t>
            </a:r>
            <a:r>
              <a:rPr lang="zh-CN" altLang="en-US" b="1" dirty="0"/>
              <a:t>的情况。</a:t>
            </a:r>
            <a:endParaRPr lang="zh-CN" altLang="en-US" dirty="0"/>
          </a:p>
          <a:p>
            <a:pPr lvl="1"/>
            <a:r>
              <a:rPr lang="zh-CN" altLang="en-US" dirty="0"/>
              <a:t>对于</a:t>
            </a:r>
            <a:r>
              <a:rPr lang="en-US" altLang="zh-CN" dirty="0"/>
              <a:t>2</a:t>
            </a:r>
            <a:r>
              <a:rPr lang="zh-CN" altLang="en-US" dirty="0"/>
              <a:t>台节点部署的方案，综合性能最好的是 </a:t>
            </a:r>
            <a:r>
              <a:rPr lang="en-US" altLang="zh-CN" dirty="0"/>
              <a:t>1</a:t>
            </a:r>
            <a:r>
              <a:rPr lang="en-US" dirty="0"/>
              <a:t>P1D + NIXL </a:t>
            </a:r>
            <a:r>
              <a:rPr lang="en-US" dirty="0" err="1"/>
              <a:t>Libfabric</a:t>
            </a:r>
            <a:r>
              <a:rPr lang="en-US" dirty="0"/>
              <a:t> backend + NCCL。</a:t>
            </a:r>
          </a:p>
          <a:p>
            <a:pPr lvl="1"/>
            <a:r>
              <a:rPr lang="zh-CN" altLang="en-US" dirty="0"/>
              <a:t>对于</a:t>
            </a:r>
            <a:r>
              <a:rPr lang="en-US" altLang="zh-CN" dirty="0"/>
              <a:t>4</a:t>
            </a:r>
            <a:r>
              <a:rPr lang="zh-CN" altLang="en-US" dirty="0"/>
              <a:t>节点部署的方案，</a:t>
            </a:r>
            <a:r>
              <a:rPr lang="en-US" altLang="zh-CN" dirty="0"/>
              <a:t>2</a:t>
            </a:r>
            <a:r>
              <a:rPr lang="en-US" dirty="0"/>
              <a:t>P2D + UCCL-EP</a:t>
            </a:r>
            <a:r>
              <a:rPr lang="zh-CN" altLang="en-US" dirty="0"/>
              <a:t>的方式要好于</a:t>
            </a:r>
            <a:r>
              <a:rPr lang="en-US" altLang="zh-CN" dirty="0"/>
              <a:t>2</a:t>
            </a:r>
            <a:r>
              <a:rPr lang="en-US" dirty="0"/>
              <a:t>P2D + NCCL</a:t>
            </a:r>
            <a:r>
              <a:rPr lang="zh-CN" altLang="en-US" dirty="0"/>
              <a:t>的方式。</a:t>
            </a:r>
          </a:p>
          <a:p>
            <a:pPr lvl="2"/>
            <a:r>
              <a:rPr lang="en-US" b="1" dirty="0"/>
              <a:t>UCCL-EP/</a:t>
            </a:r>
            <a:r>
              <a:rPr lang="en-US" b="1" dirty="0" err="1"/>
              <a:t>DeepEP</a:t>
            </a:r>
            <a:r>
              <a:rPr lang="zh-CN" altLang="en-US" b="1" dirty="0"/>
              <a:t>都是和</a:t>
            </a:r>
            <a:r>
              <a:rPr lang="en-US" b="1" dirty="0"/>
              <a:t>PD</a:t>
            </a:r>
            <a:r>
              <a:rPr lang="zh-CN" altLang="en-US" b="1" dirty="0"/>
              <a:t>分离配合起来才能更好的发挥作用。</a:t>
            </a:r>
            <a:endParaRPr lang="zh-CN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162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758CAD-5375-7436-EAD1-ECF6C7497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1465"/>
          </a:xfrm>
        </p:spPr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0B8F38-92FC-7CFE-079A-E67292F5E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3988"/>
            <a:ext cx="10515600" cy="4632976"/>
          </a:xfrm>
        </p:spPr>
        <p:txBody>
          <a:bodyPr/>
          <a:lstStyle/>
          <a:p>
            <a:pPr lvl="1"/>
            <a:r>
              <a:rPr lang="zh-CN" altLang="en-US" dirty="0"/>
              <a:t>对于</a:t>
            </a:r>
            <a:r>
              <a:rPr lang="en-US" altLang="zh-CN" dirty="0"/>
              <a:t>4</a:t>
            </a:r>
            <a:r>
              <a:rPr lang="zh-CN" altLang="en-US" dirty="0"/>
              <a:t>节点部署的</a:t>
            </a:r>
            <a:r>
              <a:rPr lang="en-US" altLang="zh-CN" dirty="0"/>
              <a:t>2</a:t>
            </a:r>
            <a:r>
              <a:rPr lang="en-US" dirty="0"/>
              <a:t>P2D</a:t>
            </a:r>
            <a:r>
              <a:rPr lang="zh-CN" altLang="en-US" dirty="0"/>
              <a:t>方案，方案（</a:t>
            </a:r>
            <a:r>
              <a:rPr lang="en-US" altLang="zh-CN" dirty="0"/>
              <a:t>2</a:t>
            </a:r>
            <a:r>
              <a:rPr lang="en-US" dirty="0"/>
              <a:t>P</a:t>
            </a:r>
            <a:r>
              <a:rPr lang="zh-CN" altLang="en-US" dirty="0"/>
              <a:t>是单独的，</a:t>
            </a:r>
            <a:r>
              <a:rPr lang="en-US" altLang="zh-CN" dirty="0"/>
              <a:t>2</a:t>
            </a:r>
            <a:r>
              <a:rPr lang="en-US" dirty="0"/>
              <a:t>D</a:t>
            </a:r>
            <a:r>
              <a:rPr lang="zh-CN" altLang="en-US" dirty="0"/>
              <a:t>之间使用</a:t>
            </a:r>
            <a:r>
              <a:rPr lang="en-US" dirty="0"/>
              <a:t>UCCL-EP low latency mode ）</a:t>
            </a:r>
            <a:r>
              <a:rPr lang="zh-CN" altLang="en-US" dirty="0"/>
              <a:t>比方案（</a:t>
            </a:r>
            <a:r>
              <a:rPr lang="en-US" altLang="zh-CN" dirty="0"/>
              <a:t>2</a:t>
            </a:r>
            <a:r>
              <a:rPr lang="en-US" dirty="0"/>
              <a:t>P</a:t>
            </a:r>
            <a:r>
              <a:rPr lang="zh-CN" altLang="en-US" dirty="0"/>
              <a:t>之间使用</a:t>
            </a:r>
            <a:r>
              <a:rPr lang="en-US" dirty="0"/>
              <a:t>UCCL-EP normal mode，2D</a:t>
            </a:r>
            <a:r>
              <a:rPr lang="zh-CN" altLang="en-US" dirty="0"/>
              <a:t>之间使用</a:t>
            </a:r>
            <a:r>
              <a:rPr lang="en-US" dirty="0"/>
              <a:t>UCCL-EP low latency mode）</a:t>
            </a:r>
            <a:r>
              <a:rPr lang="zh-CN" altLang="en-US" dirty="0"/>
              <a:t>更好。</a:t>
            </a:r>
          </a:p>
          <a:p>
            <a:pPr lvl="2"/>
            <a:r>
              <a:rPr lang="zh-CN" altLang="en-US" dirty="0"/>
              <a:t>这个也和蚂蚁金服针对</a:t>
            </a:r>
            <a:r>
              <a:rPr lang="en-US" dirty="0"/>
              <a:t>deepseek-v3</a:t>
            </a:r>
            <a:r>
              <a:rPr lang="zh-CN" altLang="en-US" dirty="0"/>
              <a:t>使用</a:t>
            </a:r>
            <a:r>
              <a:rPr lang="en-US" altLang="zh-CN" dirty="0"/>
              <a:t>4</a:t>
            </a:r>
            <a:r>
              <a:rPr lang="zh-CN" altLang="en-US" dirty="0"/>
              <a:t>台</a:t>
            </a:r>
            <a:r>
              <a:rPr lang="en-US" dirty="0"/>
              <a:t>H20</a:t>
            </a:r>
            <a:r>
              <a:rPr lang="zh-CN" altLang="en-US" dirty="0"/>
              <a:t>建议的部署方案是一致的结论。</a:t>
            </a:r>
          </a:p>
          <a:p>
            <a:pPr lvl="3"/>
            <a:r>
              <a:rPr lang="zh-CN" altLang="en-US" dirty="0"/>
              <a:t>独立 </a:t>
            </a:r>
            <a:r>
              <a:rPr lang="en-US" dirty="0" err="1"/>
              <a:t>prefill（TP</a:t>
            </a:r>
            <a:r>
              <a:rPr lang="en-US" dirty="0"/>
              <a:t>=8 </a:t>
            </a:r>
            <a:r>
              <a:rPr lang="zh-CN" altLang="en-US" dirty="0"/>
              <a:t>单节点）</a:t>
            </a:r>
            <a:r>
              <a:rPr lang="en-US" altLang="zh-CN" dirty="0"/>
              <a:t>+ </a:t>
            </a:r>
            <a:r>
              <a:rPr lang="en-US" dirty="0" err="1"/>
              <a:t>flashmla</a:t>
            </a:r>
            <a:r>
              <a:rPr lang="en-US" dirty="0"/>
              <a:t> decode </a:t>
            </a:r>
            <a:r>
              <a:rPr lang="zh-CN" altLang="en-US" dirty="0"/>
              <a:t>是 </a:t>
            </a:r>
            <a:r>
              <a:rPr lang="en-US" altLang="zh-CN" dirty="0"/>
              <a:t>2</a:t>
            </a:r>
            <a:r>
              <a:rPr lang="en-US" dirty="0"/>
              <a:t>P2D </a:t>
            </a:r>
            <a:r>
              <a:rPr lang="zh-CN" altLang="en-US" dirty="0"/>
              <a:t>的最优架构，避免 </a:t>
            </a:r>
            <a:r>
              <a:rPr lang="en-US" dirty="0"/>
              <a:t>prefill </a:t>
            </a:r>
            <a:r>
              <a:rPr lang="zh-CN" altLang="en-US" dirty="0"/>
              <a:t>跨节点通信开销，并利用 </a:t>
            </a:r>
            <a:r>
              <a:rPr lang="en-US" dirty="0" err="1"/>
              <a:t>flashmla</a:t>
            </a:r>
            <a:r>
              <a:rPr lang="en-US" dirty="0"/>
              <a:t> </a:t>
            </a:r>
            <a:r>
              <a:rPr lang="zh-CN" altLang="en-US" dirty="0"/>
              <a:t>优化 </a:t>
            </a:r>
            <a:r>
              <a:rPr lang="en-US" dirty="0"/>
              <a:t>MLA decode。</a:t>
            </a:r>
          </a:p>
          <a:p>
            <a:pPr lvl="2"/>
            <a:r>
              <a:rPr lang="en-US" dirty="0"/>
              <a:t>2P2D，P</a:t>
            </a:r>
            <a:r>
              <a:rPr lang="zh-CN" altLang="en-US" dirty="0"/>
              <a:t>之间单独部署，</a:t>
            </a:r>
            <a:r>
              <a:rPr lang="en-US" dirty="0"/>
              <a:t>D</a:t>
            </a:r>
            <a:r>
              <a:rPr lang="zh-CN" altLang="en-US" dirty="0"/>
              <a:t>之间使用</a:t>
            </a:r>
            <a:r>
              <a:rPr lang="en-US" dirty="0"/>
              <a:t>UCCL-EP，</a:t>
            </a:r>
            <a:r>
              <a:rPr lang="zh-CN" altLang="en-US" dirty="0"/>
              <a:t>参数配置基本和蚂蚁</a:t>
            </a:r>
            <a:r>
              <a:rPr lang="en-US" altLang="zh-CN" dirty="0"/>
              <a:t>(</a:t>
            </a:r>
            <a:r>
              <a:rPr lang="en-US" dirty="0">
                <a:hlinkClick r:id="rId3"/>
              </a:rPr>
              <a:t>https://github.com/antgroup/sglang/pull/4</a:t>
            </a:r>
            <a:r>
              <a:rPr lang="en-US" dirty="0"/>
              <a:t>)</a:t>
            </a:r>
            <a:r>
              <a:rPr lang="zh-CN" altLang="en-US" dirty="0"/>
              <a:t>的建议类似：</a:t>
            </a:r>
          </a:p>
          <a:p>
            <a:pPr lvl="3"/>
            <a:r>
              <a:rPr lang="zh-CN" altLang="en-US" dirty="0"/>
              <a:t>区别：</a:t>
            </a:r>
            <a:r>
              <a:rPr lang="en-US" dirty="0"/>
              <a:t>disable prefix cache，</a:t>
            </a:r>
            <a:r>
              <a:rPr lang="zh-CN" altLang="en-US" dirty="0"/>
              <a:t>没有使用</a:t>
            </a:r>
            <a:r>
              <a:rPr lang="en-US" dirty="0"/>
              <a:t>speculative</a:t>
            </a:r>
            <a:r>
              <a:rPr lang="zh-CN" altLang="en-US" dirty="0"/>
              <a:t>相关参数，使用的是</a:t>
            </a:r>
            <a:r>
              <a:rPr lang="en-US" dirty="0"/>
              <a:t>H200 GPU，</a:t>
            </a:r>
            <a:r>
              <a:rPr lang="zh-CN" altLang="en-US" dirty="0"/>
              <a:t>使用的</a:t>
            </a:r>
            <a:r>
              <a:rPr lang="en-US" dirty="0"/>
              <a:t>EFA</a:t>
            </a:r>
            <a:r>
              <a:rPr lang="zh-CN" altLang="en-US" dirty="0"/>
              <a:t>和</a:t>
            </a:r>
            <a:r>
              <a:rPr lang="en-US" dirty="0"/>
              <a:t>UCCL-EP。</a:t>
            </a:r>
            <a:r>
              <a:rPr lang="zh-CN" altLang="en-US" dirty="0"/>
              <a:t>对应上面</a:t>
            </a:r>
            <a:r>
              <a:rPr lang="en-US" dirty="0"/>
              <a:t>PR</a:t>
            </a:r>
            <a:r>
              <a:rPr lang="zh-CN" altLang="en-US" dirty="0"/>
              <a:t>中提到的</a:t>
            </a:r>
            <a:r>
              <a:rPr lang="en-US" dirty="0" err="1"/>
              <a:t>batchsize</a:t>
            </a:r>
            <a:r>
              <a:rPr lang="zh-CN" altLang="en-US" dirty="0"/>
              <a:t>为</a:t>
            </a:r>
            <a:r>
              <a:rPr lang="en-US" dirty="0"/>
              <a:t>48/running-rep</a:t>
            </a:r>
            <a:r>
              <a:rPr lang="zh-CN" altLang="en-US" dirty="0"/>
              <a:t>为</a:t>
            </a:r>
            <a:r>
              <a:rPr lang="en-US" dirty="0"/>
              <a:t>48</a:t>
            </a:r>
            <a:r>
              <a:rPr lang="zh-CN" altLang="en-US" dirty="0"/>
              <a:t>的，如下图（比</a:t>
            </a:r>
            <a:r>
              <a:rPr lang="en-US" altLang="zh-CN" dirty="0"/>
              <a:t>PR</a:t>
            </a:r>
            <a:r>
              <a:rPr lang="zh-CN" altLang="en-US" dirty="0"/>
              <a:t>中提到的性能还好）：</a:t>
            </a:r>
            <a:endParaRPr lang="en-US" dirty="0"/>
          </a:p>
          <a:p>
            <a:pPr lvl="3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3CCC7B1-995B-E17A-1234-6FF7A5827A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076" y="4924337"/>
            <a:ext cx="9734724" cy="177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734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1CF25C-9929-1C38-AB01-37F9655D0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实验中遇到的问题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4BE5E8-CD44-5E46-5B6E-39308B621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不同的</a:t>
            </a:r>
            <a:r>
              <a:rPr lang="en-US" b="1" dirty="0">
                <a:solidFill>
                  <a:srgbClr val="FF0000"/>
                </a:solidFill>
              </a:rPr>
              <a:t>container image</a:t>
            </a:r>
            <a:r>
              <a:rPr lang="zh-CN" altLang="en-US" b="1" dirty="0">
                <a:solidFill>
                  <a:srgbClr val="FF0000"/>
                </a:solidFill>
              </a:rPr>
              <a:t>和后续安装的软件库的兼容性问题以及依赖库缺失问题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开始我使用最新的官方的</a:t>
            </a:r>
            <a:r>
              <a:rPr lang="en-US" dirty="0" err="1"/>
              <a:t>sglang</a:t>
            </a:r>
            <a:r>
              <a:rPr lang="en-US" dirty="0"/>
              <a:t> container image，</a:t>
            </a:r>
            <a:r>
              <a:rPr lang="zh-CN" altLang="en-US" dirty="0"/>
              <a:t>然后在容器中安装</a:t>
            </a:r>
            <a:r>
              <a:rPr lang="en-US" dirty="0"/>
              <a:t>AWS EFA</a:t>
            </a:r>
            <a:r>
              <a:rPr lang="zh-CN" altLang="en-US" dirty="0"/>
              <a:t>以及其他的软件库，就遇到各种问题，</a:t>
            </a:r>
            <a:r>
              <a:rPr lang="en-US" dirty="0"/>
              <a:t>Claude code</a:t>
            </a:r>
            <a:r>
              <a:rPr lang="zh-CN" altLang="en-US" dirty="0"/>
              <a:t>尝试了许久仍然没有</a:t>
            </a:r>
            <a:r>
              <a:rPr lang="en-US" dirty="0"/>
              <a:t>Fix。</a:t>
            </a:r>
          </a:p>
          <a:p>
            <a:pPr lvl="1"/>
            <a:r>
              <a:rPr lang="zh-CN" altLang="en-US" dirty="0"/>
              <a:t>最后我找到一个包括比较新的支持</a:t>
            </a:r>
            <a:r>
              <a:rPr lang="en-US" dirty="0" err="1"/>
              <a:t>sglang</a:t>
            </a:r>
            <a:r>
              <a:rPr lang="zh-CN" altLang="en-US" dirty="0"/>
              <a:t>的</a:t>
            </a:r>
            <a:r>
              <a:rPr lang="en-US" dirty="0"/>
              <a:t>AWS build</a:t>
            </a:r>
            <a:r>
              <a:rPr lang="zh-CN" altLang="en-US" dirty="0"/>
              <a:t>的</a:t>
            </a:r>
            <a:r>
              <a:rPr lang="en-US" dirty="0"/>
              <a:t>container image </a:t>
            </a:r>
            <a:r>
              <a:rPr lang="en-US" b="1" dirty="0" err="1"/>
              <a:t>public.ecr.aws</a:t>
            </a:r>
            <a:r>
              <a:rPr lang="en-US" b="1" dirty="0"/>
              <a:t>/deep-learning-containers/sglang:0.5.8-gpu-py312-cu129-ubuntu24.04-sagemaker-v1.11-soci 。</a:t>
            </a:r>
            <a:r>
              <a:rPr lang="zh-CN" altLang="en-US" dirty="0"/>
              <a:t>后续的实验都是基于这个来做的。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441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CC6EC3-B9A1-F50A-1FCE-A17DD8FD0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F07D2D-672E-3CF1-F429-3E9AAB382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UCCL-EP</a:t>
            </a:r>
            <a:r>
              <a:rPr lang="zh-CN" altLang="en-US" b="1" dirty="0"/>
              <a:t>的使用</a:t>
            </a:r>
            <a:r>
              <a:rPr lang="zh-CN" altLang="en-US" dirty="0"/>
              <a:t>：</a:t>
            </a:r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台机器部署</a:t>
            </a:r>
            <a:r>
              <a:rPr lang="en-US" dirty="0" err="1"/>
              <a:t>uccl-ep（non-PD</a:t>
            </a:r>
            <a:r>
              <a:rPr lang="zh-CN" altLang="en-US" dirty="0"/>
              <a:t>方式）的情况下：</a:t>
            </a:r>
          </a:p>
          <a:p>
            <a:pPr lvl="2"/>
            <a:r>
              <a:rPr lang="zh-CN" altLang="en-US" dirty="0"/>
              <a:t>设置</a:t>
            </a:r>
            <a:r>
              <a:rPr lang="en-US" dirty="0" err="1"/>
              <a:t>deepep</a:t>
            </a:r>
            <a:r>
              <a:rPr lang="en-US" dirty="0"/>
              <a:t>-mode</a:t>
            </a:r>
            <a:r>
              <a:rPr lang="zh-CN" altLang="en-US" dirty="0"/>
              <a:t>为</a:t>
            </a:r>
            <a:r>
              <a:rPr lang="en-US" dirty="0"/>
              <a:t>auto</a:t>
            </a:r>
            <a:r>
              <a:rPr lang="zh-CN" altLang="en-US" dirty="0"/>
              <a:t>工作不正常。</a:t>
            </a:r>
          </a:p>
          <a:p>
            <a:pPr lvl="2"/>
            <a:r>
              <a:rPr lang="zh-CN" altLang="en-US" dirty="0"/>
              <a:t>设置</a:t>
            </a:r>
            <a:r>
              <a:rPr lang="en-US" dirty="0" err="1"/>
              <a:t>deepep</a:t>
            </a:r>
            <a:r>
              <a:rPr lang="en-US" dirty="0"/>
              <a:t>-mode</a:t>
            </a:r>
            <a:r>
              <a:rPr lang="zh-CN" altLang="en-US" dirty="0"/>
              <a:t>为</a:t>
            </a:r>
            <a:r>
              <a:rPr lang="en-US" dirty="0"/>
              <a:t>low latency</a:t>
            </a:r>
            <a:r>
              <a:rPr lang="zh-CN" altLang="en-US" dirty="0"/>
              <a:t>比设置为</a:t>
            </a:r>
            <a:r>
              <a:rPr lang="en-US" dirty="0"/>
              <a:t>normal</a:t>
            </a:r>
            <a:r>
              <a:rPr lang="zh-CN" altLang="en-US" dirty="0"/>
              <a:t>整体性能要好。</a:t>
            </a:r>
          </a:p>
          <a:p>
            <a:r>
              <a:rPr lang="en-US" b="1" dirty="0" err="1"/>
              <a:t>DeepGemm</a:t>
            </a:r>
            <a:r>
              <a:rPr lang="zh-CN" altLang="en-US" b="1" dirty="0"/>
              <a:t>的使用</a:t>
            </a:r>
            <a:r>
              <a:rPr lang="zh-CN" altLang="en-US" dirty="0"/>
              <a:t>：</a:t>
            </a:r>
          </a:p>
          <a:p>
            <a:pPr lvl="1"/>
            <a:r>
              <a:rPr lang="zh-CN" altLang="en-US" dirty="0"/>
              <a:t>如果是多节点部署模型，且</a:t>
            </a:r>
            <a:r>
              <a:rPr lang="en-US" dirty="0" err="1"/>
              <a:t>Deepgemm</a:t>
            </a:r>
            <a:r>
              <a:rPr lang="en-US" dirty="0"/>
              <a:t> cache</a:t>
            </a:r>
            <a:r>
              <a:rPr lang="zh-CN" altLang="en-US" dirty="0"/>
              <a:t>的路径是在共享的文件系统比如</a:t>
            </a:r>
            <a:r>
              <a:rPr lang="en-US" dirty="0" err="1"/>
              <a:t>Fsx</a:t>
            </a:r>
            <a:r>
              <a:rPr lang="zh-CN" altLang="en-US" dirty="0"/>
              <a:t>上，那么多节点并发写入</a:t>
            </a:r>
            <a:r>
              <a:rPr lang="en-US" dirty="0" err="1"/>
              <a:t>Deepgemm</a:t>
            </a:r>
            <a:r>
              <a:rPr lang="en-US" dirty="0"/>
              <a:t> cache</a:t>
            </a:r>
            <a:r>
              <a:rPr lang="zh-CN" altLang="en-US" dirty="0"/>
              <a:t>可能会出问题。</a:t>
            </a:r>
            <a:endParaRPr lang="en-US" altLang="zh-CN" dirty="0"/>
          </a:p>
          <a:p>
            <a:pPr lvl="2"/>
            <a:r>
              <a:rPr lang="zh-CN" altLang="en-US" dirty="0"/>
              <a:t>建议</a:t>
            </a:r>
            <a:r>
              <a:rPr lang="en-US" dirty="0" err="1"/>
              <a:t>Deepgemm</a:t>
            </a:r>
            <a:r>
              <a:rPr lang="en-US" dirty="0"/>
              <a:t> cache</a:t>
            </a:r>
            <a:r>
              <a:rPr lang="zh-CN" altLang="en-US" dirty="0"/>
              <a:t>的路径放在本地路径比如</a:t>
            </a:r>
            <a:r>
              <a:rPr lang="en-US" altLang="zh-CN" dirty="0"/>
              <a:t>/</a:t>
            </a:r>
            <a:r>
              <a:rPr lang="en-US" dirty="0" err="1"/>
              <a:t>tmp</a:t>
            </a:r>
            <a:r>
              <a:rPr lang="en-US" dirty="0"/>
              <a:t>/</a:t>
            </a:r>
            <a:r>
              <a:rPr lang="en-US" dirty="0" err="1"/>
              <a:t>deepgemm_cache</a:t>
            </a:r>
            <a:r>
              <a:rPr lang="en-US" dirty="0"/>
              <a:t>，</a:t>
            </a:r>
            <a:r>
              <a:rPr lang="zh-CN" altLang="en-US" dirty="0"/>
              <a:t>而不是共享文件系统中。</a:t>
            </a:r>
          </a:p>
          <a:p>
            <a:pPr lvl="1"/>
            <a:r>
              <a:rPr lang="en-US" dirty="0"/>
              <a:t>Prefill </a:t>
            </a:r>
            <a:r>
              <a:rPr lang="zh-CN" altLang="en-US" dirty="0"/>
              <a:t>在 </a:t>
            </a:r>
            <a:r>
              <a:rPr lang="en-US" dirty="0"/>
              <a:t>warmup </a:t>
            </a:r>
            <a:r>
              <a:rPr lang="zh-CN" altLang="en-US" dirty="0"/>
              <a:t>期间遇到 </a:t>
            </a:r>
            <a:r>
              <a:rPr lang="en-US" dirty="0" err="1"/>
              <a:t>DeepEP</a:t>
            </a:r>
            <a:r>
              <a:rPr lang="en-US" dirty="0"/>
              <a:t> error: timeout  — UCCL-EP all-to-all </a:t>
            </a:r>
            <a:r>
              <a:rPr lang="zh-CN" altLang="en-US" dirty="0"/>
              <a:t>在 </a:t>
            </a:r>
            <a:r>
              <a:rPr lang="en-US" dirty="0"/>
              <a:t>normal </a:t>
            </a:r>
            <a:r>
              <a:rPr lang="zh-CN" altLang="en-US" dirty="0"/>
              <a:t>模式下超时了。</a:t>
            </a:r>
            <a:endParaRPr lang="en-US" altLang="zh-CN" dirty="0"/>
          </a:p>
          <a:p>
            <a:pPr lvl="2"/>
            <a:r>
              <a:rPr lang="zh-CN" altLang="en-US" dirty="0"/>
              <a:t>这是 </a:t>
            </a:r>
            <a:r>
              <a:rPr lang="en-US" dirty="0"/>
              <a:t>UCCL-EP normal </a:t>
            </a:r>
            <a:r>
              <a:rPr lang="zh-CN" altLang="en-US" dirty="0"/>
              <a:t>模式在 </a:t>
            </a:r>
            <a:r>
              <a:rPr lang="en-US" dirty="0"/>
              <a:t>warmup </a:t>
            </a:r>
            <a:r>
              <a:rPr lang="zh-CN" altLang="en-US" dirty="0"/>
              <a:t>期间的 </a:t>
            </a:r>
            <a:r>
              <a:rPr lang="en-US" dirty="0"/>
              <a:t>dispatch </a:t>
            </a:r>
            <a:r>
              <a:rPr lang="zh-CN" altLang="en-US" dirty="0"/>
              <a:t>超时。可能是两个 </a:t>
            </a:r>
            <a:r>
              <a:rPr lang="en-US" dirty="0"/>
              <a:t>prefill </a:t>
            </a:r>
            <a:r>
              <a:rPr lang="zh-CN" altLang="en-US" dirty="0"/>
              <a:t>节点的 </a:t>
            </a:r>
            <a:r>
              <a:rPr lang="en-US" dirty="0"/>
              <a:t>JIT </a:t>
            </a:r>
            <a:r>
              <a:rPr lang="zh-CN" altLang="en-US" dirty="0"/>
              <a:t>编译时间不同步导致。</a:t>
            </a:r>
          </a:p>
          <a:p>
            <a:pPr lvl="3"/>
            <a:r>
              <a:rPr lang="en-US" dirty="0"/>
              <a:t>workaround：</a:t>
            </a:r>
            <a:r>
              <a:rPr lang="zh-CN" altLang="en-US" dirty="0"/>
              <a:t>全部杀掉重试，确保两个</a:t>
            </a:r>
            <a:r>
              <a:rPr lang="en-US" dirty="0"/>
              <a:t>prefill</a:t>
            </a:r>
            <a:r>
              <a:rPr lang="zh-CN" altLang="en-US" dirty="0"/>
              <a:t>节点同时启动。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928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B74F49-F01B-3C11-900C-41360FAE4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B8FD5E-C2FF-8964-0FF8-BB22CDDFF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61887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测试结果的可信度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不同方案对比测试的</a:t>
            </a:r>
            <a:r>
              <a:rPr lang="en-US" dirty="0"/>
              <a:t>prompt</a:t>
            </a:r>
            <a:r>
              <a:rPr lang="zh-CN" altLang="en-US" dirty="0"/>
              <a:t>的</a:t>
            </a:r>
            <a:r>
              <a:rPr lang="en-US" dirty="0"/>
              <a:t>input token length</a:t>
            </a:r>
            <a:r>
              <a:rPr lang="zh-CN" altLang="en-US" dirty="0"/>
              <a:t>和</a:t>
            </a:r>
            <a:r>
              <a:rPr lang="en-US" dirty="0"/>
              <a:t>output token length</a:t>
            </a:r>
            <a:r>
              <a:rPr lang="zh-CN" altLang="en-US" dirty="0"/>
              <a:t>分别是否一致？</a:t>
            </a:r>
          </a:p>
          <a:p>
            <a:pPr lvl="2"/>
            <a:r>
              <a:rPr lang="zh-CN" altLang="en-US" dirty="0"/>
              <a:t>我实验中测试</a:t>
            </a:r>
            <a:r>
              <a:rPr lang="en-US" dirty="0"/>
              <a:t>input token</a:t>
            </a:r>
            <a:r>
              <a:rPr lang="zh-CN" altLang="en-US" dirty="0"/>
              <a:t>长度和</a:t>
            </a:r>
            <a:r>
              <a:rPr lang="en-US" dirty="0"/>
              <a:t>output token</a:t>
            </a:r>
            <a:r>
              <a:rPr lang="zh-CN" altLang="en-US" dirty="0"/>
              <a:t>长度都是随机在变化，也是为了模拟现实中的情况。</a:t>
            </a:r>
          </a:p>
          <a:p>
            <a:pPr lvl="2"/>
            <a:r>
              <a:rPr lang="zh-CN" altLang="en-US" b="1" dirty="0"/>
              <a:t>如果更严谨对比的话，可以把</a:t>
            </a:r>
            <a:r>
              <a:rPr lang="en-US" b="1" dirty="0"/>
              <a:t>input token </a:t>
            </a:r>
            <a:r>
              <a:rPr lang="en-US" b="1" dirty="0" err="1"/>
              <a:t>lenght</a:t>
            </a:r>
            <a:r>
              <a:rPr lang="zh-CN" altLang="en-US" b="1" dirty="0"/>
              <a:t>和</a:t>
            </a:r>
            <a:r>
              <a:rPr lang="en-US" b="1" dirty="0"/>
              <a:t>output token length</a:t>
            </a:r>
            <a:r>
              <a:rPr lang="zh-CN" altLang="en-US" b="1" dirty="0"/>
              <a:t>都固定了在对比测试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b="1" dirty="0"/>
              <a:t>开启测试前，是否做了足够的</a:t>
            </a:r>
            <a:r>
              <a:rPr lang="en-US" b="1" dirty="0"/>
              <a:t>warmup</a:t>
            </a:r>
            <a:r>
              <a:rPr lang="zh-CN" altLang="en-US" b="1" dirty="0"/>
              <a:t>请求</a:t>
            </a:r>
            <a:r>
              <a:rPr lang="zh-CN" altLang="en-US" dirty="0"/>
              <a:t>。</a:t>
            </a:r>
          </a:p>
          <a:p>
            <a:pPr lvl="2"/>
            <a:r>
              <a:rPr lang="zh-CN" altLang="en-US" dirty="0"/>
              <a:t>实验发现，如果没有做</a:t>
            </a:r>
            <a:r>
              <a:rPr lang="en-US" dirty="0"/>
              <a:t>warmup</a:t>
            </a:r>
            <a:r>
              <a:rPr lang="zh-CN" altLang="en-US" dirty="0"/>
              <a:t>请求或者太少的</a:t>
            </a:r>
            <a:r>
              <a:rPr lang="en-US" dirty="0"/>
              <a:t>warmup</a:t>
            </a:r>
            <a:r>
              <a:rPr lang="zh-CN" altLang="en-US" dirty="0"/>
              <a:t>请求，测试结果会差一些。</a:t>
            </a:r>
            <a:endParaRPr lang="en-US" altLang="zh-CN" dirty="0"/>
          </a:p>
          <a:p>
            <a:pPr lvl="2"/>
            <a:r>
              <a:rPr lang="en-US" altLang="zh-CN" dirty="0"/>
              <a:t>Tips</a:t>
            </a:r>
            <a:r>
              <a:rPr lang="zh-CN" altLang="en-US" dirty="0"/>
              <a:t>：</a:t>
            </a:r>
            <a:endParaRPr lang="en-US" altLang="zh-CN" dirty="0"/>
          </a:p>
          <a:p>
            <a:pPr lvl="3"/>
            <a:r>
              <a:rPr lang="en-US" altLang="zh-CN" dirty="0"/>
              <a:t>Warmup</a:t>
            </a:r>
            <a:r>
              <a:rPr lang="zh-CN" altLang="en-US" dirty="0"/>
              <a:t>的请求的</a:t>
            </a:r>
            <a:r>
              <a:rPr lang="en-US" altLang="zh-CN" dirty="0"/>
              <a:t>input token</a:t>
            </a:r>
            <a:r>
              <a:rPr lang="zh-CN" altLang="en-US" dirty="0"/>
              <a:t>长度和</a:t>
            </a:r>
            <a:r>
              <a:rPr lang="en-US" altLang="zh-CN" dirty="0"/>
              <a:t>output token</a:t>
            </a:r>
            <a:r>
              <a:rPr lang="zh-CN" altLang="en-US" dirty="0"/>
              <a:t>长度尽量和之后线上或者压测的分布差不多。</a:t>
            </a:r>
            <a:endParaRPr lang="en-US" altLang="zh-CN" dirty="0"/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16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EA213F-9252-FA14-5FB5-86CA7447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4225"/>
          </a:xfrm>
        </p:spPr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2583CE-ADCE-E48B-87DC-AA5854685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352"/>
            <a:ext cx="10515600" cy="4616611"/>
          </a:xfrm>
        </p:spPr>
        <p:txBody>
          <a:bodyPr/>
          <a:lstStyle/>
          <a:p>
            <a:pPr lvl="1"/>
            <a:r>
              <a:rPr lang="en-US" b="1" dirty="0"/>
              <a:t>prefix/prompt cache</a:t>
            </a:r>
            <a:r>
              <a:rPr lang="zh-CN" altLang="en-US" b="1" dirty="0"/>
              <a:t>是否会影响测试结果</a:t>
            </a:r>
            <a:r>
              <a:rPr lang="zh-CN" altLang="en-US" dirty="0"/>
              <a:t>：</a:t>
            </a:r>
          </a:p>
          <a:p>
            <a:pPr lvl="2"/>
            <a:r>
              <a:rPr lang="en-US" dirty="0" err="1"/>
              <a:t>SGLang</a:t>
            </a:r>
            <a:r>
              <a:rPr lang="en-US" dirty="0"/>
              <a:t> </a:t>
            </a:r>
            <a:r>
              <a:rPr lang="en-US" dirty="0" err="1"/>
              <a:t>bench_server</a:t>
            </a:r>
            <a:r>
              <a:rPr lang="zh-CN" altLang="en-US" dirty="0"/>
              <a:t>是否把</a:t>
            </a:r>
            <a:r>
              <a:rPr lang="en-US" dirty="0"/>
              <a:t>prefix cache</a:t>
            </a:r>
            <a:r>
              <a:rPr lang="zh-CN" altLang="en-US" dirty="0"/>
              <a:t>的影响去掉了？也就是在测试的过程中尽量让</a:t>
            </a:r>
            <a:r>
              <a:rPr lang="en-US" dirty="0"/>
              <a:t>prompt</a:t>
            </a:r>
            <a:r>
              <a:rPr lang="zh-CN" altLang="en-US" dirty="0"/>
              <a:t>是随机的，不要命中</a:t>
            </a:r>
            <a:r>
              <a:rPr lang="en-US" dirty="0"/>
              <a:t>prefix cache，</a:t>
            </a:r>
            <a:r>
              <a:rPr lang="zh-CN" altLang="en-US" dirty="0"/>
              <a:t>这样测试结果更准确和公平。</a:t>
            </a:r>
          </a:p>
          <a:p>
            <a:pPr lvl="3"/>
            <a:r>
              <a:rPr lang="en-US" b="1" dirty="0" err="1"/>
              <a:t>SGLang</a:t>
            </a:r>
            <a:r>
              <a:rPr lang="en-US" b="1" dirty="0"/>
              <a:t> </a:t>
            </a:r>
            <a:r>
              <a:rPr lang="zh-CN" altLang="en-US" b="1" dirty="0"/>
              <a:t>默认开启 </a:t>
            </a:r>
            <a:r>
              <a:rPr lang="en-US" b="1" dirty="0" err="1"/>
              <a:t>RadixAttention</a:t>
            </a:r>
            <a:r>
              <a:rPr lang="en-US" b="1" dirty="0"/>
              <a:t> </a:t>
            </a:r>
            <a:r>
              <a:rPr lang="zh-CN" altLang="en-US" b="1" dirty="0"/>
              <a:t>前缀缓存</a:t>
            </a:r>
            <a:r>
              <a:rPr lang="zh-CN" altLang="en-US" dirty="0"/>
              <a:t>。如果要更严谨的对比性能测试，可以考虑禁用</a:t>
            </a:r>
            <a:r>
              <a:rPr lang="en-US" dirty="0"/>
              <a:t>prefix cache，</a:t>
            </a:r>
            <a:r>
              <a:rPr lang="zh-CN" altLang="en-US" dirty="0"/>
              <a:t>在</a:t>
            </a:r>
            <a:r>
              <a:rPr lang="en-US" dirty="0" err="1"/>
              <a:t>sglang</a:t>
            </a:r>
            <a:r>
              <a:rPr lang="en-US" dirty="0"/>
              <a:t> server </a:t>
            </a:r>
            <a:r>
              <a:rPr lang="zh-CN" altLang="en-US" dirty="0"/>
              <a:t>启动时增加 </a:t>
            </a:r>
            <a:r>
              <a:rPr lang="en-US" dirty="0"/>
              <a:t>disable-radix-cache</a:t>
            </a:r>
            <a:r>
              <a:rPr lang="zh-CN" altLang="en-US" dirty="0"/>
              <a:t>参数。</a:t>
            </a:r>
          </a:p>
          <a:p>
            <a:pPr lvl="2"/>
            <a:r>
              <a:rPr lang="zh-CN" altLang="en-US" b="1" dirty="0"/>
              <a:t>通过日志可以确认在</a:t>
            </a:r>
            <a:r>
              <a:rPr lang="en-US" b="1" dirty="0"/>
              <a:t>prefill</a:t>
            </a:r>
            <a:r>
              <a:rPr lang="zh-CN" altLang="en-US" b="1" dirty="0"/>
              <a:t>阶段是否使用了</a:t>
            </a:r>
            <a:r>
              <a:rPr lang="en-US" b="1" dirty="0"/>
              <a:t>prefix cache</a:t>
            </a:r>
            <a:r>
              <a:rPr lang="en-US" dirty="0"/>
              <a:t>，</a:t>
            </a:r>
            <a:r>
              <a:rPr lang="zh-CN" altLang="en-US" dirty="0"/>
              <a:t>比如下面日志中的</a:t>
            </a:r>
            <a:r>
              <a:rPr lang="en-US" dirty="0"/>
              <a:t>prefill batch</a:t>
            </a:r>
            <a:r>
              <a:rPr lang="zh-CN" altLang="en-US" dirty="0"/>
              <a:t>的</a:t>
            </a:r>
            <a:r>
              <a:rPr lang="en-US" dirty="0"/>
              <a:t>cached token</a:t>
            </a:r>
            <a:r>
              <a:rPr lang="zh-CN" altLang="en-US" dirty="0"/>
              <a:t>数量大于</a:t>
            </a:r>
            <a:r>
              <a:rPr lang="en-US" altLang="zh-CN" dirty="0"/>
              <a:t>1</a:t>
            </a:r>
            <a:r>
              <a:rPr lang="zh-CN" altLang="en-US" dirty="0"/>
              <a:t>，就表示用了</a:t>
            </a:r>
            <a:r>
              <a:rPr lang="en-US" dirty="0"/>
              <a:t>prefix cache。</a:t>
            </a:r>
          </a:p>
          <a:p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1DA2484-555D-0C33-E241-20953A0ADA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108" y="3876085"/>
            <a:ext cx="10329644" cy="261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736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4BBE23-6010-9D5E-DD87-38A1A1346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9F2C71-A3C0-0323-9BFD-00CFD47FC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11447"/>
          </a:xfrm>
        </p:spPr>
        <p:txBody>
          <a:bodyPr>
            <a:normAutofit lnSpcReduction="10000"/>
          </a:bodyPr>
          <a:lstStyle/>
          <a:p>
            <a:r>
              <a:rPr lang="zh-CN" altLang="en-US" b="1" dirty="0"/>
              <a:t>模型加载速度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altLang="zh-CN" dirty="0"/>
              <a:t>EP Size</a:t>
            </a:r>
            <a:r>
              <a:rPr lang="zh-CN" altLang="en-US" dirty="0"/>
              <a:t>的影响：</a:t>
            </a:r>
          </a:p>
          <a:p>
            <a:pPr lvl="2"/>
            <a:r>
              <a:rPr lang="zh-CN" altLang="en-US" dirty="0"/>
              <a:t>使用</a:t>
            </a:r>
            <a:r>
              <a:rPr lang="en-US" altLang="zh-CN" dirty="0"/>
              <a:t>2</a:t>
            </a:r>
            <a:r>
              <a:rPr lang="zh-CN" altLang="en-US" dirty="0"/>
              <a:t>节点部署 </a:t>
            </a:r>
            <a:r>
              <a:rPr lang="en-US" altLang="zh-CN" dirty="0"/>
              <a:t>deepseek-v3 </a:t>
            </a:r>
            <a:r>
              <a:rPr lang="zh-CN" altLang="en-US" dirty="0"/>
              <a:t>（</a:t>
            </a:r>
            <a:r>
              <a:rPr lang="en-US" altLang="zh-CN" dirty="0"/>
              <a:t>non PD</a:t>
            </a:r>
            <a:r>
              <a:rPr lang="zh-CN" altLang="en-US" dirty="0"/>
              <a:t>）的时候，没有设置</a:t>
            </a:r>
            <a:r>
              <a:rPr lang="en-US" altLang="zh-CN" dirty="0"/>
              <a:t>EP size</a:t>
            </a:r>
            <a:r>
              <a:rPr lang="zh-CN" altLang="en-US" dirty="0"/>
              <a:t>（使用纯</a:t>
            </a:r>
            <a:r>
              <a:rPr lang="en-US" altLang="zh-CN" dirty="0"/>
              <a:t>TP</a:t>
            </a:r>
            <a:r>
              <a:rPr lang="zh-CN" altLang="en-US" dirty="0"/>
              <a:t>，</a:t>
            </a:r>
            <a:r>
              <a:rPr lang="en-US" altLang="zh-CN" dirty="0"/>
              <a:t>EP</a:t>
            </a:r>
            <a:r>
              <a:rPr lang="zh-CN" altLang="en-US" dirty="0"/>
              <a:t>默认是</a:t>
            </a:r>
            <a:r>
              <a:rPr lang="en-US" altLang="zh-CN" dirty="0"/>
              <a:t>1</a:t>
            </a:r>
            <a:r>
              <a:rPr lang="zh-CN" altLang="en-US" dirty="0"/>
              <a:t>），在模型的整个加载过程非常耗时（大概</a:t>
            </a:r>
            <a:r>
              <a:rPr lang="en-US" altLang="zh-CN" dirty="0"/>
              <a:t>50</a:t>
            </a:r>
            <a:r>
              <a:rPr lang="zh-CN" altLang="en-US" dirty="0"/>
              <a:t>分钟）：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altLang="zh-CN" dirty="0"/>
          </a:p>
          <a:p>
            <a:pPr lvl="2"/>
            <a:r>
              <a:rPr lang="zh-CN" altLang="en-US" dirty="0"/>
              <a:t>同样的</a:t>
            </a:r>
            <a:r>
              <a:rPr lang="en-US" altLang="zh-CN" dirty="0"/>
              <a:t>2</a:t>
            </a:r>
            <a:r>
              <a:rPr lang="zh-CN" altLang="en-US" dirty="0"/>
              <a:t>节点部署，如果把</a:t>
            </a:r>
            <a:r>
              <a:rPr lang="en-US" dirty="0"/>
              <a:t>EP size</a:t>
            </a:r>
            <a:r>
              <a:rPr lang="zh-CN" altLang="en-US" dirty="0"/>
              <a:t>设置大于</a:t>
            </a:r>
            <a:r>
              <a:rPr lang="en-US" altLang="zh-CN" dirty="0"/>
              <a:t>1</a:t>
            </a:r>
            <a:r>
              <a:rPr lang="zh-CN" altLang="en-US" dirty="0"/>
              <a:t>比如</a:t>
            </a:r>
            <a:r>
              <a:rPr lang="en-US" altLang="zh-CN" dirty="0"/>
              <a:t>16</a:t>
            </a:r>
            <a:r>
              <a:rPr lang="zh-CN" altLang="en-US" dirty="0"/>
              <a:t>，</a:t>
            </a:r>
            <a:r>
              <a:rPr lang="en-US" dirty="0"/>
              <a:t>deepseek-v3</a:t>
            </a:r>
            <a:r>
              <a:rPr lang="zh-CN" altLang="en-US" dirty="0"/>
              <a:t>模型的加载速度提升明显很多。</a:t>
            </a: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F7FA9FE-8053-4FC2-8CAA-A77DDB09CD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202" y="3016251"/>
            <a:ext cx="8397380" cy="277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701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E3F2D7-93DD-F613-35BE-9F89C71AB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84F9A2-BB8D-CAEB-D364-AF43A2620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67083"/>
          </a:xfrm>
        </p:spPr>
        <p:txBody>
          <a:bodyPr>
            <a:normAutofit fontScale="92500"/>
          </a:bodyPr>
          <a:lstStyle/>
          <a:p>
            <a:pPr lvl="1"/>
            <a:r>
              <a:rPr lang="zh-CN" altLang="en-US" b="1" dirty="0"/>
              <a:t>模型存储的影响</a:t>
            </a:r>
            <a:r>
              <a:rPr lang="zh-CN" altLang="en-US" dirty="0"/>
              <a:t>：</a:t>
            </a:r>
            <a:endParaRPr lang="en-US" altLang="zh-CN" dirty="0"/>
          </a:p>
          <a:p>
            <a:pPr lvl="2"/>
            <a:r>
              <a:rPr lang="zh-CN" altLang="en-US" dirty="0"/>
              <a:t>从</a:t>
            </a:r>
            <a:r>
              <a:rPr lang="en-US" dirty="0" err="1"/>
              <a:t>sglang</a:t>
            </a:r>
            <a:r>
              <a:rPr lang="zh-CN" altLang="en-US" dirty="0"/>
              <a:t>的日志中，其实看不出来模型从存储系统加载到系统</a:t>
            </a:r>
            <a:r>
              <a:rPr lang="en-US" dirty="0"/>
              <a:t>RAM</a:t>
            </a:r>
            <a:r>
              <a:rPr lang="zh-CN" altLang="en-US" dirty="0"/>
              <a:t>的耗时情况。如上图所示，</a:t>
            </a:r>
            <a:r>
              <a:rPr lang="zh-CN" altLang="en-US" b="1" dirty="0">
                <a:solidFill>
                  <a:srgbClr val="FF0000"/>
                </a:solidFill>
              </a:rPr>
              <a:t>上面的</a:t>
            </a:r>
            <a:r>
              <a:rPr lang="en-US" b="1" dirty="0">
                <a:solidFill>
                  <a:srgbClr val="FF0000"/>
                </a:solidFill>
              </a:rPr>
              <a:t>loading </a:t>
            </a:r>
            <a:r>
              <a:rPr lang="en-US" b="1" dirty="0" err="1">
                <a:solidFill>
                  <a:srgbClr val="FF0000"/>
                </a:solidFill>
              </a:rPr>
              <a:t>safetensors</a:t>
            </a:r>
            <a:r>
              <a:rPr lang="en-US" b="1" dirty="0">
                <a:solidFill>
                  <a:srgbClr val="FF0000"/>
                </a:solidFill>
              </a:rPr>
              <a:t> checkpoint complete</a:t>
            </a:r>
            <a:r>
              <a:rPr lang="zh-CN" altLang="en-US" b="1" dirty="0">
                <a:solidFill>
                  <a:srgbClr val="FF0000"/>
                </a:solidFill>
              </a:rPr>
              <a:t>其实是误导信号</a:t>
            </a:r>
            <a:r>
              <a:rPr lang="zh-CN" altLang="en-US" dirty="0"/>
              <a:t>。</a:t>
            </a:r>
          </a:p>
          <a:p>
            <a:pPr lvl="3"/>
            <a:r>
              <a:rPr lang="zh-CN" altLang="en-US" b="1" dirty="0"/>
              <a:t>为什么这么说</a:t>
            </a:r>
            <a:r>
              <a:rPr lang="zh-CN" altLang="en-US" dirty="0"/>
              <a:t>？在另一个实验，使用单节点部署</a:t>
            </a:r>
            <a:r>
              <a:rPr lang="en-US" dirty="0"/>
              <a:t>Kimi2.5 INT4</a:t>
            </a:r>
            <a:r>
              <a:rPr lang="zh-CN" altLang="en-US" dirty="0"/>
              <a:t>模型的时候，不管是</a:t>
            </a:r>
            <a:r>
              <a:rPr lang="en-US" dirty="0"/>
              <a:t>EP1</a:t>
            </a:r>
            <a:r>
              <a:rPr lang="zh-CN" altLang="en-US" dirty="0"/>
              <a:t>还是</a:t>
            </a:r>
            <a:r>
              <a:rPr lang="en-US" dirty="0"/>
              <a:t>EP8，</a:t>
            </a:r>
            <a:r>
              <a:rPr lang="zh-CN" altLang="en-US" dirty="0"/>
              <a:t>整个模型加载速度都比较慢，大概</a:t>
            </a:r>
            <a:r>
              <a:rPr lang="en-US" altLang="zh-CN" dirty="0"/>
              <a:t>25</a:t>
            </a:r>
            <a:r>
              <a:rPr lang="zh-CN" altLang="en-US" dirty="0"/>
              <a:t>分钟左右。</a:t>
            </a:r>
            <a:endParaRPr lang="en-US" altLang="zh-CN" dirty="0"/>
          </a:p>
          <a:p>
            <a:pPr lvl="4"/>
            <a:r>
              <a:rPr lang="zh-CN" altLang="en-US" dirty="0"/>
              <a:t>从“</a:t>
            </a:r>
            <a:r>
              <a:rPr lang="en-US" dirty="0"/>
              <a:t>loading </a:t>
            </a:r>
            <a:r>
              <a:rPr lang="en-US" dirty="0" err="1"/>
              <a:t>safetensors</a:t>
            </a:r>
            <a:r>
              <a:rPr lang="en-US" dirty="0"/>
              <a:t> checkpoint complete”</a:t>
            </a:r>
            <a:r>
              <a:rPr lang="zh-CN" altLang="en-US" dirty="0"/>
              <a:t>到“</a:t>
            </a:r>
            <a:r>
              <a:rPr lang="en-US" dirty="0"/>
              <a:t>load weight end”</a:t>
            </a:r>
            <a:r>
              <a:rPr lang="zh-CN" altLang="en-US" dirty="0"/>
              <a:t>这个时间要</a:t>
            </a:r>
            <a:r>
              <a:rPr lang="en-US" altLang="zh-CN" dirty="0"/>
              <a:t>25</a:t>
            </a:r>
            <a:r>
              <a:rPr lang="zh-CN" altLang="en-US" dirty="0"/>
              <a:t>分钟，如果“</a:t>
            </a:r>
            <a:r>
              <a:rPr lang="en-US" dirty="0"/>
              <a:t>loading </a:t>
            </a:r>
            <a:r>
              <a:rPr lang="en-US" dirty="0" err="1"/>
              <a:t>safetensors</a:t>
            </a:r>
            <a:r>
              <a:rPr lang="en-US" dirty="0"/>
              <a:t> checkpoint complete”</a:t>
            </a:r>
            <a:r>
              <a:rPr lang="zh-CN" altLang="en-US" dirty="0"/>
              <a:t>表示从存储加载到了系统</a:t>
            </a:r>
            <a:r>
              <a:rPr lang="en-US" dirty="0"/>
              <a:t>RAM，</a:t>
            </a:r>
            <a:r>
              <a:rPr lang="zh-CN" altLang="en-US" dirty="0"/>
              <a:t>那么剩下的时间就是模型</a:t>
            </a:r>
            <a:r>
              <a:rPr lang="en-US" dirty="0"/>
              <a:t>weight </a:t>
            </a:r>
            <a:r>
              <a:rPr lang="zh-CN" altLang="en-US" dirty="0"/>
              <a:t>从系统</a:t>
            </a:r>
            <a:r>
              <a:rPr lang="en-US" dirty="0"/>
              <a:t>RAM shard</a:t>
            </a:r>
            <a:r>
              <a:rPr lang="zh-CN" altLang="en-US" dirty="0"/>
              <a:t>到不同</a:t>
            </a:r>
            <a:r>
              <a:rPr lang="en-US" dirty="0"/>
              <a:t>GPU</a:t>
            </a:r>
            <a:r>
              <a:rPr lang="zh-CN" altLang="en-US" dirty="0"/>
              <a:t>的时间，无论如何不应该这么慢。</a:t>
            </a:r>
          </a:p>
          <a:p>
            <a:pPr lvl="3"/>
            <a:r>
              <a:rPr lang="zh-CN" altLang="en-US" dirty="0"/>
              <a:t>试了很多办法，</a:t>
            </a:r>
            <a:r>
              <a:rPr lang="zh-CN" altLang="en-US" b="1" dirty="0"/>
              <a:t>最后尝试把模型保存在</a:t>
            </a:r>
            <a:r>
              <a:rPr lang="en-US" b="1" dirty="0"/>
              <a:t>local NVME</a:t>
            </a:r>
            <a:r>
              <a:rPr lang="zh-CN" altLang="en-US" b="1" dirty="0"/>
              <a:t>来尝试，模型加载速度提升非常非常快</a:t>
            </a:r>
            <a:r>
              <a:rPr lang="zh-CN" altLang="en-US" dirty="0"/>
              <a:t>。</a:t>
            </a:r>
          </a:p>
          <a:p>
            <a:pPr lvl="3"/>
            <a:r>
              <a:rPr lang="en-US" b="1" dirty="0"/>
              <a:t>GitHub issue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https://github.com/</a:t>
            </a:r>
            <a:r>
              <a:rPr lang="en-US" dirty="0" err="1">
                <a:hlinkClick r:id="rId3"/>
              </a:rPr>
              <a:t>sgl</a:t>
            </a:r>
            <a:r>
              <a:rPr lang="en-US" dirty="0">
                <a:hlinkClick r:id="rId3"/>
              </a:rPr>
              <a:t>-project/</a:t>
            </a:r>
            <a:r>
              <a:rPr lang="en-US" dirty="0" err="1">
                <a:hlinkClick r:id="rId3"/>
              </a:rPr>
              <a:t>sglang</a:t>
            </a:r>
            <a:r>
              <a:rPr lang="en-US" dirty="0">
                <a:hlinkClick r:id="rId3"/>
              </a:rPr>
              <a:t>/issues/17970（</a:t>
            </a:r>
            <a:r>
              <a:rPr lang="zh-CN" altLang="en-US" dirty="0">
                <a:hlinkClick r:id="rId3"/>
              </a:rPr>
              <a:t>针对</a:t>
            </a:r>
            <a:r>
              <a:rPr lang="zh-CN" altLang="en-US" dirty="0"/>
              <a:t> </a:t>
            </a:r>
            <a:r>
              <a:rPr lang="en-US" dirty="0"/>
              <a:t>Kimi-K2.5）</a:t>
            </a:r>
            <a:r>
              <a:rPr lang="zh-CN" altLang="en-US" dirty="0"/>
              <a:t>指出：进度条 </a:t>
            </a:r>
            <a:r>
              <a:rPr lang="en-US" altLang="zh-CN" dirty="0"/>
              <a:t>"</a:t>
            </a:r>
            <a:r>
              <a:rPr lang="en-US" dirty="0"/>
              <a:t>Multi-threaded loading of shards: 100%" </a:t>
            </a:r>
            <a:r>
              <a:rPr lang="zh-CN" altLang="en-US" dirty="0"/>
              <a:t>只反映了 </a:t>
            </a:r>
            <a:r>
              <a:rPr lang="en-US" dirty="0" err="1"/>
              <a:t>mmap</a:t>
            </a:r>
            <a:r>
              <a:rPr lang="en-US" dirty="0"/>
              <a:t> </a:t>
            </a:r>
            <a:r>
              <a:rPr lang="zh-CN" altLang="en-US" dirty="0"/>
              <a:t>映射操作，真正的磁盘读取、</a:t>
            </a:r>
            <a:r>
              <a:rPr lang="en-US" dirty="0"/>
              <a:t>tensor </a:t>
            </a:r>
            <a:r>
              <a:rPr lang="zh-CN" altLang="en-US" dirty="0"/>
              <a:t>映射、</a:t>
            </a:r>
            <a:r>
              <a:rPr lang="en-US" dirty="0"/>
              <a:t>CPU→GPU </a:t>
            </a:r>
            <a:r>
              <a:rPr lang="zh-CN" altLang="en-US" dirty="0"/>
              <a:t>拷贝在进度条 </a:t>
            </a:r>
            <a:r>
              <a:rPr lang="en-US" altLang="zh-CN" dirty="0"/>
              <a:t>100% </a:t>
            </a:r>
            <a:r>
              <a:rPr lang="zh-CN" altLang="en-US" dirty="0"/>
              <a:t>之后才开始，中间会有 很长时间的</a:t>
            </a:r>
            <a:r>
              <a:rPr lang="en-US" altLang="zh-CN" dirty="0"/>
              <a:t>"</a:t>
            </a:r>
            <a:r>
              <a:rPr lang="zh-CN" altLang="en-US" dirty="0"/>
              <a:t>假卡住</a:t>
            </a:r>
            <a:r>
              <a:rPr lang="en-US" altLang="zh-CN" dirty="0"/>
              <a:t>"</a:t>
            </a:r>
            <a:r>
              <a:rPr lang="zh-CN" altLang="en-US" dirty="0"/>
              <a:t>。</a:t>
            </a:r>
          </a:p>
          <a:p>
            <a:pPr lvl="3"/>
            <a:r>
              <a:rPr lang="en-US" dirty="0"/>
              <a:t>Tips：</a:t>
            </a:r>
          </a:p>
          <a:p>
            <a:pPr lvl="4"/>
            <a:r>
              <a:rPr lang="zh-CN" altLang="en-US" b="1" dirty="0">
                <a:solidFill>
                  <a:srgbClr val="FF0000"/>
                </a:solidFill>
              </a:rPr>
              <a:t>对于参数量比较大的模型，建议在</a:t>
            </a:r>
            <a:r>
              <a:rPr lang="en-US" b="1" dirty="0">
                <a:solidFill>
                  <a:srgbClr val="FF0000"/>
                </a:solidFill>
              </a:rPr>
              <a:t>serving</a:t>
            </a:r>
            <a:r>
              <a:rPr lang="zh-CN" altLang="en-US" b="1" dirty="0">
                <a:solidFill>
                  <a:srgbClr val="FF0000"/>
                </a:solidFill>
              </a:rPr>
              <a:t>框架启动前，把模型从某个共享的文件系统或者对象存储系统下载到</a:t>
            </a:r>
            <a:r>
              <a:rPr lang="en-US" b="1" dirty="0">
                <a:solidFill>
                  <a:srgbClr val="FF0000"/>
                </a:solidFill>
              </a:rPr>
              <a:t>GPU</a:t>
            </a:r>
            <a:r>
              <a:rPr lang="zh-CN" altLang="en-US" b="1" dirty="0">
                <a:solidFill>
                  <a:srgbClr val="FF0000"/>
                </a:solidFill>
              </a:rPr>
              <a:t>实例的</a:t>
            </a:r>
            <a:r>
              <a:rPr lang="en-US" b="1" dirty="0">
                <a:solidFill>
                  <a:srgbClr val="FF0000"/>
                </a:solidFill>
              </a:rPr>
              <a:t>local </a:t>
            </a:r>
            <a:r>
              <a:rPr lang="en-US" b="1" dirty="0" err="1">
                <a:solidFill>
                  <a:srgbClr val="FF0000"/>
                </a:solidFill>
              </a:rPr>
              <a:t>Nvme</a:t>
            </a:r>
            <a:r>
              <a:rPr lang="zh-CN" altLang="en-US" b="1" dirty="0">
                <a:solidFill>
                  <a:srgbClr val="FF0000"/>
                </a:solidFill>
              </a:rPr>
              <a:t>硬盘</a:t>
            </a:r>
            <a:r>
              <a:rPr lang="zh-CN" altLang="en-US" dirty="0"/>
              <a:t>。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22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1B4D7B-7257-CB7C-FF0A-972CB46EF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Continue….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48D4B5-46A6-C814-538D-F42EEF142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5234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b="1" dirty="0"/>
              <a:t>EP </a:t>
            </a:r>
            <a:r>
              <a:rPr lang="zh-CN" altLang="en-US" b="1" dirty="0"/>
              <a:t>的使用</a:t>
            </a:r>
            <a:r>
              <a:rPr lang="zh-CN" altLang="en-US" dirty="0"/>
              <a:t>：</a:t>
            </a:r>
          </a:p>
          <a:p>
            <a:pPr lvl="1"/>
            <a:r>
              <a:rPr lang="zh-CN" altLang="en-US" dirty="0"/>
              <a:t>网上很多实验都没有设定</a:t>
            </a:r>
            <a:r>
              <a:rPr lang="en-US" altLang="zh-CN" dirty="0"/>
              <a:t>EP size</a:t>
            </a:r>
            <a:r>
              <a:rPr lang="zh-CN" altLang="en-US" dirty="0"/>
              <a:t>。</a:t>
            </a:r>
          </a:p>
          <a:p>
            <a:pPr lvl="2"/>
            <a:r>
              <a:rPr lang="zh-CN" altLang="en-US" dirty="0"/>
              <a:t>针对</a:t>
            </a:r>
            <a:r>
              <a:rPr lang="en-US" altLang="zh-CN" dirty="0"/>
              <a:t>2</a:t>
            </a:r>
            <a:r>
              <a:rPr lang="zh-CN" altLang="en-US" dirty="0"/>
              <a:t>节点部署</a:t>
            </a:r>
            <a:r>
              <a:rPr lang="en-US" altLang="zh-CN" dirty="0"/>
              <a:t>DeepSeek-v3</a:t>
            </a:r>
            <a:r>
              <a:rPr lang="zh-CN" altLang="en-US" dirty="0"/>
              <a:t>，我对比过纯</a:t>
            </a:r>
            <a:r>
              <a:rPr lang="en-US" altLang="zh-CN" dirty="0"/>
              <a:t>TP16</a:t>
            </a:r>
            <a:r>
              <a:rPr lang="zh-CN" altLang="en-US" dirty="0"/>
              <a:t>（不设定</a:t>
            </a:r>
            <a:r>
              <a:rPr lang="en-US" altLang="zh-CN" dirty="0"/>
              <a:t>EP</a:t>
            </a:r>
            <a:r>
              <a:rPr lang="zh-CN" altLang="en-US" dirty="0"/>
              <a:t>）和</a:t>
            </a:r>
            <a:r>
              <a:rPr lang="en-US" altLang="zh-CN" dirty="0"/>
              <a:t>TP16 + EP8</a:t>
            </a:r>
            <a:r>
              <a:rPr lang="zh-CN" altLang="en-US" dirty="0"/>
              <a:t>，</a:t>
            </a:r>
            <a:r>
              <a:rPr lang="en-US" altLang="zh-CN" dirty="0"/>
              <a:t>TP16 + EP16</a:t>
            </a:r>
            <a:r>
              <a:rPr lang="zh-CN" altLang="en-US" dirty="0"/>
              <a:t>的情况。在我测试的场景下，</a:t>
            </a:r>
            <a:r>
              <a:rPr lang="en-US" altLang="zh-CN" dirty="0"/>
              <a:t>EP 1 TP16</a:t>
            </a:r>
            <a:r>
              <a:rPr lang="zh-CN" altLang="en-US" dirty="0"/>
              <a:t>的性能最差；而且并发高了，</a:t>
            </a:r>
            <a:r>
              <a:rPr lang="en-US" altLang="zh-CN" dirty="0"/>
              <a:t>EP 1 TP 16</a:t>
            </a:r>
            <a:r>
              <a:rPr lang="zh-CN" altLang="en-US" dirty="0"/>
              <a:t>的部署方案容易</a:t>
            </a:r>
            <a:r>
              <a:rPr lang="en-US" altLang="zh-CN" dirty="0"/>
              <a:t>OOM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3"/>
            <a:endParaRPr lang="en-US" altLang="zh-CN" dirty="0"/>
          </a:p>
          <a:p>
            <a:pPr lvl="3"/>
            <a:r>
              <a:rPr lang="zh-CN" altLang="en-US" dirty="0"/>
              <a:t>不设 </a:t>
            </a:r>
            <a:r>
              <a:rPr lang="en-US" dirty="0"/>
              <a:t>EP </a:t>
            </a:r>
            <a:r>
              <a:rPr lang="zh-CN" altLang="en-US" dirty="0"/>
              <a:t>时（</a:t>
            </a:r>
            <a:r>
              <a:rPr lang="en-US" dirty="0"/>
              <a:t>EP=1），</a:t>
            </a:r>
            <a:r>
              <a:rPr lang="zh-CN" altLang="en-US" dirty="0"/>
              <a:t>每个 </a:t>
            </a:r>
            <a:r>
              <a:rPr lang="en-US" dirty="0"/>
              <a:t>GPU </a:t>
            </a:r>
            <a:r>
              <a:rPr lang="zh-CN" altLang="en-US" dirty="0"/>
              <a:t>存全部 </a:t>
            </a:r>
            <a:r>
              <a:rPr lang="en-US" dirty="0"/>
              <a:t>Deepseek-V3</a:t>
            </a:r>
            <a:r>
              <a:rPr lang="zh-CN" altLang="en-US" dirty="0"/>
              <a:t>模型的</a:t>
            </a:r>
            <a:r>
              <a:rPr lang="en-US" altLang="zh-CN" dirty="0"/>
              <a:t>256 </a:t>
            </a:r>
            <a:r>
              <a:rPr lang="zh-CN" altLang="en-US" dirty="0"/>
              <a:t>个专家的 </a:t>
            </a:r>
            <a:r>
              <a:rPr lang="en-US" dirty="0"/>
              <a:t>TP </a:t>
            </a:r>
            <a:r>
              <a:rPr lang="zh-CN" altLang="en-US" dirty="0"/>
              <a:t>切片，导致显存占用 </a:t>
            </a:r>
            <a:r>
              <a:rPr lang="en-US" altLang="zh-CN" dirty="0"/>
              <a:t>118.5</a:t>
            </a:r>
            <a:r>
              <a:rPr lang="en-US" dirty="0"/>
              <a:t>GB/</a:t>
            </a:r>
            <a:r>
              <a:rPr lang="en-US" dirty="0" err="1"/>
              <a:t>GPU（vs</a:t>
            </a:r>
            <a:r>
              <a:rPr lang="en-US" dirty="0"/>
              <a:t> EP=8 </a:t>
            </a:r>
            <a:r>
              <a:rPr lang="zh-CN" altLang="en-US" dirty="0"/>
              <a:t>的 </a:t>
            </a:r>
            <a:r>
              <a:rPr lang="en-US" altLang="zh-CN" dirty="0"/>
              <a:t>44</a:t>
            </a:r>
            <a:r>
              <a:rPr lang="en-US" dirty="0"/>
              <a:t>GB），rate&gt;=8 </a:t>
            </a:r>
            <a:r>
              <a:rPr lang="zh-CN" altLang="en-US" dirty="0"/>
              <a:t>发生</a:t>
            </a:r>
            <a:r>
              <a:rPr lang="en-US" dirty="0"/>
              <a:t>OOM。</a:t>
            </a:r>
            <a:r>
              <a:rPr lang="zh-CN" altLang="en-US" dirty="0"/>
              <a:t>即使低并发下 </a:t>
            </a:r>
            <a:r>
              <a:rPr lang="en-US" dirty="0"/>
              <a:t>TPOT </a:t>
            </a:r>
            <a:r>
              <a:rPr lang="zh-CN" altLang="en-US" dirty="0"/>
              <a:t>也慢 </a:t>
            </a:r>
            <a:r>
              <a:rPr lang="en-US" altLang="zh-CN" dirty="0"/>
              <a:t>12-17%</a:t>
            </a:r>
            <a:r>
              <a:rPr lang="zh-CN" altLang="en-US" dirty="0"/>
              <a:t>。</a:t>
            </a:r>
            <a:r>
              <a:rPr lang="en-US" dirty="0"/>
              <a:t>EP=8 </a:t>
            </a:r>
            <a:r>
              <a:rPr lang="zh-CN" altLang="en-US" dirty="0"/>
              <a:t>在所有维度上都由于</a:t>
            </a:r>
            <a:r>
              <a:rPr lang="en-US" dirty="0"/>
              <a:t>EP1。</a:t>
            </a:r>
          </a:p>
          <a:p>
            <a:pPr lvl="2"/>
            <a:r>
              <a:rPr lang="zh-CN" altLang="en-US" dirty="0"/>
              <a:t>但是对于单节点部署的</a:t>
            </a:r>
            <a:r>
              <a:rPr lang="en-US" dirty="0"/>
              <a:t>Kimi2.5，</a:t>
            </a:r>
            <a:r>
              <a:rPr lang="zh-CN" altLang="en-US" dirty="0"/>
              <a:t>使用</a:t>
            </a:r>
            <a:r>
              <a:rPr lang="en-US" dirty="0"/>
              <a:t>EP 1 TP 8</a:t>
            </a:r>
            <a:r>
              <a:rPr lang="zh-CN" altLang="en-US" dirty="0"/>
              <a:t>部署方案的性能比</a:t>
            </a:r>
            <a:r>
              <a:rPr lang="en-US" dirty="0"/>
              <a:t>EP 8 TP 8，</a:t>
            </a:r>
            <a:r>
              <a:rPr lang="zh-CN" altLang="en-US" dirty="0"/>
              <a:t>以及</a:t>
            </a:r>
            <a:r>
              <a:rPr lang="en-US" dirty="0"/>
              <a:t>EP 8 TP 8 DP8(enable DP </a:t>
            </a:r>
            <a:r>
              <a:rPr lang="en-US" dirty="0" err="1"/>
              <a:t>attentioin</a:t>
            </a:r>
            <a:r>
              <a:rPr lang="en-US" dirty="0"/>
              <a:t>) </a:t>
            </a:r>
            <a:r>
              <a:rPr lang="zh-CN" altLang="en-US" dirty="0"/>
              <a:t>的性能都好。</a:t>
            </a:r>
            <a:endParaRPr lang="en-US" altLang="zh-CN" dirty="0"/>
          </a:p>
          <a:p>
            <a:pPr lvl="1"/>
            <a:r>
              <a:rPr lang="en-US" b="1" dirty="0"/>
              <a:t>Tips: EP</a:t>
            </a:r>
            <a:r>
              <a:rPr lang="zh-CN" altLang="en-US" b="1" dirty="0"/>
              <a:t>是否设定，如何设定，还是要</a:t>
            </a:r>
            <a:r>
              <a:rPr lang="en-US" b="1" dirty="0"/>
              <a:t>case by case</a:t>
            </a:r>
            <a:r>
              <a:rPr lang="zh-CN" altLang="en-US" b="1" dirty="0"/>
              <a:t>来看的</a:t>
            </a:r>
            <a:r>
              <a:rPr lang="zh-CN" altLang="en-US" dirty="0"/>
              <a:t>。</a:t>
            </a:r>
            <a:endParaRPr lang="en-US" altLang="zh-CN" dirty="0"/>
          </a:p>
          <a:p>
            <a:pPr marL="1371600" lvl="3" indent="0">
              <a:buNone/>
            </a:pPr>
            <a:endParaRPr lang="zh-CN" altLang="en-US" dirty="0"/>
          </a:p>
          <a:p>
            <a:pPr lvl="2"/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F2826A-56BE-FD1F-B83B-C6CED9559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045" y="3278784"/>
            <a:ext cx="8496637" cy="169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1643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3A9B2-AC2E-231B-4BFC-40CAF117E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实践</a:t>
            </a:r>
            <a:r>
              <a:rPr lang="en-US" dirty="0"/>
              <a:t>lesson learn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626912-05B8-B297-2D55-CD8756823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Claude code</a:t>
            </a:r>
            <a:r>
              <a:rPr lang="zh-CN" altLang="en-US" dirty="0"/>
              <a:t>完全可以作为</a:t>
            </a:r>
            <a:r>
              <a:rPr lang="en-US" dirty="0"/>
              <a:t>GPU Infra</a:t>
            </a:r>
            <a:r>
              <a:rPr lang="zh-CN" altLang="en-US" dirty="0"/>
              <a:t>环境搭建和测试的提速工具。</a:t>
            </a:r>
          </a:p>
          <a:p>
            <a:pPr lvl="1"/>
            <a:r>
              <a:rPr lang="zh-CN" altLang="en-US" dirty="0"/>
              <a:t>我不止是测试了使用</a:t>
            </a:r>
            <a:r>
              <a:rPr lang="en-US" dirty="0" err="1"/>
              <a:t>claude</a:t>
            </a:r>
            <a:r>
              <a:rPr lang="en-US" dirty="0"/>
              <a:t> code</a:t>
            </a:r>
            <a:r>
              <a:rPr lang="zh-CN" altLang="en-US" dirty="0"/>
              <a:t>来做</a:t>
            </a:r>
            <a:r>
              <a:rPr lang="en-US" dirty="0"/>
              <a:t>GPU inference，</a:t>
            </a:r>
            <a:r>
              <a:rPr lang="zh-CN" altLang="en-US" dirty="0"/>
              <a:t>也测试了使用</a:t>
            </a:r>
            <a:r>
              <a:rPr lang="en-US" dirty="0" err="1"/>
              <a:t>claude</a:t>
            </a:r>
            <a:r>
              <a:rPr lang="en-US" dirty="0"/>
              <a:t> code</a:t>
            </a:r>
            <a:r>
              <a:rPr lang="zh-CN" altLang="en-US" dirty="0"/>
              <a:t>做一些训练任务。</a:t>
            </a:r>
            <a:r>
              <a:rPr lang="en-US" altLang="zh-CN" dirty="0"/>
              <a:t>--- </a:t>
            </a:r>
            <a:r>
              <a:rPr lang="zh-CN" altLang="en-US" b="1" dirty="0"/>
              <a:t>真的能大大提升工作效率</a:t>
            </a:r>
            <a:r>
              <a:rPr lang="zh-CN" altLang="en-US" dirty="0"/>
              <a:t>。</a:t>
            </a:r>
          </a:p>
          <a:p>
            <a:r>
              <a:rPr lang="zh-CN" altLang="en-US" b="1" dirty="0"/>
              <a:t>借助</a:t>
            </a:r>
            <a:r>
              <a:rPr lang="en-US" b="1" dirty="0"/>
              <a:t>Claude code，</a:t>
            </a:r>
            <a:r>
              <a:rPr lang="zh-CN" altLang="en-US" b="1" dirty="0"/>
              <a:t>能大大降级</a:t>
            </a:r>
            <a:r>
              <a:rPr lang="en-US" b="1" dirty="0"/>
              <a:t>GPU infra</a:t>
            </a:r>
            <a:r>
              <a:rPr lang="zh-CN" altLang="en-US" b="1" dirty="0"/>
              <a:t>的准入门槛</a:t>
            </a:r>
            <a:r>
              <a:rPr lang="zh-CN" altLang="en-US" dirty="0"/>
              <a:t>。</a:t>
            </a:r>
          </a:p>
          <a:p>
            <a:pPr lvl="1"/>
            <a:r>
              <a:rPr lang="en-US" dirty="0"/>
              <a:t>Claude code</a:t>
            </a:r>
            <a:r>
              <a:rPr lang="zh-CN" altLang="en-US" dirty="0"/>
              <a:t>对于</a:t>
            </a:r>
            <a:r>
              <a:rPr lang="en-US" dirty="0" err="1"/>
              <a:t>kubectl</a:t>
            </a:r>
            <a:r>
              <a:rPr lang="zh-CN" altLang="en-US" dirty="0"/>
              <a:t>以及</a:t>
            </a:r>
            <a:r>
              <a:rPr lang="en-US" dirty="0" err="1"/>
              <a:t>linux</a:t>
            </a:r>
            <a:r>
              <a:rPr lang="zh-CN" altLang="en-US" dirty="0"/>
              <a:t>相关的</a:t>
            </a:r>
            <a:r>
              <a:rPr lang="en-US" dirty="0"/>
              <a:t>domain knowledge</a:t>
            </a:r>
            <a:r>
              <a:rPr lang="zh-CN" altLang="en-US" dirty="0"/>
              <a:t>非常熟悉，对于我这样不熟悉</a:t>
            </a:r>
            <a:r>
              <a:rPr lang="en-US" dirty="0"/>
              <a:t>K8s</a:t>
            </a:r>
            <a:r>
              <a:rPr lang="zh-CN" altLang="en-US" dirty="0"/>
              <a:t>生态的小白非常友好。</a:t>
            </a:r>
          </a:p>
          <a:p>
            <a:pPr lvl="1"/>
            <a:r>
              <a:rPr lang="zh-CN" altLang="en-US" dirty="0"/>
              <a:t>观察</a:t>
            </a:r>
            <a:r>
              <a:rPr lang="en-US" dirty="0"/>
              <a:t>Claude code</a:t>
            </a:r>
            <a:r>
              <a:rPr lang="zh-CN" altLang="en-US" dirty="0"/>
              <a:t>使用各种工具的过程，本身也是一种学习。</a:t>
            </a:r>
          </a:p>
          <a:p>
            <a:r>
              <a:rPr lang="en-US" dirty="0"/>
              <a:t>Claude code</a:t>
            </a:r>
            <a:r>
              <a:rPr lang="zh-CN" altLang="en-US" dirty="0"/>
              <a:t>针对</a:t>
            </a:r>
            <a:r>
              <a:rPr lang="en-US" dirty="0"/>
              <a:t>GPU infra</a:t>
            </a:r>
            <a:r>
              <a:rPr lang="zh-CN" altLang="en-US" dirty="0"/>
              <a:t>做</a:t>
            </a:r>
            <a:r>
              <a:rPr lang="en-US" dirty="0"/>
              <a:t>inference</a:t>
            </a:r>
            <a:r>
              <a:rPr lang="zh-CN" altLang="en-US" dirty="0"/>
              <a:t>或者</a:t>
            </a:r>
            <a:r>
              <a:rPr lang="en-US" dirty="0"/>
              <a:t>training</a:t>
            </a:r>
            <a:r>
              <a:rPr lang="zh-CN" altLang="en-US" dirty="0"/>
              <a:t>环境部署和测试这样相对复杂的任务，</a:t>
            </a:r>
            <a:r>
              <a:rPr lang="zh-CN" altLang="en-US" b="1" dirty="0"/>
              <a:t>有非常好的规划</a:t>
            </a:r>
            <a:r>
              <a:rPr lang="en-US" altLang="zh-CN" b="1" dirty="0"/>
              <a:t>/</a:t>
            </a:r>
            <a:r>
              <a:rPr lang="en-US" b="1" dirty="0"/>
              <a:t>plan</a:t>
            </a:r>
            <a:r>
              <a:rPr lang="zh-CN" altLang="en-US" b="1" dirty="0"/>
              <a:t>能力</a:t>
            </a:r>
            <a:r>
              <a:rPr lang="zh-CN" altLang="en-US" dirty="0"/>
              <a:t>，和一个对于这个</a:t>
            </a:r>
            <a:r>
              <a:rPr lang="en-US" dirty="0"/>
              <a:t>domain</a:t>
            </a:r>
            <a:r>
              <a:rPr lang="zh-CN" altLang="en-US" dirty="0"/>
              <a:t>比较熟悉的工程师的思路很接近。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6066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A237B0-7202-8626-3AE2-F0F153787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Continue….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2F96EF-BE3A-D44C-DCD4-67BAEE9E4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453"/>
            <a:ext cx="10713440" cy="4300046"/>
          </a:xfrm>
        </p:spPr>
        <p:txBody>
          <a:bodyPr>
            <a:normAutofit/>
          </a:bodyPr>
          <a:lstStyle/>
          <a:p>
            <a:r>
              <a:rPr lang="zh-CN" altLang="en-US" dirty="0"/>
              <a:t>针对这样的复杂任务，</a:t>
            </a:r>
            <a:r>
              <a:rPr lang="zh-CN" altLang="en-US" b="1" dirty="0"/>
              <a:t>是否可以让</a:t>
            </a:r>
            <a:r>
              <a:rPr lang="en-US" altLang="zh-CN" b="1" dirty="0"/>
              <a:t>Claude code “</a:t>
            </a:r>
            <a:r>
              <a:rPr lang="zh-CN" altLang="en-US" b="1" dirty="0">
                <a:solidFill>
                  <a:srgbClr val="FF0000"/>
                </a:solidFill>
              </a:rPr>
              <a:t>无人驾驶” </a:t>
            </a:r>
            <a:r>
              <a:rPr lang="zh-CN" altLang="en-US" dirty="0"/>
              <a:t>（也就是完全放心把任务交给</a:t>
            </a:r>
            <a:r>
              <a:rPr lang="en-US" dirty="0"/>
              <a:t>Claude code</a:t>
            </a:r>
            <a:r>
              <a:rPr lang="zh-CN" altLang="en-US" dirty="0"/>
              <a:t>做，比如使用</a:t>
            </a:r>
            <a:r>
              <a:rPr lang="en-US" dirty="0"/>
              <a:t>bypass permission</a:t>
            </a:r>
            <a:r>
              <a:rPr lang="zh-CN" altLang="en-US" dirty="0"/>
              <a:t>方式省去和人确认的流程）？ </a:t>
            </a:r>
            <a:r>
              <a:rPr lang="en-US" altLang="zh-CN" dirty="0"/>
              <a:t>-------</a:t>
            </a:r>
            <a:r>
              <a:rPr lang="zh-CN" altLang="en-US" b="1" dirty="0">
                <a:solidFill>
                  <a:srgbClr val="FF0000"/>
                </a:solidFill>
              </a:rPr>
              <a:t>不建议</a:t>
            </a:r>
            <a:endParaRPr lang="zh-CN" altLang="en-US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在遇到问题的时候，</a:t>
            </a:r>
            <a:r>
              <a:rPr lang="en-US" altLang="zh-CN" b="1" dirty="0"/>
              <a:t>Claude Code</a:t>
            </a:r>
            <a:r>
              <a:rPr lang="zh-CN" altLang="en-US" b="1" dirty="0"/>
              <a:t>倾向于直接去修改源代码来重新</a:t>
            </a:r>
            <a:r>
              <a:rPr lang="en-US" altLang="zh-CN" b="1" dirty="0"/>
              <a:t>build</a:t>
            </a:r>
            <a:r>
              <a:rPr lang="zh-CN" altLang="en-US" dirty="0"/>
              <a:t>，然后再次尝试去解决问题。</a:t>
            </a:r>
            <a:endParaRPr lang="en-US" altLang="zh-CN" dirty="0"/>
          </a:p>
          <a:p>
            <a:pPr lvl="2"/>
            <a:r>
              <a:rPr lang="en-US" altLang="zh-CN" b="1" dirty="0"/>
              <a:t>Base case</a:t>
            </a:r>
            <a:r>
              <a:rPr lang="zh-CN" altLang="en-US" dirty="0"/>
              <a:t>：</a:t>
            </a:r>
          </a:p>
          <a:p>
            <a:pPr lvl="3"/>
            <a:r>
              <a:rPr lang="zh-CN" altLang="en-US" dirty="0"/>
              <a:t>之前在测试中遇到</a:t>
            </a:r>
            <a:r>
              <a:rPr lang="en-US" altLang="zh-CN" dirty="0" err="1"/>
              <a:t>DeepGemm</a:t>
            </a:r>
            <a:r>
              <a:rPr lang="en-US" altLang="zh-CN" dirty="0"/>
              <a:t> JIT</a:t>
            </a:r>
            <a:r>
              <a:rPr lang="zh-CN" altLang="en-US" dirty="0"/>
              <a:t>编译总是出问题，</a:t>
            </a:r>
            <a:r>
              <a:rPr lang="en-US" altLang="zh-CN" dirty="0"/>
              <a:t>Claude code</a:t>
            </a:r>
            <a:r>
              <a:rPr lang="zh-CN" altLang="en-US" dirty="0"/>
              <a:t>尝试了几个办法（包括修改源代码）。在他发现几次尝试也解决不了该问题后，就认为和</a:t>
            </a:r>
            <a:r>
              <a:rPr lang="en-US" altLang="zh-CN" dirty="0"/>
              <a:t>Cuda Graph</a:t>
            </a:r>
            <a:r>
              <a:rPr lang="zh-CN" altLang="en-US" dirty="0"/>
              <a:t>有关，就建议</a:t>
            </a:r>
            <a:r>
              <a:rPr lang="en-US" altLang="zh-CN" dirty="0"/>
              <a:t>disable </a:t>
            </a:r>
            <a:r>
              <a:rPr lang="en-US" altLang="zh-CN" dirty="0" err="1"/>
              <a:t>cuda</a:t>
            </a:r>
            <a:r>
              <a:rPr lang="en-US" altLang="zh-CN" dirty="0"/>
              <a:t> graph</a:t>
            </a:r>
            <a:r>
              <a:rPr lang="zh-CN" altLang="en-US" dirty="0"/>
              <a:t>。</a:t>
            </a:r>
            <a:r>
              <a:rPr lang="zh-CN" altLang="en-US" b="1" dirty="0"/>
              <a:t>但是本质上</a:t>
            </a:r>
            <a:r>
              <a:rPr lang="en-US" altLang="zh-CN" b="1" dirty="0" err="1"/>
              <a:t>DeepGemm</a:t>
            </a:r>
            <a:r>
              <a:rPr lang="zh-CN" altLang="en-US" b="1" dirty="0"/>
              <a:t>编译和</a:t>
            </a:r>
            <a:r>
              <a:rPr lang="en-US" altLang="zh-CN" b="1" dirty="0" err="1"/>
              <a:t>cuda</a:t>
            </a:r>
            <a:r>
              <a:rPr lang="en-US" altLang="zh-CN" b="1" dirty="0"/>
              <a:t> graph</a:t>
            </a:r>
            <a:r>
              <a:rPr lang="zh-CN" altLang="en-US" b="1" dirty="0"/>
              <a:t>并不是一回事</a:t>
            </a:r>
            <a:r>
              <a:rPr lang="zh-CN" altLang="en-US" dirty="0"/>
              <a:t>。</a:t>
            </a:r>
          </a:p>
          <a:p>
            <a:pPr lvl="4"/>
            <a:r>
              <a:rPr lang="zh-CN" altLang="en-US" dirty="0"/>
              <a:t>更好的做法是及时打断</a:t>
            </a:r>
            <a:r>
              <a:rPr lang="en-US" altLang="zh-CN" dirty="0"/>
              <a:t>Claude code</a:t>
            </a:r>
            <a:r>
              <a:rPr lang="zh-CN" altLang="en-US" dirty="0"/>
              <a:t>的动作，然后主动引导它去尝试别的途径。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650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BC0DAA-9D79-BA03-82DE-B38E37ACE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089BE5-8595-5664-446A-096B2B8C1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zh-CN" dirty="0"/>
              <a:t>Claude code</a:t>
            </a:r>
            <a:r>
              <a:rPr lang="zh-CN" altLang="en-US" dirty="0"/>
              <a:t>会非常有自己的主意，所以它</a:t>
            </a:r>
            <a:r>
              <a:rPr lang="zh-CN" altLang="en-US" b="1" dirty="0"/>
              <a:t>有时候就比较激进的做错误的事情</a:t>
            </a:r>
            <a:r>
              <a:rPr lang="zh-CN" altLang="en-US" dirty="0"/>
              <a:t>。</a:t>
            </a:r>
          </a:p>
          <a:p>
            <a:pPr lvl="2"/>
            <a:r>
              <a:rPr lang="en-US" altLang="zh-CN" b="1" dirty="0"/>
              <a:t>base case</a:t>
            </a:r>
            <a:r>
              <a:rPr lang="zh-CN" altLang="en-US" dirty="0"/>
              <a:t>：</a:t>
            </a:r>
          </a:p>
          <a:p>
            <a:pPr lvl="3"/>
            <a:r>
              <a:rPr lang="zh-CN" altLang="en-US" dirty="0"/>
              <a:t>比如在</a:t>
            </a:r>
            <a:r>
              <a:rPr lang="en-US" altLang="zh-CN" dirty="0"/>
              <a:t>inference benchmark</a:t>
            </a:r>
            <a:r>
              <a:rPr lang="zh-CN" altLang="en-US" dirty="0"/>
              <a:t>过程中，</a:t>
            </a:r>
            <a:r>
              <a:rPr lang="en-US" altLang="zh-CN" dirty="0" err="1"/>
              <a:t>sglang</a:t>
            </a:r>
            <a:r>
              <a:rPr lang="zh-CN" altLang="en-US" dirty="0"/>
              <a:t>的</a:t>
            </a:r>
            <a:r>
              <a:rPr lang="en-US" altLang="zh-CN" dirty="0" err="1"/>
              <a:t>deepgemm</a:t>
            </a:r>
            <a:r>
              <a:rPr lang="en-US" altLang="zh-CN" dirty="0"/>
              <a:t> warmup</a:t>
            </a:r>
            <a:r>
              <a:rPr lang="zh-CN" altLang="en-US" dirty="0"/>
              <a:t>可能需要比较长时间，在这个时间没有什么日志输出。</a:t>
            </a:r>
            <a:r>
              <a:rPr lang="en-US" altLang="zh-CN" dirty="0"/>
              <a:t>Claude code</a:t>
            </a:r>
            <a:r>
              <a:rPr lang="zh-CN" altLang="en-US" dirty="0"/>
              <a:t>会快速做一些检查以后就把当前</a:t>
            </a:r>
            <a:r>
              <a:rPr lang="en-US" altLang="zh-CN" dirty="0" err="1"/>
              <a:t>sglang</a:t>
            </a:r>
            <a:r>
              <a:rPr lang="en-US" altLang="zh-CN" dirty="0"/>
              <a:t> server</a:t>
            </a:r>
            <a:r>
              <a:rPr lang="zh-CN" altLang="en-US" dirty="0"/>
              <a:t>给干掉了，其实不应该干掉。</a:t>
            </a:r>
          </a:p>
          <a:p>
            <a:pPr lvl="3"/>
            <a:r>
              <a:rPr lang="zh-CN" altLang="en-US" dirty="0"/>
              <a:t>比如在做</a:t>
            </a:r>
            <a:r>
              <a:rPr lang="en-US" altLang="zh-CN" dirty="0"/>
              <a:t>benchmark</a:t>
            </a:r>
            <a:r>
              <a:rPr lang="zh-CN" altLang="en-US" dirty="0"/>
              <a:t>并发测试的时候，</a:t>
            </a:r>
            <a:r>
              <a:rPr lang="en-US" altLang="zh-CN" dirty="0" err="1"/>
              <a:t>claude</a:t>
            </a:r>
            <a:r>
              <a:rPr lang="en-US" altLang="zh-CN" dirty="0"/>
              <a:t> code</a:t>
            </a:r>
            <a:r>
              <a:rPr lang="zh-CN" altLang="en-US" dirty="0"/>
              <a:t>有时候竟然把两个不同并发测试的程序同时跑。那更合理的肯定是一个并发</a:t>
            </a:r>
            <a:r>
              <a:rPr lang="en-US" altLang="zh-CN" dirty="0"/>
              <a:t>rate 1</a:t>
            </a:r>
            <a:r>
              <a:rPr lang="zh-CN" altLang="en-US" dirty="0"/>
              <a:t>测试完，再测试下一个</a:t>
            </a:r>
            <a:r>
              <a:rPr lang="en-US" altLang="zh-CN" dirty="0"/>
              <a:t>rate 2</a:t>
            </a:r>
            <a:r>
              <a:rPr lang="zh-CN" altLang="en-US" dirty="0"/>
              <a:t>的。否则测试结果也不可信。这个道理</a:t>
            </a:r>
            <a:r>
              <a:rPr lang="en-US" altLang="zh-CN" dirty="0"/>
              <a:t>Claude code</a:t>
            </a:r>
            <a:r>
              <a:rPr lang="zh-CN" altLang="en-US" dirty="0"/>
              <a:t>竟然不知道。</a:t>
            </a:r>
          </a:p>
          <a:p>
            <a:pPr lvl="2"/>
            <a:r>
              <a:rPr lang="zh-CN" altLang="en-US" b="1" dirty="0"/>
              <a:t>我更喜欢盯着他干活，一边看他如何思考，一边一旦发现它的动作不符合我的认知，我马上打断他的动作然后再引导他</a:t>
            </a:r>
            <a:r>
              <a:rPr lang="zh-CN" altLang="en-US" dirty="0"/>
              <a:t>。</a:t>
            </a:r>
          </a:p>
          <a:p>
            <a:pPr lvl="3"/>
            <a:r>
              <a:rPr lang="zh-CN" altLang="en-US" dirty="0"/>
              <a:t>如果一个知识点涉及很多的其他相关知识，那么</a:t>
            </a:r>
            <a:r>
              <a:rPr lang="en-US" altLang="zh-CN" dirty="0"/>
              <a:t>Claude code</a:t>
            </a:r>
            <a:r>
              <a:rPr lang="zh-CN" altLang="en-US" dirty="0"/>
              <a:t>可能</a:t>
            </a:r>
            <a:r>
              <a:rPr lang="zh-CN" altLang="en-US" b="1" dirty="0"/>
              <a:t>目前</a:t>
            </a:r>
            <a:r>
              <a:rPr lang="zh-CN" altLang="en-US" dirty="0"/>
              <a:t>对这个知识点的认知不如一个对这个</a:t>
            </a:r>
            <a:r>
              <a:rPr lang="en-US" altLang="zh-CN" dirty="0"/>
              <a:t>domain</a:t>
            </a:r>
            <a:r>
              <a:rPr lang="zh-CN" altLang="en-US" dirty="0"/>
              <a:t>熟悉的人。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0589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254B56-F036-7976-4CC9-8917F8A3E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Continue….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0CB734-332F-5AFE-FA6A-F20030EAD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zh-CN" altLang="en-US" b="1" dirty="0"/>
              <a:t>如何确认</a:t>
            </a:r>
            <a:r>
              <a:rPr lang="en-US" altLang="zh-CN" b="1" dirty="0"/>
              <a:t>/</a:t>
            </a:r>
            <a:r>
              <a:rPr lang="zh-CN" altLang="en-US" b="1" dirty="0"/>
              <a:t>评估当前实验是做了正确</a:t>
            </a:r>
            <a:r>
              <a:rPr lang="en-US" altLang="zh-CN" b="1" dirty="0"/>
              <a:t>/</a:t>
            </a:r>
            <a:r>
              <a:rPr lang="zh-CN" altLang="en-US" b="1" dirty="0"/>
              <a:t>期望中的事情（</a:t>
            </a:r>
            <a:r>
              <a:rPr lang="zh-CN" altLang="en-US" b="1" dirty="0">
                <a:solidFill>
                  <a:srgbClr val="FF0000"/>
                </a:solidFill>
              </a:rPr>
              <a:t>要有证据</a:t>
            </a:r>
            <a:r>
              <a:rPr lang="zh-CN" altLang="en-US" b="1" dirty="0"/>
              <a:t>）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b="1" dirty="0"/>
              <a:t>每个</a:t>
            </a:r>
            <a:r>
              <a:rPr lang="en-US" b="1" dirty="0"/>
              <a:t>Claude code</a:t>
            </a:r>
            <a:r>
              <a:rPr lang="zh-CN" altLang="en-US" b="1" dirty="0"/>
              <a:t>执行命令</a:t>
            </a:r>
            <a:r>
              <a:rPr lang="en-US" altLang="zh-CN" b="1" dirty="0"/>
              <a:t>/</a:t>
            </a:r>
            <a:r>
              <a:rPr lang="zh-CN" altLang="en-US" b="1" dirty="0"/>
              <a:t>脚本的过程都要有日志</a:t>
            </a:r>
            <a:r>
              <a:rPr lang="zh-CN" altLang="en-US" dirty="0"/>
              <a:t>，人可以及时查看这些日志。通过</a:t>
            </a:r>
            <a:r>
              <a:rPr lang="en-US" dirty="0"/>
              <a:t>review</a:t>
            </a:r>
            <a:r>
              <a:rPr lang="zh-CN" altLang="en-US" dirty="0"/>
              <a:t>日志，如果发生问题，请及时打断</a:t>
            </a:r>
            <a:r>
              <a:rPr lang="en-US" dirty="0"/>
              <a:t>Claude code</a:t>
            </a:r>
            <a:r>
              <a:rPr lang="zh-CN" altLang="en-US" dirty="0"/>
              <a:t>的执行并引导他做下一步的</a:t>
            </a:r>
            <a:r>
              <a:rPr lang="en-US" dirty="0"/>
              <a:t>action。</a:t>
            </a:r>
          </a:p>
          <a:p>
            <a:pPr lvl="2"/>
            <a:r>
              <a:rPr lang="en-US" b="1" dirty="0"/>
              <a:t>bad case</a:t>
            </a:r>
            <a:r>
              <a:rPr lang="en-US" dirty="0"/>
              <a:t>：</a:t>
            </a:r>
          </a:p>
          <a:p>
            <a:pPr lvl="3"/>
            <a:r>
              <a:rPr lang="zh-CN" altLang="en-US" dirty="0"/>
              <a:t>我在测试过程中，通过详细的阅读日志，发现在</a:t>
            </a:r>
            <a:r>
              <a:rPr lang="en-US" dirty="0"/>
              <a:t>PD</a:t>
            </a:r>
            <a:r>
              <a:rPr lang="zh-CN" altLang="en-US" dirty="0"/>
              <a:t>分离测试</a:t>
            </a:r>
            <a:r>
              <a:rPr lang="en-US" dirty="0"/>
              <a:t>NIXL</a:t>
            </a:r>
            <a:r>
              <a:rPr lang="zh-CN" altLang="en-US" dirty="0"/>
              <a:t>的</a:t>
            </a:r>
            <a:r>
              <a:rPr lang="en-US" dirty="0" err="1"/>
              <a:t>libfabric</a:t>
            </a:r>
            <a:r>
              <a:rPr lang="zh-CN" altLang="en-US" dirty="0"/>
              <a:t>方案的时候，尽管我的环境变量设定了使用</a:t>
            </a:r>
            <a:r>
              <a:rPr lang="en-US" dirty="0" err="1"/>
              <a:t>Libfabric</a:t>
            </a:r>
            <a:r>
              <a:rPr lang="en-US" dirty="0"/>
              <a:t> backend。</a:t>
            </a:r>
            <a:r>
              <a:rPr lang="zh-CN" altLang="en-US" dirty="0"/>
              <a:t>但是</a:t>
            </a:r>
            <a:r>
              <a:rPr lang="en-US" dirty="0" err="1"/>
              <a:t>sglang</a:t>
            </a:r>
            <a:r>
              <a:rPr lang="en-US" dirty="0"/>
              <a:t> 0.5.8</a:t>
            </a:r>
            <a:r>
              <a:rPr lang="zh-CN" altLang="en-US" dirty="0"/>
              <a:t>静默选择了</a:t>
            </a:r>
            <a:r>
              <a:rPr lang="en-US" dirty="0"/>
              <a:t>UCX backend（</a:t>
            </a:r>
            <a:r>
              <a:rPr lang="zh-CN" altLang="en-US" dirty="0"/>
              <a:t>在测试</a:t>
            </a:r>
            <a:r>
              <a:rPr lang="en-US" dirty="0"/>
              <a:t>prompt</a:t>
            </a:r>
            <a:r>
              <a:rPr lang="zh-CN" altLang="en-US" dirty="0"/>
              <a:t>的时候，会有“</a:t>
            </a:r>
            <a:r>
              <a:rPr lang="en-US" b="1" dirty="0"/>
              <a:t>Selected backend: UCX</a:t>
            </a:r>
            <a:r>
              <a:rPr lang="en-US" dirty="0"/>
              <a:t>”</a:t>
            </a:r>
            <a:r>
              <a:rPr lang="zh-CN" altLang="en-US" dirty="0"/>
              <a:t>这样的日志）。</a:t>
            </a:r>
          </a:p>
          <a:p>
            <a:pPr lvl="4"/>
            <a:r>
              <a:rPr lang="zh-CN" altLang="en-US" dirty="0"/>
              <a:t>整个过程</a:t>
            </a:r>
            <a:r>
              <a:rPr lang="en-US" dirty="0"/>
              <a:t>Claude code</a:t>
            </a:r>
            <a:r>
              <a:rPr lang="zh-CN" altLang="en-US" dirty="0"/>
              <a:t>并没有发现（</a:t>
            </a:r>
            <a:r>
              <a:rPr lang="zh-CN" altLang="en-US" b="1" dirty="0"/>
              <a:t>我觉得这个它也不可能发现</a:t>
            </a:r>
            <a:r>
              <a:rPr lang="zh-CN" altLang="en-US" dirty="0"/>
              <a:t>）。但是让</a:t>
            </a:r>
            <a:r>
              <a:rPr lang="en-US" dirty="0"/>
              <a:t>Claude code</a:t>
            </a:r>
            <a:r>
              <a:rPr lang="zh-CN" altLang="en-US" dirty="0"/>
              <a:t>去修改这个问题，它能很快的找到源代码来</a:t>
            </a:r>
            <a:r>
              <a:rPr lang="en-US" dirty="0"/>
              <a:t>fix（</a:t>
            </a:r>
            <a:r>
              <a:rPr lang="zh-CN" altLang="en-US" dirty="0"/>
              <a:t>代码的</a:t>
            </a:r>
            <a:r>
              <a:rPr lang="en-US" dirty="0"/>
              <a:t>fix</a:t>
            </a:r>
            <a:r>
              <a:rPr lang="zh-CN" altLang="en-US" dirty="0"/>
              <a:t>已经包括在我创建的</a:t>
            </a:r>
            <a:r>
              <a:rPr lang="en-US" dirty="0"/>
              <a:t>Skill</a:t>
            </a:r>
            <a:r>
              <a:rPr lang="zh-CN" altLang="en-US" dirty="0"/>
              <a:t>中相关的文件中了）。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4934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BB06FA-F18B-8E72-9B54-BCEB5E637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ontinue….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6E5862-7551-E93D-A18D-841BDC390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r>
              <a:rPr lang="en-US" b="1" dirty="0"/>
              <a:t>good case</a:t>
            </a:r>
            <a:r>
              <a:rPr lang="en-US" dirty="0"/>
              <a:t>：</a:t>
            </a:r>
          </a:p>
          <a:p>
            <a:pPr lvl="3"/>
            <a:r>
              <a:rPr lang="zh-CN" altLang="en-US" dirty="0"/>
              <a:t>让</a:t>
            </a:r>
            <a:r>
              <a:rPr lang="en-US" dirty="0"/>
              <a:t>Claude code</a:t>
            </a:r>
            <a:r>
              <a:rPr lang="zh-CN" altLang="en-US" dirty="0"/>
              <a:t>来给出</a:t>
            </a:r>
            <a:r>
              <a:rPr lang="en-US" dirty="0"/>
              <a:t>PD</a:t>
            </a:r>
            <a:r>
              <a:rPr lang="zh-CN" altLang="en-US" dirty="0"/>
              <a:t>分离真的生效的证据。它也基本上是从日志中提取出</a:t>
            </a:r>
            <a:r>
              <a:rPr lang="en-US" dirty="0"/>
              <a:t>insight。</a:t>
            </a:r>
            <a:r>
              <a:rPr lang="zh-CN" altLang="en-US" b="1" dirty="0"/>
              <a:t>这个时候人要去查看这些</a:t>
            </a:r>
            <a:r>
              <a:rPr lang="en-US" b="1" dirty="0"/>
              <a:t>insight</a:t>
            </a:r>
            <a:r>
              <a:rPr lang="zh-CN" altLang="en-US" b="1" dirty="0"/>
              <a:t>是否如它所说</a:t>
            </a:r>
            <a:r>
              <a:rPr lang="zh-CN" altLang="en-US" dirty="0"/>
              <a:t>。</a:t>
            </a:r>
          </a:p>
          <a:p>
            <a:pPr lvl="4"/>
            <a:r>
              <a:rPr lang="zh-CN" altLang="en-US" dirty="0"/>
              <a:t>比如：</a:t>
            </a:r>
            <a:r>
              <a:rPr lang="en-US" dirty="0"/>
              <a:t>Node0 </a:t>
            </a:r>
            <a:r>
              <a:rPr lang="zh-CN" altLang="en-US" dirty="0"/>
              <a:t>只有 </a:t>
            </a:r>
            <a:r>
              <a:rPr lang="en-US" dirty="0"/>
              <a:t>Prefill batch，Node1 </a:t>
            </a:r>
            <a:r>
              <a:rPr lang="zh-CN" altLang="en-US" dirty="0"/>
              <a:t>只有 </a:t>
            </a:r>
            <a:r>
              <a:rPr lang="en-US" dirty="0"/>
              <a:t>Decode batch，</a:t>
            </a:r>
            <a:r>
              <a:rPr lang="zh-CN" altLang="en-US" dirty="0"/>
              <a:t>说明两个节点各自只执行自己的阶段。如果没有做</a:t>
            </a:r>
            <a:r>
              <a:rPr lang="en-US" dirty="0"/>
              <a:t>PD</a:t>
            </a:r>
            <a:r>
              <a:rPr lang="zh-CN" altLang="en-US" dirty="0"/>
              <a:t>分离部署的话，</a:t>
            </a:r>
            <a:r>
              <a:rPr lang="en-US" dirty="0"/>
              <a:t>Node0</a:t>
            </a:r>
            <a:r>
              <a:rPr lang="zh-CN" altLang="en-US" dirty="0"/>
              <a:t>和</a:t>
            </a:r>
            <a:r>
              <a:rPr lang="en-US" dirty="0"/>
              <a:t>Node1</a:t>
            </a:r>
            <a:r>
              <a:rPr lang="zh-CN" altLang="en-US" dirty="0"/>
              <a:t>中的日志中</a:t>
            </a:r>
            <a:r>
              <a:rPr lang="en-US" dirty="0"/>
              <a:t>Prefill batch</a:t>
            </a:r>
            <a:r>
              <a:rPr lang="zh-CN" altLang="en-US" dirty="0"/>
              <a:t>和</a:t>
            </a:r>
            <a:r>
              <a:rPr lang="en-US" dirty="0"/>
              <a:t>Decode batch</a:t>
            </a:r>
            <a:r>
              <a:rPr lang="zh-CN" altLang="en-US" dirty="0"/>
              <a:t>这两个阶段都会做。</a:t>
            </a:r>
          </a:p>
          <a:p>
            <a:pPr lvl="4"/>
            <a:r>
              <a:rPr lang="zh-CN" altLang="en-US" dirty="0"/>
              <a:t>比如从日志中看到</a:t>
            </a:r>
            <a:r>
              <a:rPr lang="en-US" dirty="0"/>
              <a:t>prefill server </a:t>
            </a:r>
            <a:r>
              <a:rPr lang="zh-CN" altLang="en-US" dirty="0"/>
              <a:t>的</a:t>
            </a:r>
            <a:r>
              <a:rPr lang="en-US" dirty="0"/>
              <a:t>inflight-req </a:t>
            </a:r>
            <a:r>
              <a:rPr lang="zh-CN" altLang="en-US" dirty="0"/>
              <a:t>和 </a:t>
            </a:r>
            <a:r>
              <a:rPr lang="en-US" dirty="0"/>
              <a:t>decode server </a:t>
            </a:r>
            <a:r>
              <a:rPr lang="zh-CN" altLang="en-US" dirty="0"/>
              <a:t>中的</a:t>
            </a:r>
            <a:r>
              <a:rPr lang="en-US" dirty="0"/>
              <a:t>transfer-req</a:t>
            </a:r>
            <a:r>
              <a:rPr lang="zh-CN" altLang="en-US" dirty="0"/>
              <a:t>不为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</a:p>
          <a:p>
            <a:pPr lvl="5"/>
            <a:r>
              <a:rPr lang="en-US" dirty="0"/>
              <a:t>Prefill </a:t>
            </a:r>
            <a:r>
              <a:rPr lang="zh-CN" altLang="en-US" dirty="0"/>
              <a:t>端 </a:t>
            </a:r>
            <a:r>
              <a:rPr lang="en-US" altLang="zh-CN" dirty="0"/>
              <a:t>(#</a:t>
            </a:r>
            <a:r>
              <a:rPr lang="en-US" dirty="0"/>
              <a:t>inflight-req) </a:t>
            </a:r>
            <a:r>
              <a:rPr lang="zh-CN" altLang="en-US" dirty="0"/>
              <a:t>表示 </a:t>
            </a:r>
            <a:r>
              <a:rPr lang="en-US" dirty="0"/>
              <a:t>prefill </a:t>
            </a:r>
            <a:r>
              <a:rPr lang="zh-CN" altLang="en-US" dirty="0"/>
              <a:t>完成后正在等待 </a:t>
            </a:r>
            <a:r>
              <a:rPr lang="en-US" dirty="0"/>
              <a:t>KV cache </a:t>
            </a:r>
            <a:r>
              <a:rPr lang="zh-CN" altLang="en-US" dirty="0"/>
              <a:t>传输到 </a:t>
            </a:r>
            <a:r>
              <a:rPr lang="en-US" dirty="0"/>
              <a:t>decode </a:t>
            </a:r>
            <a:r>
              <a:rPr lang="zh-CN" altLang="en-US" dirty="0"/>
              <a:t>节点的请求数 。</a:t>
            </a:r>
          </a:p>
          <a:p>
            <a:pPr lvl="5"/>
            <a:r>
              <a:rPr lang="en-US" dirty="0"/>
              <a:t>Decode </a:t>
            </a:r>
            <a:r>
              <a:rPr lang="zh-CN" altLang="en-US" dirty="0"/>
              <a:t>端 </a:t>
            </a:r>
            <a:r>
              <a:rPr lang="en-US" altLang="zh-CN" dirty="0"/>
              <a:t>(#</a:t>
            </a:r>
            <a:r>
              <a:rPr lang="en-US" dirty="0"/>
              <a:t>transfer-req) </a:t>
            </a:r>
            <a:r>
              <a:rPr lang="zh-CN" altLang="en-US" dirty="0"/>
              <a:t>表示 </a:t>
            </a:r>
            <a:r>
              <a:rPr lang="en-US" dirty="0"/>
              <a:t>decode </a:t>
            </a:r>
            <a:r>
              <a:rPr lang="zh-CN" altLang="en-US" dirty="0"/>
              <a:t>端正在等待从 </a:t>
            </a:r>
            <a:r>
              <a:rPr lang="en-US" dirty="0"/>
              <a:t>prefill </a:t>
            </a:r>
            <a:r>
              <a:rPr lang="zh-CN" altLang="en-US" dirty="0"/>
              <a:t>节点接收 </a:t>
            </a:r>
            <a:r>
              <a:rPr lang="en-US" dirty="0"/>
              <a:t>KV cache </a:t>
            </a:r>
            <a:r>
              <a:rPr lang="zh-CN" altLang="en-US" dirty="0"/>
              <a:t>的请求数。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5974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C3B13C-73C4-A031-3FEA-DC11D6D75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47F926-3C09-27A2-770F-1894C1B72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更多详细内容：</a:t>
            </a:r>
            <a:r>
              <a:rPr lang="en-US" altLang="zh-CN" dirty="0">
                <a:hlinkClick r:id="rId2"/>
              </a:rPr>
              <a:t>https://quip-amazon.com/vVdNAUtgvFQU/GPU-Infra-As-Claude-Code-Skills</a:t>
            </a:r>
            <a:endParaRPr lang="en-US" altLang="zh-CN" dirty="0"/>
          </a:p>
          <a:p>
            <a:r>
              <a:rPr lang="zh-CN" altLang="en-US" dirty="0"/>
              <a:t>通过实验</a:t>
            </a:r>
            <a:r>
              <a:rPr lang="en-US" altLang="zh-CN" dirty="0"/>
              <a:t>build</a:t>
            </a:r>
            <a:r>
              <a:rPr lang="zh-CN" altLang="en-US" dirty="0"/>
              <a:t>的</a:t>
            </a:r>
            <a:r>
              <a:rPr lang="en-US" altLang="zh-CN" dirty="0"/>
              <a:t>skills</a:t>
            </a:r>
            <a:r>
              <a:rPr lang="zh-CN" altLang="en-US" dirty="0"/>
              <a:t>：</a:t>
            </a:r>
            <a:r>
              <a:rPr lang="en-US" altLang="zh-CN" dirty="0">
                <a:hlinkClick r:id="rId3"/>
              </a:rPr>
              <a:t>https://github.com/yuhuiaws/ML-study/tree/main/%E7%94%9F%E6%88%90%E5%BC%8FAI/Claude-code-Skills</a:t>
            </a:r>
            <a:r>
              <a:rPr lang="en-US" altLang="zh-CN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3412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80B77D-F117-BBF3-1A49-F07420D3A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064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000" dirty="0"/>
              <a:t>T</a:t>
            </a:r>
            <a:r>
              <a:rPr lang="en-US" altLang="zh-CN" sz="8000" dirty="0"/>
              <a:t>hanks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959251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</TotalTime>
  <Words>2980</Words>
  <Application>Microsoft Office PowerPoint</Application>
  <PresentationFormat>宽屏</PresentationFormat>
  <Paragraphs>202</Paragraphs>
  <Slides>27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主题​​</vt:lpstr>
      <vt:lpstr>GPU Infra As Claude Code Skills</vt:lpstr>
      <vt:lpstr>Agenda</vt:lpstr>
      <vt:lpstr>背景与目标</vt:lpstr>
      <vt:lpstr>Continue….</vt:lpstr>
      <vt:lpstr>部署方案介绍（用Deepseek-v3举例）</vt:lpstr>
      <vt:lpstr>Continue….</vt:lpstr>
      <vt:lpstr>方案性能对比</vt:lpstr>
      <vt:lpstr>Continue…..</vt:lpstr>
      <vt:lpstr>Continue….</vt:lpstr>
      <vt:lpstr>Continue….</vt:lpstr>
      <vt:lpstr>Continue…..</vt:lpstr>
      <vt:lpstr>Continue….</vt:lpstr>
      <vt:lpstr>Continue….</vt:lpstr>
      <vt:lpstr>实验中遇到的问题</vt:lpstr>
      <vt:lpstr>Continue….</vt:lpstr>
      <vt:lpstr>Continue….</vt:lpstr>
      <vt:lpstr>Continue….</vt:lpstr>
      <vt:lpstr>Continue….</vt:lpstr>
      <vt:lpstr>Continue….</vt:lpstr>
      <vt:lpstr>Continue….</vt:lpstr>
      <vt:lpstr>实践lesson learn</vt:lpstr>
      <vt:lpstr>Continue….</vt:lpstr>
      <vt:lpstr>Continue….</vt:lpstr>
      <vt:lpstr>Continue….</vt:lpstr>
      <vt:lpstr>Continue….</vt:lpstr>
      <vt:lpstr>参考</vt:lpstr>
      <vt:lpstr>Thanks</vt:lpstr>
    </vt:vector>
  </TitlesOfParts>
  <Company>Amazon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Liang, Yuhui</dc:creator>
  <cp:lastModifiedBy>Liang, Yuhui</cp:lastModifiedBy>
  <cp:revision>85</cp:revision>
  <dcterms:created xsi:type="dcterms:W3CDTF">2026-03-19T03:49:32Z</dcterms:created>
  <dcterms:modified xsi:type="dcterms:W3CDTF">2026-05-19T07:48:31Z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2026-03-19T03:50:12Z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4c9c14d7-8cea-4158-b682-76a1d0da55a3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10, 3, 0, 1</vt:lpwstr>
  </property>
</Properties>
</file>